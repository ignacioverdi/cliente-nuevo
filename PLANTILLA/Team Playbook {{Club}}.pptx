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3" y="3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118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46304"/>
          </a:xfrm>
          <a:prstGeom prst="rect">
            <a:avLst/>
          </a:prstGeom>
          <a:solidFill>
            <a:srgbClr val="FB385B"/>
          </a:solidFill>
          <a:ln/>
        </p:spPr>
        <p:txBody>
          <a:bodyPr/>
          <a:lstStyle/>
          <a:p>
            <a:endParaRPr lang="es-AR"/>
          </a:p>
        </p:txBody>
      </p:sp>
      <p:sp>
        <p:nvSpPr>
          <p:cNvPr id="3" name="Shape 1"/>
          <p:cNvSpPr/>
          <p:nvPr/>
        </p:nvSpPr>
        <p:spPr>
          <a:xfrm>
            <a:off x="0" y="146304"/>
            <a:ext cx="12161520" cy="45720"/>
          </a:xfrm>
          <a:prstGeom prst="rect">
            <a:avLst/>
          </a:prstGeom>
          <a:solidFill>
            <a:srgbClr val="FCB758"/>
          </a:solidFill>
          <a:ln/>
        </p:spPr>
        <p:txBody>
          <a:bodyPr/>
          <a:lstStyle/>
          <a:p>
            <a:endParaRPr lang="es-AR"/>
          </a:p>
        </p:txBody>
      </p:sp>
      <p:sp>
        <p:nvSpPr>
          <p:cNvPr id="4" name="Shape 2"/>
          <p:cNvSpPr/>
          <p:nvPr/>
        </p:nvSpPr>
        <p:spPr>
          <a:xfrm>
            <a:off x="0" y="6665976"/>
            <a:ext cx="12161520" cy="192024"/>
          </a:xfrm>
          <a:prstGeom prst="rect">
            <a:avLst/>
          </a:prstGeom>
          <a:solidFill>
            <a:srgbClr val="FB385B"/>
          </a:solidFill>
          <a:ln/>
        </p:spPr>
        <p:txBody>
          <a:bodyPr/>
          <a:lstStyle/>
          <a:p>
            <a:endParaRPr lang="es-AR"/>
          </a:p>
        </p:txBody>
      </p:sp>
      <p:sp>
        <p:nvSpPr>
          <p:cNvPr id="5" name="Shape 3"/>
          <p:cNvSpPr/>
          <p:nvPr/>
        </p:nvSpPr>
        <p:spPr>
          <a:xfrm>
            <a:off x="914400" y="1828800"/>
            <a:ext cx="3200400" cy="3200400"/>
          </a:xfrm>
          <a:prstGeom prst="roundRect">
            <a:avLst>
              <a:gd name="adj" fmla="val 2857"/>
            </a:avLst>
          </a:prstGeom>
          <a:solidFill>
            <a:srgbClr val="161D3A"/>
          </a:solidFill>
          <a:ln w="19050">
            <a:solidFill>
              <a:srgbClr val="FCB758"/>
            </a:solidFill>
            <a:prstDash val="dash"/>
          </a:ln>
        </p:spPr>
        <p:txBody>
          <a:bodyPr/>
          <a:lstStyle/>
          <a:p>
            <a:endParaRPr lang="es-AR"/>
          </a:p>
        </p:txBody>
      </p:sp>
      <p:sp>
        <p:nvSpPr>
          <p:cNvPr id="6" name="Text 4"/>
          <p:cNvSpPr/>
          <p:nvPr/>
        </p:nvSpPr>
        <p:spPr>
          <a:xfrm>
            <a:off x="914400" y="2743200"/>
            <a:ext cx="3200400" cy="731520"/>
          </a:xfrm>
          <a:prstGeom prst="rect">
            <a:avLst/>
          </a:prstGeom>
          <a:noFill/>
          <a:ln/>
        </p:spPr>
        <p:txBody>
          <a:bodyPr wrap="square" rtlCol="0" anchor="ctr"/>
          <a:lstStyle/>
          <a:p>
            <a:pPr marL="0" indent="0" algn="ctr">
              <a:buNone/>
            </a:pPr>
            <a:r>
              <a:rPr lang="en-US" sz="4400" dirty="0">
                <a:solidFill>
                  <a:srgbClr val="8B97AD"/>
                </a:solidFill>
              </a:rPr>
              <a:t>▣</a:t>
            </a:r>
            <a:endParaRPr lang="en-US" sz="4400" dirty="0"/>
          </a:p>
        </p:txBody>
      </p:sp>
      <p:sp>
        <p:nvSpPr>
          <p:cNvPr id="7" name="Text 5"/>
          <p:cNvSpPr/>
          <p:nvPr/>
        </p:nvSpPr>
        <p:spPr>
          <a:xfrm>
            <a:off x="914400" y="3611880"/>
            <a:ext cx="3200400" cy="365760"/>
          </a:xfrm>
          <a:prstGeom prst="rect">
            <a:avLst/>
          </a:prstGeom>
          <a:noFill/>
          <a:ln/>
        </p:spPr>
        <p:txBody>
          <a:bodyPr wrap="square" rtlCol="0" anchor="ctr"/>
          <a:lstStyle/>
          <a:p>
            <a:pPr marL="0" indent="0" algn="ctr">
              <a:buNone/>
            </a:pPr>
            <a:r>
              <a:rPr lang="en-US" sz="1400" kern="0" spc="300" dirty="0">
                <a:solidFill>
                  <a:srgbClr val="8B97AD"/>
                </a:solidFill>
                <a:latin typeface="Barlow Condensed" pitchFamily="34" charset="0"/>
                <a:ea typeface="Barlow Condensed" pitchFamily="34" charset="-122"/>
                <a:cs typeface="Barlow Condensed" pitchFamily="34" charset="-120"/>
              </a:rPr>
              <a:t>TEAM CREST</a:t>
            </a:r>
            <a:endParaRPr lang="en-US" sz="1400" dirty="0"/>
          </a:p>
        </p:txBody>
      </p:sp>
      <p:sp>
        <p:nvSpPr>
          <p:cNvPr id="8" name="Text 6"/>
          <p:cNvSpPr/>
          <p:nvPr/>
        </p:nvSpPr>
        <p:spPr>
          <a:xfrm>
            <a:off x="4663440" y="1965960"/>
            <a:ext cx="6858000" cy="914400"/>
          </a:xfrm>
          <a:prstGeom prst="rect">
            <a:avLst/>
          </a:prstGeom>
          <a:noFill/>
          <a:ln/>
        </p:spPr>
        <p:txBody>
          <a:bodyPr wrap="square" rtlCol="0" anchor="ctr"/>
          <a:lstStyle/>
          <a:p>
            <a:pPr marL="0" indent="0">
              <a:buNone/>
            </a:pPr>
            <a:r>
              <a:rPr lang="en-US" sz="6200" b="1" kern="0" spc="100" dirty="0">
                <a:solidFill>
                  <a:srgbClr val="FFFFFF"/>
                </a:solidFill>
                <a:latin typeface="Oswald Bold" pitchFamily="34" charset="0"/>
                <a:ea typeface="Oswald Bold" pitchFamily="34" charset="-122"/>
                <a:cs typeface="Oswald Bold" pitchFamily="34" charset="-120"/>
              </a:rPr>
              <a:t>TEAM</a:t>
            </a:r>
            <a:endParaRPr lang="en-US" sz="6200" dirty="0"/>
          </a:p>
        </p:txBody>
      </p:sp>
      <p:sp>
        <p:nvSpPr>
          <p:cNvPr id="9" name="Text 7"/>
          <p:cNvSpPr/>
          <p:nvPr/>
        </p:nvSpPr>
        <p:spPr>
          <a:xfrm>
            <a:off x="4663440" y="2743200"/>
            <a:ext cx="6858000" cy="1005840"/>
          </a:xfrm>
          <a:prstGeom prst="rect">
            <a:avLst/>
          </a:prstGeom>
          <a:noFill/>
          <a:ln/>
        </p:spPr>
        <p:txBody>
          <a:bodyPr wrap="square" rtlCol="0" anchor="ctr"/>
          <a:lstStyle/>
          <a:p>
            <a:pPr marL="0" indent="0">
              <a:buNone/>
            </a:pPr>
            <a:r>
              <a:rPr lang="en-US" sz="6200" b="1" kern="0" spc="100" dirty="0">
                <a:solidFill>
                  <a:srgbClr val="FFFFFF"/>
                </a:solidFill>
                <a:latin typeface="Oswald Bold" pitchFamily="34" charset="0"/>
                <a:ea typeface="Oswald Bold" pitchFamily="34" charset="-122"/>
                <a:cs typeface="Oswald Bold" pitchFamily="34" charset="-120"/>
              </a:rPr>
              <a:t>PLAYBOOK</a:t>
            </a:r>
            <a:endParaRPr lang="en-US" sz="6200" dirty="0"/>
          </a:p>
        </p:txBody>
      </p:sp>
      <p:sp>
        <p:nvSpPr>
          <p:cNvPr id="10" name="Shape 8"/>
          <p:cNvSpPr/>
          <p:nvPr/>
        </p:nvSpPr>
        <p:spPr>
          <a:xfrm>
            <a:off x="4736592" y="3794760"/>
            <a:ext cx="2743200" cy="54864"/>
          </a:xfrm>
          <a:prstGeom prst="rect">
            <a:avLst/>
          </a:prstGeom>
          <a:solidFill>
            <a:srgbClr val="FB385B"/>
          </a:solidFill>
          <a:ln/>
        </p:spPr>
        <p:txBody>
          <a:bodyPr/>
          <a:lstStyle/>
          <a:p>
            <a:endParaRPr lang="es-AR"/>
          </a:p>
        </p:txBody>
      </p:sp>
      <p:sp>
        <p:nvSpPr>
          <p:cNvPr id="11" name="Shape 9"/>
          <p:cNvSpPr/>
          <p:nvPr/>
        </p:nvSpPr>
        <p:spPr>
          <a:xfrm>
            <a:off x="7479792" y="3794760"/>
            <a:ext cx="914400" cy="54864"/>
          </a:xfrm>
          <a:prstGeom prst="rect">
            <a:avLst/>
          </a:prstGeom>
          <a:solidFill>
            <a:srgbClr val="FCB758"/>
          </a:solidFill>
          <a:ln/>
        </p:spPr>
        <p:txBody>
          <a:bodyPr/>
          <a:lstStyle/>
          <a:p>
            <a:endParaRPr lang="es-AR"/>
          </a:p>
        </p:txBody>
      </p:sp>
      <p:sp>
        <p:nvSpPr>
          <p:cNvPr id="12" name="Text 10"/>
          <p:cNvSpPr/>
          <p:nvPr/>
        </p:nvSpPr>
        <p:spPr>
          <a:xfrm>
            <a:off x="4709160" y="3977640"/>
            <a:ext cx="6858000" cy="457200"/>
          </a:xfrm>
          <a:prstGeom prst="rect">
            <a:avLst/>
          </a:prstGeom>
          <a:noFill/>
          <a:ln/>
        </p:spPr>
        <p:txBody>
          <a:bodyPr wrap="square" rtlCol="0" anchor="ctr"/>
          <a:lstStyle/>
          <a:p>
            <a:pPr marL="0" indent="0">
              <a:buNone/>
            </a:pPr>
            <a:r>
              <a:rPr lang="en-US" sz="2400" b="1" kern="0" spc="100" dirty="0">
                <a:solidFill>
                  <a:srgbClr val="FB385B"/>
                </a:solidFill>
                <a:latin typeface="Oswald" pitchFamily="34" charset="0"/>
                <a:ea typeface="Oswald" pitchFamily="34" charset="-122"/>
                <a:cs typeface="Oswald" pitchFamily="34" charset="-120"/>
              </a:rPr>
              <a:t>NLA TEAM · 2026-27</a:t>
            </a:r>
            <a:endParaRPr lang="en-US" sz="2400" dirty="0"/>
          </a:p>
        </p:txBody>
      </p:sp>
      <p:sp>
        <p:nvSpPr>
          <p:cNvPr id="13" name="Text 11"/>
          <p:cNvSpPr/>
          <p:nvPr/>
        </p:nvSpPr>
        <p:spPr>
          <a:xfrm>
            <a:off x="4709160" y="4526280"/>
            <a:ext cx="6858000" cy="457200"/>
          </a:xfrm>
          <a:prstGeom prst="rect">
            <a:avLst/>
          </a:prstGeom>
          <a:noFill/>
          <a:ln/>
        </p:spPr>
        <p:txBody>
          <a:bodyPr wrap="square" rtlCol="0" anchor="ctr"/>
          <a:lstStyle/>
          <a:p>
            <a:pPr marL="0" indent="0">
              <a:buNone/>
            </a:pPr>
            <a:r>
              <a:rPr lang="en-US" sz="2200" i="1" dirty="0">
                <a:solidFill>
                  <a:srgbClr val="EEF1F6"/>
                </a:solidFill>
                <a:latin typeface="Barlow" pitchFamily="34" charset="0"/>
                <a:ea typeface="Barlow" pitchFamily="34" charset="-122"/>
                <a:cs typeface="Barlow" pitchFamily="34" charset="-120"/>
              </a:rPr>
              <a:t>Axpo Volley Näfels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11099086" y="466344"/>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TEAM PLAYBOOK</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Index</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Text 9"/>
          <p:cNvSpPr/>
          <p:nvPr/>
        </p:nvSpPr>
        <p:spPr>
          <a:xfrm>
            <a:off x="777240" y="1783080"/>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01</a:t>
            </a:r>
            <a:endParaRPr lang="en-US" sz="1900" dirty="0"/>
          </a:p>
        </p:txBody>
      </p:sp>
      <p:sp>
        <p:nvSpPr>
          <p:cNvPr id="12" name="Text 10"/>
          <p:cNvSpPr/>
          <p:nvPr/>
        </p:nvSpPr>
        <p:spPr>
          <a:xfrm>
            <a:off x="1463040" y="1783080"/>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Team Identity</a:t>
            </a:r>
            <a:endParaRPr lang="en-US" sz="1800" dirty="0"/>
          </a:p>
        </p:txBody>
      </p:sp>
      <p:sp>
        <p:nvSpPr>
          <p:cNvPr id="13" name="Shape 11"/>
          <p:cNvSpPr/>
          <p:nvPr/>
        </p:nvSpPr>
        <p:spPr>
          <a:xfrm>
            <a:off x="1463040" y="2167128"/>
            <a:ext cx="4297680" cy="0"/>
          </a:xfrm>
          <a:prstGeom prst="line">
            <a:avLst/>
          </a:prstGeom>
          <a:noFill/>
          <a:ln w="9525">
            <a:solidFill>
              <a:srgbClr val="202A52"/>
            </a:solidFill>
            <a:prstDash val="solid"/>
          </a:ln>
        </p:spPr>
        <p:txBody>
          <a:bodyPr/>
          <a:lstStyle/>
          <a:p>
            <a:endParaRPr lang="es-AR"/>
          </a:p>
        </p:txBody>
      </p:sp>
      <p:sp>
        <p:nvSpPr>
          <p:cNvPr id="14" name="Text 12"/>
          <p:cNvSpPr/>
          <p:nvPr/>
        </p:nvSpPr>
        <p:spPr>
          <a:xfrm>
            <a:off x="777240" y="2203704"/>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02</a:t>
            </a:r>
            <a:endParaRPr lang="en-US" sz="1900" dirty="0"/>
          </a:p>
        </p:txBody>
      </p:sp>
      <p:sp>
        <p:nvSpPr>
          <p:cNvPr id="15" name="Text 13"/>
          <p:cNvSpPr/>
          <p:nvPr/>
        </p:nvSpPr>
        <p:spPr>
          <a:xfrm>
            <a:off x="1463040" y="2203704"/>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Playing Principles</a:t>
            </a:r>
            <a:endParaRPr lang="en-US" sz="1800" dirty="0"/>
          </a:p>
        </p:txBody>
      </p:sp>
      <p:sp>
        <p:nvSpPr>
          <p:cNvPr id="16" name="Shape 14"/>
          <p:cNvSpPr/>
          <p:nvPr/>
        </p:nvSpPr>
        <p:spPr>
          <a:xfrm>
            <a:off x="1463040" y="2587752"/>
            <a:ext cx="4297680" cy="0"/>
          </a:xfrm>
          <a:prstGeom prst="line">
            <a:avLst/>
          </a:prstGeom>
          <a:noFill/>
          <a:ln w="9525">
            <a:solidFill>
              <a:srgbClr val="202A52"/>
            </a:solidFill>
            <a:prstDash val="solid"/>
          </a:ln>
        </p:spPr>
        <p:txBody>
          <a:bodyPr/>
          <a:lstStyle/>
          <a:p>
            <a:endParaRPr lang="es-AR"/>
          </a:p>
        </p:txBody>
      </p:sp>
      <p:sp>
        <p:nvSpPr>
          <p:cNvPr id="17" name="Text 15"/>
          <p:cNvSpPr/>
          <p:nvPr/>
        </p:nvSpPr>
        <p:spPr>
          <a:xfrm>
            <a:off x="777240" y="2624328"/>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03</a:t>
            </a:r>
            <a:endParaRPr lang="en-US" sz="1900" dirty="0"/>
          </a:p>
        </p:txBody>
      </p:sp>
      <p:sp>
        <p:nvSpPr>
          <p:cNvPr id="18" name="Text 16"/>
          <p:cNvSpPr/>
          <p:nvPr/>
        </p:nvSpPr>
        <p:spPr>
          <a:xfrm>
            <a:off x="1463040" y="2624328"/>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Offensive System</a:t>
            </a:r>
            <a:endParaRPr lang="en-US" sz="1800" dirty="0"/>
          </a:p>
        </p:txBody>
      </p:sp>
      <p:sp>
        <p:nvSpPr>
          <p:cNvPr id="19" name="Shape 17"/>
          <p:cNvSpPr/>
          <p:nvPr/>
        </p:nvSpPr>
        <p:spPr>
          <a:xfrm>
            <a:off x="1463040" y="3008376"/>
            <a:ext cx="4297680" cy="0"/>
          </a:xfrm>
          <a:prstGeom prst="line">
            <a:avLst/>
          </a:prstGeom>
          <a:noFill/>
          <a:ln w="9525">
            <a:solidFill>
              <a:srgbClr val="202A52"/>
            </a:solidFill>
            <a:prstDash val="solid"/>
          </a:ln>
        </p:spPr>
        <p:txBody>
          <a:bodyPr/>
          <a:lstStyle/>
          <a:p>
            <a:endParaRPr lang="es-AR"/>
          </a:p>
        </p:txBody>
      </p:sp>
      <p:sp>
        <p:nvSpPr>
          <p:cNvPr id="20" name="Text 18"/>
          <p:cNvSpPr/>
          <p:nvPr/>
        </p:nvSpPr>
        <p:spPr>
          <a:xfrm>
            <a:off x="777240" y="3044952"/>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04</a:t>
            </a:r>
            <a:endParaRPr lang="en-US" sz="1900" dirty="0"/>
          </a:p>
        </p:txBody>
      </p:sp>
      <p:sp>
        <p:nvSpPr>
          <p:cNvPr id="21" name="Text 19"/>
          <p:cNvSpPr/>
          <p:nvPr/>
        </p:nvSpPr>
        <p:spPr>
          <a:xfrm>
            <a:off x="1463040" y="3044952"/>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Defensive System</a:t>
            </a:r>
            <a:endParaRPr lang="en-US" sz="1800" dirty="0"/>
          </a:p>
        </p:txBody>
      </p:sp>
      <p:sp>
        <p:nvSpPr>
          <p:cNvPr id="22" name="Shape 20"/>
          <p:cNvSpPr/>
          <p:nvPr/>
        </p:nvSpPr>
        <p:spPr>
          <a:xfrm>
            <a:off x="1463040" y="3429000"/>
            <a:ext cx="4297680" cy="0"/>
          </a:xfrm>
          <a:prstGeom prst="line">
            <a:avLst/>
          </a:prstGeom>
          <a:noFill/>
          <a:ln w="9525">
            <a:solidFill>
              <a:srgbClr val="202A52"/>
            </a:solidFill>
            <a:prstDash val="solid"/>
          </a:ln>
        </p:spPr>
        <p:txBody>
          <a:bodyPr/>
          <a:lstStyle/>
          <a:p>
            <a:endParaRPr lang="es-AR"/>
          </a:p>
        </p:txBody>
      </p:sp>
      <p:sp>
        <p:nvSpPr>
          <p:cNvPr id="23" name="Text 21"/>
          <p:cNvSpPr/>
          <p:nvPr/>
        </p:nvSpPr>
        <p:spPr>
          <a:xfrm>
            <a:off x="777240" y="3465576"/>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05</a:t>
            </a:r>
            <a:endParaRPr lang="en-US" sz="1900" dirty="0"/>
          </a:p>
        </p:txBody>
      </p:sp>
      <p:sp>
        <p:nvSpPr>
          <p:cNvPr id="24" name="Text 22"/>
          <p:cNvSpPr/>
          <p:nvPr/>
        </p:nvSpPr>
        <p:spPr>
          <a:xfrm>
            <a:off x="1463040" y="3465576"/>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Blocking System</a:t>
            </a:r>
            <a:endParaRPr lang="en-US" sz="1800" dirty="0"/>
          </a:p>
        </p:txBody>
      </p:sp>
      <p:sp>
        <p:nvSpPr>
          <p:cNvPr id="25" name="Shape 23"/>
          <p:cNvSpPr/>
          <p:nvPr/>
        </p:nvSpPr>
        <p:spPr>
          <a:xfrm>
            <a:off x="1463040" y="3849624"/>
            <a:ext cx="4297680" cy="0"/>
          </a:xfrm>
          <a:prstGeom prst="line">
            <a:avLst/>
          </a:prstGeom>
          <a:noFill/>
          <a:ln w="9525">
            <a:solidFill>
              <a:srgbClr val="202A52"/>
            </a:solidFill>
            <a:prstDash val="solid"/>
          </a:ln>
        </p:spPr>
        <p:txBody>
          <a:bodyPr/>
          <a:lstStyle/>
          <a:p>
            <a:endParaRPr lang="es-AR"/>
          </a:p>
        </p:txBody>
      </p:sp>
      <p:sp>
        <p:nvSpPr>
          <p:cNvPr id="26" name="Text 24"/>
          <p:cNvSpPr/>
          <p:nvPr/>
        </p:nvSpPr>
        <p:spPr>
          <a:xfrm>
            <a:off x="777240" y="3886200"/>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06</a:t>
            </a:r>
            <a:endParaRPr lang="en-US" sz="1900" dirty="0"/>
          </a:p>
        </p:txBody>
      </p:sp>
      <p:sp>
        <p:nvSpPr>
          <p:cNvPr id="27" name="Text 25"/>
          <p:cNvSpPr/>
          <p:nvPr/>
        </p:nvSpPr>
        <p:spPr>
          <a:xfrm>
            <a:off x="1463040" y="3886200"/>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Serve</a:t>
            </a:r>
            <a:endParaRPr lang="en-US" sz="1800" dirty="0"/>
          </a:p>
        </p:txBody>
      </p:sp>
      <p:sp>
        <p:nvSpPr>
          <p:cNvPr id="28" name="Shape 26"/>
          <p:cNvSpPr/>
          <p:nvPr/>
        </p:nvSpPr>
        <p:spPr>
          <a:xfrm>
            <a:off x="1463040" y="4270248"/>
            <a:ext cx="4297680" cy="0"/>
          </a:xfrm>
          <a:prstGeom prst="line">
            <a:avLst/>
          </a:prstGeom>
          <a:noFill/>
          <a:ln w="9525">
            <a:solidFill>
              <a:srgbClr val="202A52"/>
            </a:solidFill>
            <a:prstDash val="solid"/>
          </a:ln>
        </p:spPr>
        <p:txBody>
          <a:bodyPr/>
          <a:lstStyle/>
          <a:p>
            <a:endParaRPr lang="es-AR"/>
          </a:p>
        </p:txBody>
      </p:sp>
      <p:sp>
        <p:nvSpPr>
          <p:cNvPr id="29" name="Text 27"/>
          <p:cNvSpPr/>
          <p:nvPr/>
        </p:nvSpPr>
        <p:spPr>
          <a:xfrm>
            <a:off x="777240" y="4306824"/>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07</a:t>
            </a:r>
            <a:endParaRPr lang="en-US" sz="1900" dirty="0"/>
          </a:p>
        </p:txBody>
      </p:sp>
      <p:sp>
        <p:nvSpPr>
          <p:cNvPr id="30" name="Text 28"/>
          <p:cNvSpPr/>
          <p:nvPr/>
        </p:nvSpPr>
        <p:spPr>
          <a:xfrm>
            <a:off x="1463040" y="4306824"/>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Reception</a:t>
            </a:r>
            <a:endParaRPr lang="en-US" sz="1800" dirty="0"/>
          </a:p>
        </p:txBody>
      </p:sp>
      <p:sp>
        <p:nvSpPr>
          <p:cNvPr id="31" name="Shape 29"/>
          <p:cNvSpPr/>
          <p:nvPr/>
        </p:nvSpPr>
        <p:spPr>
          <a:xfrm>
            <a:off x="1463040" y="4690872"/>
            <a:ext cx="4297680" cy="0"/>
          </a:xfrm>
          <a:prstGeom prst="line">
            <a:avLst/>
          </a:prstGeom>
          <a:noFill/>
          <a:ln w="9525">
            <a:solidFill>
              <a:srgbClr val="202A52"/>
            </a:solidFill>
            <a:prstDash val="solid"/>
          </a:ln>
        </p:spPr>
        <p:txBody>
          <a:bodyPr/>
          <a:lstStyle/>
          <a:p>
            <a:endParaRPr lang="es-AR"/>
          </a:p>
        </p:txBody>
      </p:sp>
      <p:sp>
        <p:nvSpPr>
          <p:cNvPr id="32" name="Text 30"/>
          <p:cNvSpPr/>
          <p:nvPr/>
        </p:nvSpPr>
        <p:spPr>
          <a:xfrm>
            <a:off x="777240" y="4727448"/>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08</a:t>
            </a:r>
            <a:endParaRPr lang="en-US" sz="1900" dirty="0"/>
          </a:p>
        </p:txBody>
      </p:sp>
      <p:sp>
        <p:nvSpPr>
          <p:cNvPr id="33" name="Text 31"/>
          <p:cNvSpPr/>
          <p:nvPr/>
        </p:nvSpPr>
        <p:spPr>
          <a:xfrm>
            <a:off x="1463040" y="4727448"/>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Error Management</a:t>
            </a:r>
            <a:endParaRPr lang="en-US" sz="1800" dirty="0"/>
          </a:p>
        </p:txBody>
      </p:sp>
      <p:sp>
        <p:nvSpPr>
          <p:cNvPr id="34" name="Shape 32"/>
          <p:cNvSpPr/>
          <p:nvPr/>
        </p:nvSpPr>
        <p:spPr>
          <a:xfrm>
            <a:off x="1463040" y="5111496"/>
            <a:ext cx="4297680" cy="0"/>
          </a:xfrm>
          <a:prstGeom prst="line">
            <a:avLst/>
          </a:prstGeom>
          <a:noFill/>
          <a:ln w="9525">
            <a:solidFill>
              <a:srgbClr val="202A52"/>
            </a:solidFill>
            <a:prstDash val="solid"/>
          </a:ln>
        </p:spPr>
        <p:txBody>
          <a:bodyPr/>
          <a:lstStyle/>
          <a:p>
            <a:endParaRPr lang="es-AR"/>
          </a:p>
        </p:txBody>
      </p:sp>
      <p:sp>
        <p:nvSpPr>
          <p:cNvPr id="35" name="Text 33"/>
          <p:cNvSpPr/>
          <p:nvPr/>
        </p:nvSpPr>
        <p:spPr>
          <a:xfrm>
            <a:off x="777240" y="5148072"/>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09</a:t>
            </a:r>
            <a:endParaRPr lang="en-US" sz="1900" dirty="0"/>
          </a:p>
        </p:txBody>
      </p:sp>
      <p:sp>
        <p:nvSpPr>
          <p:cNvPr id="36" name="Text 34"/>
          <p:cNvSpPr/>
          <p:nvPr/>
        </p:nvSpPr>
        <p:spPr>
          <a:xfrm>
            <a:off x="1463040" y="5148072"/>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Game Plan</a:t>
            </a:r>
            <a:endParaRPr lang="en-US" sz="1800" dirty="0"/>
          </a:p>
        </p:txBody>
      </p:sp>
      <p:sp>
        <p:nvSpPr>
          <p:cNvPr id="37" name="Shape 35"/>
          <p:cNvSpPr/>
          <p:nvPr/>
        </p:nvSpPr>
        <p:spPr>
          <a:xfrm>
            <a:off x="1463040" y="5532120"/>
            <a:ext cx="4297680" cy="0"/>
          </a:xfrm>
          <a:prstGeom prst="line">
            <a:avLst/>
          </a:prstGeom>
          <a:noFill/>
          <a:ln w="9525">
            <a:solidFill>
              <a:srgbClr val="202A52"/>
            </a:solidFill>
            <a:prstDash val="solid"/>
          </a:ln>
        </p:spPr>
        <p:txBody>
          <a:bodyPr/>
          <a:lstStyle/>
          <a:p>
            <a:endParaRPr lang="es-AR"/>
          </a:p>
        </p:txBody>
      </p:sp>
      <p:sp>
        <p:nvSpPr>
          <p:cNvPr id="38" name="Text 36"/>
          <p:cNvSpPr/>
          <p:nvPr/>
        </p:nvSpPr>
        <p:spPr>
          <a:xfrm>
            <a:off x="777240" y="5568696"/>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10</a:t>
            </a:r>
            <a:endParaRPr lang="en-US" sz="1900" dirty="0"/>
          </a:p>
        </p:txBody>
      </p:sp>
      <p:sp>
        <p:nvSpPr>
          <p:cNvPr id="39" name="Text 37"/>
          <p:cNvSpPr/>
          <p:nvPr/>
        </p:nvSpPr>
        <p:spPr>
          <a:xfrm>
            <a:off x="1463040" y="5568696"/>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KPIs &amp; Metrics</a:t>
            </a:r>
            <a:endParaRPr lang="en-US" sz="1800" dirty="0"/>
          </a:p>
        </p:txBody>
      </p:sp>
      <p:sp>
        <p:nvSpPr>
          <p:cNvPr id="40" name="Shape 38"/>
          <p:cNvSpPr/>
          <p:nvPr/>
        </p:nvSpPr>
        <p:spPr>
          <a:xfrm>
            <a:off x="1463040" y="5952744"/>
            <a:ext cx="4297680" cy="0"/>
          </a:xfrm>
          <a:prstGeom prst="line">
            <a:avLst/>
          </a:prstGeom>
          <a:noFill/>
          <a:ln w="9525">
            <a:solidFill>
              <a:srgbClr val="202A52"/>
            </a:solidFill>
            <a:prstDash val="solid"/>
          </a:ln>
        </p:spPr>
        <p:txBody>
          <a:bodyPr/>
          <a:lstStyle/>
          <a:p>
            <a:endParaRPr lang="es-AR"/>
          </a:p>
        </p:txBody>
      </p:sp>
      <p:sp>
        <p:nvSpPr>
          <p:cNvPr id="41" name="Text 39"/>
          <p:cNvSpPr/>
          <p:nvPr/>
        </p:nvSpPr>
        <p:spPr>
          <a:xfrm>
            <a:off x="777240" y="5989320"/>
            <a:ext cx="640080" cy="365760"/>
          </a:xfrm>
          <a:prstGeom prst="rect">
            <a:avLst/>
          </a:prstGeom>
          <a:noFill/>
          <a:ln/>
        </p:spPr>
        <p:txBody>
          <a:bodyPr wrap="square" rtlCol="0" anchor="ctr"/>
          <a:lstStyle/>
          <a:p>
            <a:pPr marL="0" indent="0">
              <a:buNone/>
            </a:pPr>
            <a:r>
              <a:rPr lang="en-US" sz="1900" b="1" dirty="0">
                <a:solidFill>
                  <a:srgbClr val="FCB758"/>
                </a:solidFill>
                <a:latin typeface="Oswald" pitchFamily="34" charset="0"/>
                <a:ea typeface="Oswald" pitchFamily="34" charset="-122"/>
                <a:cs typeface="Oswald" pitchFamily="34" charset="-120"/>
              </a:rPr>
              <a:t>11</a:t>
            </a:r>
            <a:endParaRPr lang="en-US" sz="1900" dirty="0"/>
          </a:p>
        </p:txBody>
      </p:sp>
      <p:sp>
        <p:nvSpPr>
          <p:cNvPr id="42" name="Text 40"/>
          <p:cNvSpPr/>
          <p:nvPr/>
        </p:nvSpPr>
        <p:spPr>
          <a:xfrm>
            <a:off x="1463040" y="5989320"/>
            <a:ext cx="4480560" cy="365760"/>
          </a:xfrm>
          <a:prstGeom prst="rect">
            <a:avLst/>
          </a:prstGeom>
          <a:noFill/>
          <a:ln/>
        </p:spPr>
        <p:txBody>
          <a:bodyPr wrap="square" rtlCol="0" anchor="ctr"/>
          <a:lstStyle/>
          <a:p>
            <a:pPr marL="0" indent="0">
              <a:buNone/>
            </a:pPr>
            <a:r>
              <a:rPr lang="en-US" sz="1800" dirty="0">
                <a:solidFill>
                  <a:srgbClr val="EEF1F6"/>
                </a:solidFill>
                <a:latin typeface="Oswald" pitchFamily="34" charset="0"/>
                <a:ea typeface="Oswald" pitchFamily="34" charset="-122"/>
                <a:cs typeface="Oswald" pitchFamily="34" charset="-120"/>
              </a:rPr>
              <a:t>Common Language</a:t>
            </a:r>
            <a:endParaRPr lang="en-US" sz="1800" dirty="0"/>
          </a:p>
        </p:txBody>
      </p:sp>
      <p:sp>
        <p:nvSpPr>
          <p:cNvPr id="43" name="Shape 41"/>
          <p:cNvSpPr/>
          <p:nvPr/>
        </p:nvSpPr>
        <p:spPr>
          <a:xfrm>
            <a:off x="6400800" y="1783080"/>
            <a:ext cx="5303520" cy="4480560"/>
          </a:xfrm>
          <a:prstGeom prst="roundRect">
            <a:avLst>
              <a:gd name="adj" fmla="val 1224"/>
            </a:avLst>
          </a:prstGeom>
          <a:solidFill>
            <a:srgbClr val="161D3A"/>
          </a:solidFill>
          <a:ln w="15875">
            <a:solidFill>
              <a:srgbClr val="FCB758"/>
            </a:solidFill>
            <a:prstDash val="dash"/>
          </a:ln>
        </p:spPr>
        <p:txBody>
          <a:bodyPr/>
          <a:lstStyle/>
          <a:p>
            <a:endParaRPr lang="es-AR"/>
          </a:p>
        </p:txBody>
      </p:sp>
      <p:sp>
        <p:nvSpPr>
          <p:cNvPr id="44" name="Text 42"/>
          <p:cNvSpPr/>
          <p:nvPr/>
        </p:nvSpPr>
        <p:spPr>
          <a:xfrm>
            <a:off x="6400800" y="3520440"/>
            <a:ext cx="530352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45" name="Text 43"/>
          <p:cNvSpPr/>
          <p:nvPr/>
        </p:nvSpPr>
        <p:spPr>
          <a:xfrm>
            <a:off x="6400800" y="4023360"/>
            <a:ext cx="530352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TEAM PHOTO — replace</a:t>
            </a:r>
            <a:endParaRPr lang="en-US" sz="1300" dirty="0"/>
          </a:p>
        </p:txBody>
      </p:sp>
      <p:sp>
        <p:nvSpPr>
          <p:cNvPr id="46" name="Shape 44"/>
          <p:cNvSpPr/>
          <p:nvPr/>
        </p:nvSpPr>
        <p:spPr>
          <a:xfrm>
            <a:off x="0" y="6620256"/>
            <a:ext cx="12161520" cy="54864"/>
          </a:xfrm>
          <a:prstGeom prst="rect">
            <a:avLst/>
          </a:prstGeom>
          <a:solidFill>
            <a:srgbClr val="161D3A"/>
          </a:solidFill>
          <a:ln/>
        </p:spPr>
        <p:txBody>
          <a:bodyPr/>
          <a:lstStyle/>
          <a:p>
            <a:endParaRPr lang="es-AR"/>
          </a:p>
        </p:txBody>
      </p:sp>
      <p:sp>
        <p:nvSpPr>
          <p:cNvPr id="47" name="Text 45"/>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48" name="Text 46"/>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9838944"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01</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WHO WE ARE</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Team Identity</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83080"/>
            <a:ext cx="4480560" cy="4480560"/>
          </a:xfrm>
          <a:prstGeom prst="roundRect">
            <a:avLst>
              <a:gd name="adj" fmla="val 1224"/>
            </a:avLst>
          </a:prstGeom>
          <a:solidFill>
            <a:srgbClr val="161D3A"/>
          </a:solidFill>
          <a:ln w="15875">
            <a:solidFill>
              <a:srgbClr val="FCB758"/>
            </a:solidFill>
            <a:prstDash val="dash"/>
          </a:ln>
        </p:spPr>
        <p:txBody>
          <a:bodyPr/>
          <a:lstStyle/>
          <a:p>
            <a:endParaRPr lang="es-AR"/>
          </a:p>
        </p:txBody>
      </p:sp>
      <p:sp>
        <p:nvSpPr>
          <p:cNvPr id="12" name="Text 10"/>
          <p:cNvSpPr/>
          <p:nvPr/>
        </p:nvSpPr>
        <p:spPr>
          <a:xfrm>
            <a:off x="594360" y="3520440"/>
            <a:ext cx="44805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13" name="Text 11"/>
          <p:cNvSpPr/>
          <p:nvPr/>
        </p:nvSpPr>
        <p:spPr>
          <a:xfrm>
            <a:off x="594360" y="4023360"/>
            <a:ext cx="44805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PHOTO — replace</a:t>
            </a:r>
            <a:endParaRPr lang="en-US" sz="1300" dirty="0"/>
          </a:p>
        </p:txBody>
      </p:sp>
      <p:sp>
        <p:nvSpPr>
          <p:cNvPr id="14" name="Text 12"/>
          <p:cNvSpPr/>
          <p:nvPr/>
        </p:nvSpPr>
        <p:spPr>
          <a:xfrm>
            <a:off x="5486400" y="1737360"/>
            <a:ext cx="6217920" cy="457200"/>
          </a:xfrm>
          <a:prstGeom prst="rect">
            <a:avLst/>
          </a:prstGeom>
          <a:noFill/>
          <a:ln/>
        </p:spPr>
        <p:txBody>
          <a:bodyPr wrap="square" rtlCol="0" anchor="ctr"/>
          <a:lstStyle/>
          <a:p>
            <a:pPr marL="0" indent="0">
              <a:buNone/>
            </a:pPr>
            <a:r>
              <a:rPr lang="en-US" sz="2000" b="1" dirty="0">
                <a:solidFill>
                  <a:srgbClr val="FCB758"/>
                </a:solidFill>
                <a:latin typeface="Oswald" pitchFamily="34" charset="0"/>
                <a:ea typeface="Oswald" pitchFamily="34" charset="-122"/>
                <a:cs typeface="Oswald" pitchFamily="34" charset="-120"/>
              </a:rPr>
              <a:t>We are a team defined by:</a:t>
            </a:r>
            <a:endParaRPr lang="en-US" sz="2000" dirty="0"/>
          </a:p>
        </p:txBody>
      </p:sp>
      <p:sp>
        <p:nvSpPr>
          <p:cNvPr id="15" name="Shape 13"/>
          <p:cNvSpPr/>
          <p:nvPr/>
        </p:nvSpPr>
        <p:spPr>
          <a:xfrm>
            <a:off x="5486400" y="2377440"/>
            <a:ext cx="118872" cy="118872"/>
          </a:xfrm>
          <a:prstGeom prst="rect">
            <a:avLst/>
          </a:prstGeom>
          <a:solidFill>
            <a:srgbClr val="FB385B"/>
          </a:solidFill>
          <a:ln/>
        </p:spPr>
        <p:txBody>
          <a:bodyPr/>
          <a:lstStyle/>
          <a:p>
            <a:endParaRPr lang="es-AR"/>
          </a:p>
        </p:txBody>
      </p:sp>
      <p:sp>
        <p:nvSpPr>
          <p:cNvPr id="16" name="Text 14"/>
          <p:cNvSpPr/>
          <p:nvPr/>
        </p:nvSpPr>
        <p:spPr>
          <a:xfrm>
            <a:off x="5742432" y="2313432"/>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Intensity in every action</a:t>
            </a:r>
            <a:endParaRPr lang="en-US" sz="1550" dirty="0"/>
          </a:p>
        </p:txBody>
      </p:sp>
      <p:sp>
        <p:nvSpPr>
          <p:cNvPr id="17" name="Shape 15"/>
          <p:cNvSpPr/>
          <p:nvPr/>
        </p:nvSpPr>
        <p:spPr>
          <a:xfrm>
            <a:off x="5486400" y="2862072"/>
            <a:ext cx="118872" cy="118872"/>
          </a:xfrm>
          <a:prstGeom prst="rect">
            <a:avLst/>
          </a:prstGeom>
          <a:solidFill>
            <a:srgbClr val="FB385B"/>
          </a:solidFill>
          <a:ln/>
        </p:spPr>
        <p:txBody>
          <a:bodyPr/>
          <a:lstStyle/>
          <a:p>
            <a:endParaRPr lang="es-AR"/>
          </a:p>
        </p:txBody>
      </p:sp>
      <p:sp>
        <p:nvSpPr>
          <p:cNvPr id="18" name="Text 16"/>
          <p:cNvSpPr/>
          <p:nvPr/>
        </p:nvSpPr>
        <p:spPr>
          <a:xfrm>
            <a:off x="5742432" y="2798064"/>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Tactical and emotional discipline</a:t>
            </a:r>
            <a:endParaRPr lang="en-US" sz="1550" dirty="0"/>
          </a:p>
        </p:txBody>
      </p:sp>
      <p:sp>
        <p:nvSpPr>
          <p:cNvPr id="19" name="Shape 17"/>
          <p:cNvSpPr/>
          <p:nvPr/>
        </p:nvSpPr>
        <p:spPr>
          <a:xfrm>
            <a:off x="5486400" y="3346704"/>
            <a:ext cx="118872" cy="118872"/>
          </a:xfrm>
          <a:prstGeom prst="rect">
            <a:avLst/>
          </a:prstGeom>
          <a:solidFill>
            <a:srgbClr val="FB385B"/>
          </a:solidFill>
          <a:ln/>
        </p:spPr>
        <p:txBody>
          <a:bodyPr/>
          <a:lstStyle/>
          <a:p>
            <a:endParaRPr lang="es-AR"/>
          </a:p>
        </p:txBody>
      </p:sp>
      <p:sp>
        <p:nvSpPr>
          <p:cNvPr id="20" name="Text 18"/>
          <p:cNvSpPr/>
          <p:nvPr/>
        </p:nvSpPr>
        <p:spPr>
          <a:xfrm>
            <a:off x="5742432" y="3282696"/>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Clear, constant communication</a:t>
            </a:r>
            <a:endParaRPr lang="en-US" sz="1550" dirty="0"/>
          </a:p>
        </p:txBody>
      </p:sp>
      <p:sp>
        <p:nvSpPr>
          <p:cNvPr id="21" name="Shape 19"/>
          <p:cNvSpPr/>
          <p:nvPr/>
        </p:nvSpPr>
        <p:spPr>
          <a:xfrm>
            <a:off x="5486400" y="3831336"/>
            <a:ext cx="118872" cy="118872"/>
          </a:xfrm>
          <a:prstGeom prst="rect">
            <a:avLst/>
          </a:prstGeom>
          <a:solidFill>
            <a:srgbClr val="FB385B"/>
          </a:solidFill>
          <a:ln/>
        </p:spPr>
        <p:txBody>
          <a:bodyPr/>
          <a:lstStyle/>
          <a:p>
            <a:endParaRPr lang="es-AR"/>
          </a:p>
        </p:txBody>
      </p:sp>
      <p:sp>
        <p:nvSpPr>
          <p:cNvPr id="22" name="Text 20"/>
          <p:cNvSpPr/>
          <p:nvPr/>
        </p:nvSpPr>
        <p:spPr>
          <a:xfrm>
            <a:off x="5742432" y="3767328"/>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Individual and collective </a:t>
            </a:r>
            <a:r>
              <a:rPr lang="en-US" sz="1550" i="1" dirty="0" err="1">
                <a:solidFill>
                  <a:srgbClr val="EEF1F6"/>
                </a:solidFill>
                <a:latin typeface="Barlow" pitchFamily="34" charset="0"/>
                <a:ea typeface="Barlow" pitchFamily="34" charset="-122"/>
                <a:cs typeface="Barlow" pitchFamily="34" charset="-120"/>
              </a:rPr>
              <a:t>responsability</a:t>
            </a:r>
            <a:endParaRPr lang="en-US" sz="1550" dirty="0"/>
          </a:p>
        </p:txBody>
      </p:sp>
      <p:sp>
        <p:nvSpPr>
          <p:cNvPr id="23" name="Shape 21"/>
          <p:cNvSpPr/>
          <p:nvPr/>
        </p:nvSpPr>
        <p:spPr>
          <a:xfrm>
            <a:off x="5486400" y="4315968"/>
            <a:ext cx="118872" cy="118872"/>
          </a:xfrm>
          <a:prstGeom prst="rect">
            <a:avLst/>
          </a:prstGeom>
          <a:solidFill>
            <a:srgbClr val="FB385B"/>
          </a:solidFill>
          <a:ln/>
        </p:spPr>
        <p:txBody>
          <a:bodyPr/>
          <a:lstStyle/>
          <a:p>
            <a:endParaRPr lang="es-AR"/>
          </a:p>
        </p:txBody>
      </p:sp>
      <p:sp>
        <p:nvSpPr>
          <p:cNvPr id="24" name="Text 22"/>
          <p:cNvSpPr/>
          <p:nvPr/>
        </p:nvSpPr>
        <p:spPr>
          <a:xfrm>
            <a:off x="5742432" y="4251960"/>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Competitive humility</a:t>
            </a:r>
            <a:endParaRPr lang="en-US" sz="1550" dirty="0"/>
          </a:p>
        </p:txBody>
      </p:sp>
      <p:sp>
        <p:nvSpPr>
          <p:cNvPr id="25" name="Shape 23"/>
          <p:cNvSpPr/>
          <p:nvPr/>
        </p:nvSpPr>
        <p:spPr>
          <a:xfrm>
            <a:off x="5486400" y="4800600"/>
            <a:ext cx="118872" cy="118872"/>
          </a:xfrm>
          <a:prstGeom prst="rect">
            <a:avLst/>
          </a:prstGeom>
          <a:solidFill>
            <a:srgbClr val="FB385B"/>
          </a:solidFill>
          <a:ln/>
        </p:spPr>
        <p:txBody>
          <a:bodyPr/>
          <a:lstStyle/>
          <a:p>
            <a:endParaRPr lang="es-AR"/>
          </a:p>
        </p:txBody>
      </p:sp>
      <p:sp>
        <p:nvSpPr>
          <p:cNvPr id="26" name="Text 24"/>
          <p:cNvSpPr/>
          <p:nvPr/>
        </p:nvSpPr>
        <p:spPr>
          <a:xfrm>
            <a:off x="5742432" y="4736592"/>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Professionalism on and off the court</a:t>
            </a:r>
            <a:endParaRPr lang="en-US" sz="1550" dirty="0"/>
          </a:p>
        </p:txBody>
      </p:sp>
      <p:sp>
        <p:nvSpPr>
          <p:cNvPr id="27" name="Shape 25"/>
          <p:cNvSpPr/>
          <p:nvPr/>
        </p:nvSpPr>
        <p:spPr>
          <a:xfrm>
            <a:off x="5486400" y="5285232"/>
            <a:ext cx="118872" cy="118872"/>
          </a:xfrm>
          <a:prstGeom prst="rect">
            <a:avLst/>
          </a:prstGeom>
          <a:solidFill>
            <a:srgbClr val="FB385B"/>
          </a:solidFill>
          <a:ln/>
        </p:spPr>
        <p:txBody>
          <a:bodyPr/>
          <a:lstStyle/>
          <a:p>
            <a:endParaRPr lang="es-AR"/>
          </a:p>
        </p:txBody>
      </p:sp>
      <p:sp>
        <p:nvSpPr>
          <p:cNvPr id="28" name="Text 26"/>
          <p:cNvSpPr/>
          <p:nvPr/>
        </p:nvSpPr>
        <p:spPr>
          <a:xfrm>
            <a:off x="5742432" y="5221224"/>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Relentless pursuit of improvement</a:t>
            </a:r>
            <a:endParaRPr lang="en-US" sz="1550" dirty="0"/>
          </a:p>
        </p:txBody>
      </p:sp>
      <p:sp>
        <p:nvSpPr>
          <p:cNvPr id="29" name="Shape 27"/>
          <p:cNvSpPr/>
          <p:nvPr/>
        </p:nvSpPr>
        <p:spPr>
          <a:xfrm>
            <a:off x="5486400" y="5769864"/>
            <a:ext cx="118872" cy="118872"/>
          </a:xfrm>
          <a:prstGeom prst="rect">
            <a:avLst/>
          </a:prstGeom>
          <a:solidFill>
            <a:srgbClr val="FB385B"/>
          </a:solidFill>
          <a:ln/>
        </p:spPr>
        <p:txBody>
          <a:bodyPr/>
          <a:lstStyle/>
          <a:p>
            <a:endParaRPr lang="es-AR"/>
          </a:p>
        </p:txBody>
      </p:sp>
      <p:sp>
        <p:nvSpPr>
          <p:cNvPr id="30" name="Text 28"/>
          <p:cNvSpPr/>
          <p:nvPr/>
        </p:nvSpPr>
        <p:spPr>
          <a:xfrm>
            <a:off x="5742432" y="5705856"/>
            <a:ext cx="5961888" cy="457200"/>
          </a:xfrm>
          <a:prstGeom prst="rect">
            <a:avLst/>
          </a:prstGeom>
          <a:noFill/>
          <a:ln/>
        </p:spPr>
        <p:txBody>
          <a:bodyPr wrap="square" rtlCol="0" anchor="t"/>
          <a:lstStyle/>
          <a:p>
            <a:pPr marL="0" indent="0">
              <a:lnSpc>
                <a:spcPts val="1984"/>
              </a:lnSpc>
              <a:buNone/>
            </a:pPr>
            <a:r>
              <a:rPr lang="en-US" sz="1550" i="1" dirty="0">
                <a:solidFill>
                  <a:srgbClr val="EEF1F6"/>
                </a:solidFill>
                <a:latin typeface="Barlow" pitchFamily="34" charset="0"/>
                <a:ea typeface="Barlow" pitchFamily="34" charset="-122"/>
                <a:cs typeface="Barlow" pitchFamily="34" charset="-120"/>
              </a:rPr>
              <a:t>Winning mentality</a:t>
            </a:r>
            <a:endParaRPr lang="en-US" sz="1550" dirty="0"/>
          </a:p>
        </p:txBody>
      </p:sp>
      <p:sp>
        <p:nvSpPr>
          <p:cNvPr id="31" name="Shape 29"/>
          <p:cNvSpPr/>
          <p:nvPr/>
        </p:nvSpPr>
        <p:spPr>
          <a:xfrm>
            <a:off x="0" y="6620256"/>
            <a:ext cx="12161520" cy="54864"/>
          </a:xfrm>
          <a:prstGeom prst="rect">
            <a:avLst/>
          </a:prstGeom>
          <a:solidFill>
            <a:srgbClr val="161D3A"/>
          </a:solidFill>
          <a:ln/>
        </p:spPr>
        <p:txBody>
          <a:bodyPr/>
          <a:lstStyle/>
          <a:p>
            <a:endParaRPr lang="es-AR"/>
          </a:p>
        </p:txBody>
      </p:sp>
      <p:sp>
        <p:nvSpPr>
          <p:cNvPr id="32" name="Text 30"/>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33" name="Text 31"/>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02</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THE FRAMEWORK</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Playing Principles</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Text 9"/>
          <p:cNvSpPr/>
          <p:nvPr/>
        </p:nvSpPr>
        <p:spPr>
          <a:xfrm>
            <a:off x="777240" y="1600200"/>
            <a:ext cx="10972800" cy="365760"/>
          </a:xfrm>
          <a:prstGeom prst="rect">
            <a:avLst/>
          </a:prstGeom>
          <a:noFill/>
          <a:ln/>
        </p:spPr>
        <p:txBody>
          <a:bodyPr wrap="square" rtlCol="0" anchor="ctr"/>
          <a:lstStyle/>
          <a:p>
            <a:pPr marL="0" indent="0">
              <a:buNone/>
            </a:pPr>
            <a:r>
              <a:rPr lang="en-US" sz="1500" i="1" dirty="0">
                <a:solidFill>
                  <a:srgbClr val="8B97AD"/>
                </a:solidFill>
                <a:latin typeface="Barlow" pitchFamily="34" charset="0"/>
                <a:ea typeface="Barlow" pitchFamily="34" charset="-122"/>
                <a:cs typeface="Barlow" pitchFamily="34" charset="-120"/>
              </a:rPr>
              <a:t>Our principles drive every action in training and competition.</a:t>
            </a:r>
            <a:endParaRPr lang="en-US" sz="1500" dirty="0"/>
          </a:p>
        </p:txBody>
      </p:sp>
      <p:sp>
        <p:nvSpPr>
          <p:cNvPr id="12" name="Shape 10"/>
          <p:cNvSpPr/>
          <p:nvPr/>
        </p:nvSpPr>
        <p:spPr>
          <a:xfrm>
            <a:off x="777240" y="2286000"/>
            <a:ext cx="118872" cy="118872"/>
          </a:xfrm>
          <a:prstGeom prst="rect">
            <a:avLst/>
          </a:prstGeom>
          <a:solidFill>
            <a:srgbClr val="FB385B"/>
          </a:solidFill>
          <a:ln/>
        </p:spPr>
        <p:txBody>
          <a:bodyPr/>
          <a:lstStyle/>
          <a:p>
            <a:endParaRPr lang="es-AR"/>
          </a:p>
        </p:txBody>
      </p:sp>
      <p:sp>
        <p:nvSpPr>
          <p:cNvPr id="13" name="Text 11"/>
          <p:cNvSpPr/>
          <p:nvPr/>
        </p:nvSpPr>
        <p:spPr>
          <a:xfrm>
            <a:off x="1033272" y="2221992"/>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Tactical clarity:</a:t>
            </a:r>
            <a:r>
              <a:rPr lang="en-US" sz="1600" dirty="0">
                <a:solidFill>
                  <a:srgbClr val="EEF1F6"/>
                </a:solidFill>
                <a:latin typeface="Barlow" pitchFamily="34" charset="0"/>
                <a:ea typeface="Barlow" pitchFamily="34" charset="-122"/>
                <a:cs typeface="Barlow" pitchFamily="34" charset="-120"/>
              </a:rPr>
              <a:t> every player owns their role and priority in each situation.</a:t>
            </a:r>
            <a:endParaRPr lang="en-US" sz="1600" dirty="0"/>
          </a:p>
        </p:txBody>
      </p:sp>
      <p:sp>
        <p:nvSpPr>
          <p:cNvPr id="14" name="Shape 12"/>
          <p:cNvSpPr/>
          <p:nvPr/>
        </p:nvSpPr>
        <p:spPr>
          <a:xfrm>
            <a:off x="777240" y="2862072"/>
            <a:ext cx="118872" cy="118872"/>
          </a:xfrm>
          <a:prstGeom prst="rect">
            <a:avLst/>
          </a:prstGeom>
          <a:solidFill>
            <a:srgbClr val="FB385B"/>
          </a:solidFill>
          <a:ln/>
        </p:spPr>
        <p:txBody>
          <a:bodyPr/>
          <a:lstStyle/>
          <a:p>
            <a:endParaRPr lang="es-AR"/>
          </a:p>
        </p:txBody>
      </p:sp>
      <p:sp>
        <p:nvSpPr>
          <p:cNvPr id="15" name="Text 13"/>
          <p:cNvSpPr/>
          <p:nvPr/>
        </p:nvSpPr>
        <p:spPr>
          <a:xfrm>
            <a:off x="1033272" y="2798064"/>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Smart aggression:</a:t>
            </a:r>
            <a:r>
              <a:rPr lang="en-US" sz="1600" dirty="0">
                <a:solidFill>
                  <a:srgbClr val="EEF1F6"/>
                </a:solidFill>
                <a:latin typeface="Barlow" pitchFamily="34" charset="0"/>
                <a:ea typeface="Barlow" pitchFamily="34" charset="-122"/>
                <a:cs typeface="Barlow" pitchFamily="34" charset="-120"/>
              </a:rPr>
              <a:t> we attack and defend with intent, never losing control.</a:t>
            </a:r>
            <a:endParaRPr lang="en-US" sz="1600" dirty="0"/>
          </a:p>
        </p:txBody>
      </p:sp>
      <p:sp>
        <p:nvSpPr>
          <p:cNvPr id="16" name="Shape 14"/>
          <p:cNvSpPr/>
          <p:nvPr/>
        </p:nvSpPr>
        <p:spPr>
          <a:xfrm>
            <a:off x="777240" y="3438144"/>
            <a:ext cx="118872" cy="118872"/>
          </a:xfrm>
          <a:prstGeom prst="rect">
            <a:avLst/>
          </a:prstGeom>
          <a:solidFill>
            <a:srgbClr val="FB385B"/>
          </a:solidFill>
          <a:ln/>
        </p:spPr>
        <p:txBody>
          <a:bodyPr/>
          <a:lstStyle/>
          <a:p>
            <a:endParaRPr lang="es-AR"/>
          </a:p>
        </p:txBody>
      </p:sp>
      <p:sp>
        <p:nvSpPr>
          <p:cNvPr id="17" name="Text 15"/>
          <p:cNvSpPr/>
          <p:nvPr/>
        </p:nvSpPr>
        <p:spPr>
          <a:xfrm>
            <a:off x="1033272" y="3374136"/>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Setting tempo:</a:t>
            </a:r>
            <a:r>
              <a:rPr lang="en-US" sz="1600" dirty="0">
                <a:solidFill>
                  <a:srgbClr val="EEF1F6"/>
                </a:solidFill>
                <a:latin typeface="Barlow" pitchFamily="34" charset="0"/>
                <a:ea typeface="Barlow" pitchFamily="34" charset="-122"/>
                <a:cs typeface="Barlow" pitchFamily="34" charset="-120"/>
              </a:rPr>
              <a:t> we speed up execution while holding precision and court awareness.</a:t>
            </a:r>
            <a:endParaRPr lang="en-US" sz="1600" dirty="0"/>
          </a:p>
        </p:txBody>
      </p:sp>
      <p:sp>
        <p:nvSpPr>
          <p:cNvPr id="18" name="Shape 16"/>
          <p:cNvSpPr/>
          <p:nvPr/>
        </p:nvSpPr>
        <p:spPr>
          <a:xfrm>
            <a:off x="777240" y="4014216"/>
            <a:ext cx="118872" cy="118872"/>
          </a:xfrm>
          <a:prstGeom prst="rect">
            <a:avLst/>
          </a:prstGeom>
          <a:solidFill>
            <a:srgbClr val="FB385B"/>
          </a:solidFill>
          <a:ln/>
        </p:spPr>
        <p:txBody>
          <a:bodyPr/>
          <a:lstStyle/>
          <a:p>
            <a:endParaRPr lang="es-AR"/>
          </a:p>
        </p:txBody>
      </p:sp>
      <p:sp>
        <p:nvSpPr>
          <p:cNvPr id="19" name="Text 17"/>
          <p:cNvSpPr/>
          <p:nvPr/>
        </p:nvSpPr>
        <p:spPr>
          <a:xfrm>
            <a:off x="1033272" y="3950208"/>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System discipline:</a:t>
            </a:r>
            <a:r>
              <a:rPr lang="en-US" sz="1600" dirty="0">
                <a:solidFill>
                  <a:srgbClr val="EEF1F6"/>
                </a:solidFill>
                <a:latin typeface="Barlow" pitchFamily="34" charset="0"/>
                <a:ea typeface="Barlow" pitchFamily="34" charset="-122"/>
                <a:cs typeface="Barlow" pitchFamily="34" charset="-120"/>
              </a:rPr>
              <a:t> we respect the pre-set structure for clean execution.</a:t>
            </a:r>
            <a:endParaRPr lang="en-US" sz="1600" dirty="0"/>
          </a:p>
        </p:txBody>
      </p:sp>
      <p:sp>
        <p:nvSpPr>
          <p:cNvPr id="20" name="Shape 18"/>
          <p:cNvSpPr/>
          <p:nvPr/>
        </p:nvSpPr>
        <p:spPr>
          <a:xfrm>
            <a:off x="777240" y="4590288"/>
            <a:ext cx="118872" cy="118872"/>
          </a:xfrm>
          <a:prstGeom prst="rect">
            <a:avLst/>
          </a:prstGeom>
          <a:solidFill>
            <a:srgbClr val="FB385B"/>
          </a:solidFill>
          <a:ln/>
        </p:spPr>
        <p:txBody>
          <a:bodyPr/>
          <a:lstStyle/>
          <a:p>
            <a:endParaRPr lang="es-AR"/>
          </a:p>
        </p:txBody>
      </p:sp>
      <p:sp>
        <p:nvSpPr>
          <p:cNvPr id="21" name="Text 19"/>
          <p:cNvSpPr/>
          <p:nvPr/>
        </p:nvSpPr>
        <p:spPr>
          <a:xfrm>
            <a:off x="1033272" y="4526280"/>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Reading the game:</a:t>
            </a:r>
            <a:r>
              <a:rPr lang="en-US" sz="1600" dirty="0">
                <a:solidFill>
                  <a:srgbClr val="EEF1F6"/>
                </a:solidFill>
                <a:latin typeface="Barlow" pitchFamily="34" charset="0"/>
                <a:ea typeface="Barlow" pitchFamily="34" charset="-122"/>
                <a:cs typeface="Barlow" pitchFamily="34" charset="-120"/>
              </a:rPr>
              <a:t> we interpret the context to decide with an edge.</a:t>
            </a:r>
            <a:endParaRPr lang="en-US" sz="1600" dirty="0"/>
          </a:p>
        </p:txBody>
      </p:sp>
      <p:sp>
        <p:nvSpPr>
          <p:cNvPr id="22" name="Shape 20"/>
          <p:cNvSpPr/>
          <p:nvPr/>
        </p:nvSpPr>
        <p:spPr>
          <a:xfrm>
            <a:off x="777240" y="5166360"/>
            <a:ext cx="118872" cy="118872"/>
          </a:xfrm>
          <a:prstGeom prst="rect">
            <a:avLst/>
          </a:prstGeom>
          <a:solidFill>
            <a:srgbClr val="FB385B"/>
          </a:solidFill>
          <a:ln/>
        </p:spPr>
        <p:txBody>
          <a:bodyPr/>
          <a:lstStyle/>
          <a:p>
            <a:endParaRPr lang="es-AR"/>
          </a:p>
        </p:txBody>
      </p:sp>
      <p:sp>
        <p:nvSpPr>
          <p:cNvPr id="23" name="Text 21"/>
          <p:cNvSpPr/>
          <p:nvPr/>
        </p:nvSpPr>
        <p:spPr>
          <a:xfrm>
            <a:off x="1033272" y="5102352"/>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Role responsibility:</a:t>
            </a:r>
            <a:r>
              <a:rPr lang="en-US" sz="1600" dirty="0">
                <a:solidFill>
                  <a:srgbClr val="EEF1F6"/>
                </a:solidFill>
                <a:latin typeface="Barlow" pitchFamily="34" charset="0"/>
                <a:ea typeface="Barlow" pitchFamily="34" charset="-122"/>
                <a:cs typeface="Barlow" pitchFamily="34" charset="-120"/>
              </a:rPr>
              <a:t> discipline and consistency in every function.</a:t>
            </a:r>
            <a:endParaRPr lang="en-US" sz="1600" dirty="0"/>
          </a:p>
        </p:txBody>
      </p:sp>
      <p:sp>
        <p:nvSpPr>
          <p:cNvPr id="24" name="Shape 22"/>
          <p:cNvSpPr/>
          <p:nvPr/>
        </p:nvSpPr>
        <p:spPr>
          <a:xfrm>
            <a:off x="777240" y="5742432"/>
            <a:ext cx="118872" cy="118872"/>
          </a:xfrm>
          <a:prstGeom prst="rect">
            <a:avLst/>
          </a:prstGeom>
          <a:solidFill>
            <a:srgbClr val="FB385B"/>
          </a:solidFill>
          <a:ln/>
        </p:spPr>
        <p:txBody>
          <a:bodyPr/>
          <a:lstStyle/>
          <a:p>
            <a:endParaRPr lang="es-AR"/>
          </a:p>
        </p:txBody>
      </p:sp>
      <p:sp>
        <p:nvSpPr>
          <p:cNvPr id="25" name="Text 23"/>
          <p:cNvSpPr/>
          <p:nvPr/>
        </p:nvSpPr>
        <p:spPr>
          <a:xfrm>
            <a:off x="1033272" y="5678424"/>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Emotional stability:</a:t>
            </a:r>
            <a:r>
              <a:rPr lang="en-US" sz="1600" dirty="0">
                <a:solidFill>
                  <a:srgbClr val="EEF1F6"/>
                </a:solidFill>
                <a:latin typeface="Barlow" pitchFamily="34" charset="0"/>
                <a:ea typeface="Barlow" pitchFamily="34" charset="-122"/>
                <a:cs typeface="Barlow" pitchFamily="34" charset="-120"/>
              </a:rPr>
              <a:t> we train the way we play — always at 100%.</a:t>
            </a:r>
            <a:endParaRPr lang="en-US" sz="1600" dirty="0"/>
          </a:p>
        </p:txBody>
      </p:sp>
      <p:sp>
        <p:nvSpPr>
          <p:cNvPr id="26" name="Shape 24"/>
          <p:cNvSpPr/>
          <p:nvPr/>
        </p:nvSpPr>
        <p:spPr>
          <a:xfrm>
            <a:off x="0" y="6620256"/>
            <a:ext cx="12161520" cy="54864"/>
          </a:xfrm>
          <a:prstGeom prst="rect">
            <a:avLst/>
          </a:prstGeom>
          <a:solidFill>
            <a:srgbClr val="161D3A"/>
          </a:solidFill>
          <a:ln/>
        </p:spPr>
        <p:txBody>
          <a:bodyPr/>
          <a:lstStyle/>
          <a:p>
            <a:endParaRPr lang="es-AR"/>
          </a:p>
        </p:txBody>
      </p:sp>
      <p:sp>
        <p:nvSpPr>
          <p:cNvPr id="27" name="Text 25"/>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8" name="Text 26"/>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03</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HOW WE SCORE</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Offensive System</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777240" y="1783080"/>
            <a:ext cx="118872" cy="118872"/>
          </a:xfrm>
          <a:prstGeom prst="rect">
            <a:avLst/>
          </a:prstGeom>
          <a:solidFill>
            <a:srgbClr val="FB385B"/>
          </a:solidFill>
          <a:ln/>
        </p:spPr>
        <p:txBody>
          <a:bodyPr/>
          <a:lstStyle/>
          <a:p>
            <a:endParaRPr lang="es-AR"/>
          </a:p>
        </p:txBody>
      </p:sp>
      <p:sp>
        <p:nvSpPr>
          <p:cNvPr id="12" name="Text 10"/>
          <p:cNvSpPr/>
          <p:nvPr/>
        </p:nvSpPr>
        <p:spPr>
          <a:xfrm>
            <a:off x="1033272" y="1719072"/>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Rotation-based setting:</a:t>
            </a:r>
            <a:r>
              <a:rPr lang="en-US" sz="1350" dirty="0">
                <a:solidFill>
                  <a:srgbClr val="EEF1F6"/>
                </a:solidFill>
                <a:latin typeface="Barlow" pitchFamily="34" charset="0"/>
                <a:ea typeface="Barlow" pitchFamily="34" charset="-122"/>
                <a:cs typeface="Barlow" pitchFamily="34" charset="-120"/>
              </a:rPr>
              <a:t> we adjust the set to where the pass drops, shifting systems to create numerical advantage against the block.</a:t>
            </a:r>
            <a:endParaRPr lang="en-US" sz="1350" dirty="0"/>
          </a:p>
        </p:txBody>
      </p:sp>
      <p:sp>
        <p:nvSpPr>
          <p:cNvPr id="13" name="Shape 11"/>
          <p:cNvSpPr/>
          <p:nvPr/>
        </p:nvSpPr>
        <p:spPr>
          <a:xfrm>
            <a:off x="777240" y="2304288"/>
            <a:ext cx="118872" cy="118872"/>
          </a:xfrm>
          <a:prstGeom prst="rect">
            <a:avLst/>
          </a:prstGeom>
          <a:solidFill>
            <a:srgbClr val="FB385B"/>
          </a:solidFill>
          <a:ln/>
        </p:spPr>
        <p:txBody>
          <a:bodyPr/>
          <a:lstStyle/>
          <a:p>
            <a:endParaRPr lang="es-AR"/>
          </a:p>
        </p:txBody>
      </p:sp>
      <p:sp>
        <p:nvSpPr>
          <p:cNvPr id="14" name="Text 12"/>
          <p:cNvSpPr/>
          <p:nvPr/>
        </p:nvSpPr>
        <p:spPr>
          <a:xfrm>
            <a:off x="1033272" y="2240280"/>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Middle involvement:</a:t>
            </a:r>
            <a:r>
              <a:rPr lang="en-US" sz="1350" dirty="0">
                <a:solidFill>
                  <a:srgbClr val="EEF1F6"/>
                </a:solidFill>
                <a:latin typeface="Barlow" pitchFamily="34" charset="0"/>
                <a:ea typeface="Barlow" pitchFamily="34" charset="-122"/>
                <a:cs typeface="Barlow" pitchFamily="34" charset="-120"/>
              </a:rPr>
              <a:t> middles are a constant threat in side-out and transition, with varied tempos and trajectories.</a:t>
            </a:r>
            <a:endParaRPr lang="en-US" sz="1350" dirty="0"/>
          </a:p>
        </p:txBody>
      </p:sp>
      <p:sp>
        <p:nvSpPr>
          <p:cNvPr id="15" name="Shape 13"/>
          <p:cNvSpPr/>
          <p:nvPr/>
        </p:nvSpPr>
        <p:spPr>
          <a:xfrm>
            <a:off x="777240" y="2825496"/>
            <a:ext cx="118872" cy="118872"/>
          </a:xfrm>
          <a:prstGeom prst="rect">
            <a:avLst/>
          </a:prstGeom>
          <a:solidFill>
            <a:srgbClr val="FB385B"/>
          </a:solidFill>
          <a:ln/>
        </p:spPr>
        <p:txBody>
          <a:bodyPr/>
          <a:lstStyle/>
          <a:p>
            <a:endParaRPr lang="es-AR"/>
          </a:p>
        </p:txBody>
      </p:sp>
      <p:sp>
        <p:nvSpPr>
          <p:cNvPr id="16" name="Text 14"/>
          <p:cNvSpPr/>
          <p:nvPr/>
        </p:nvSpPr>
        <p:spPr>
          <a:xfrm>
            <a:off x="1033272" y="2761488"/>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Tempo variability:</a:t>
            </a:r>
            <a:r>
              <a:rPr lang="en-US" sz="1350" dirty="0">
                <a:solidFill>
                  <a:srgbClr val="EEF1F6"/>
                </a:solidFill>
                <a:latin typeface="Barlow" pitchFamily="34" charset="0"/>
                <a:ea typeface="Barlow" pitchFamily="34" charset="-122"/>
                <a:cs typeface="Barlow" pitchFamily="34" charset="-120"/>
              </a:rPr>
              <a:t> we adapt set height and speed to ball quality to manage our attack.</a:t>
            </a:r>
            <a:endParaRPr lang="en-US" sz="1350" dirty="0"/>
          </a:p>
        </p:txBody>
      </p:sp>
      <p:sp>
        <p:nvSpPr>
          <p:cNvPr id="17" name="Shape 15"/>
          <p:cNvSpPr/>
          <p:nvPr/>
        </p:nvSpPr>
        <p:spPr>
          <a:xfrm>
            <a:off x="777240" y="3346704"/>
            <a:ext cx="118872" cy="118872"/>
          </a:xfrm>
          <a:prstGeom prst="rect">
            <a:avLst/>
          </a:prstGeom>
          <a:solidFill>
            <a:srgbClr val="FB385B"/>
          </a:solidFill>
          <a:ln/>
        </p:spPr>
        <p:txBody>
          <a:bodyPr/>
          <a:lstStyle/>
          <a:p>
            <a:endParaRPr lang="es-AR"/>
          </a:p>
        </p:txBody>
      </p:sp>
      <p:sp>
        <p:nvSpPr>
          <p:cNvPr id="18" name="Text 16"/>
          <p:cNvSpPr/>
          <p:nvPr/>
        </p:nvSpPr>
        <p:spPr>
          <a:xfrm>
            <a:off x="1033272" y="3282696"/>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Aggressive transition:</a:t>
            </a:r>
            <a:r>
              <a:rPr lang="en-US" sz="1350" dirty="0">
                <a:solidFill>
                  <a:srgbClr val="EEF1F6"/>
                </a:solidFill>
                <a:latin typeface="Barlow" pitchFamily="34" charset="0"/>
                <a:ea typeface="Barlow" pitchFamily="34" charset="-122"/>
                <a:cs typeface="Barlow" pitchFamily="34" charset="-120"/>
              </a:rPr>
              <a:t> we convert the counter-attack through set quality and disciplined hitting.</a:t>
            </a:r>
            <a:endParaRPr lang="en-US" sz="1350" dirty="0"/>
          </a:p>
        </p:txBody>
      </p:sp>
      <p:sp>
        <p:nvSpPr>
          <p:cNvPr id="19" name="Shape 17"/>
          <p:cNvSpPr/>
          <p:nvPr/>
        </p:nvSpPr>
        <p:spPr>
          <a:xfrm>
            <a:off x="777240" y="3867912"/>
            <a:ext cx="118872" cy="118872"/>
          </a:xfrm>
          <a:prstGeom prst="rect">
            <a:avLst/>
          </a:prstGeom>
          <a:solidFill>
            <a:srgbClr val="FB385B"/>
          </a:solidFill>
          <a:ln/>
        </p:spPr>
        <p:txBody>
          <a:bodyPr/>
          <a:lstStyle/>
          <a:p>
            <a:endParaRPr lang="es-AR"/>
          </a:p>
        </p:txBody>
      </p:sp>
      <p:sp>
        <p:nvSpPr>
          <p:cNvPr id="20" name="Text 18"/>
          <p:cNvSpPr/>
          <p:nvPr/>
        </p:nvSpPr>
        <p:spPr>
          <a:xfrm>
            <a:off x="1033272" y="3803904"/>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The block as a tool:</a:t>
            </a:r>
            <a:r>
              <a:rPr lang="en-US" sz="1350" dirty="0">
                <a:solidFill>
                  <a:srgbClr val="EEF1F6"/>
                </a:solidFill>
                <a:latin typeface="Barlow" pitchFamily="34" charset="0"/>
                <a:ea typeface="Barlow" pitchFamily="34" charset="-122"/>
                <a:cs typeface="Barlow" pitchFamily="34" charset="-120"/>
              </a:rPr>
              <a:t> more than an end, it steers the rival attack into our strong defensive zones.</a:t>
            </a:r>
            <a:endParaRPr lang="en-US" sz="1350" dirty="0"/>
          </a:p>
        </p:txBody>
      </p:sp>
      <p:sp>
        <p:nvSpPr>
          <p:cNvPr id="21" name="Shape 19"/>
          <p:cNvSpPr/>
          <p:nvPr/>
        </p:nvSpPr>
        <p:spPr>
          <a:xfrm>
            <a:off x="777240" y="4389120"/>
            <a:ext cx="118872" cy="118872"/>
          </a:xfrm>
          <a:prstGeom prst="rect">
            <a:avLst/>
          </a:prstGeom>
          <a:solidFill>
            <a:srgbClr val="FB385B"/>
          </a:solidFill>
          <a:ln/>
        </p:spPr>
        <p:txBody>
          <a:bodyPr/>
          <a:lstStyle/>
          <a:p>
            <a:endParaRPr lang="es-AR"/>
          </a:p>
        </p:txBody>
      </p:sp>
      <p:sp>
        <p:nvSpPr>
          <p:cNvPr id="22" name="Text 20"/>
          <p:cNvSpPr/>
          <p:nvPr/>
        </p:nvSpPr>
        <p:spPr>
          <a:xfrm>
            <a:off x="1033272" y="4325112"/>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Setter leadership:</a:t>
            </a:r>
            <a:r>
              <a:rPr lang="en-US" sz="1350" dirty="0">
                <a:solidFill>
                  <a:srgbClr val="EEF1F6"/>
                </a:solidFill>
                <a:latin typeface="Barlow" pitchFamily="34" charset="0"/>
                <a:ea typeface="Barlow" pitchFamily="34" charset="-122"/>
                <a:cs typeface="Barlow" pitchFamily="34" charset="-120"/>
              </a:rPr>
              <a:t> offensive rhythm, smart shot selection and balanced distribution by rotation, read and context.</a:t>
            </a:r>
            <a:endParaRPr lang="en-US" sz="1350" dirty="0"/>
          </a:p>
        </p:txBody>
      </p:sp>
      <p:sp>
        <p:nvSpPr>
          <p:cNvPr id="23" name="Shape 21"/>
          <p:cNvSpPr/>
          <p:nvPr/>
        </p:nvSpPr>
        <p:spPr>
          <a:xfrm>
            <a:off x="777240" y="4910328"/>
            <a:ext cx="118872" cy="118872"/>
          </a:xfrm>
          <a:prstGeom prst="rect">
            <a:avLst/>
          </a:prstGeom>
          <a:solidFill>
            <a:srgbClr val="FB385B"/>
          </a:solidFill>
          <a:ln/>
        </p:spPr>
        <p:txBody>
          <a:bodyPr/>
          <a:lstStyle/>
          <a:p>
            <a:endParaRPr lang="es-AR"/>
          </a:p>
        </p:txBody>
      </p:sp>
      <p:sp>
        <p:nvSpPr>
          <p:cNvPr id="24" name="Text 22"/>
          <p:cNvSpPr/>
          <p:nvPr/>
        </p:nvSpPr>
        <p:spPr>
          <a:xfrm>
            <a:off x="1033272" y="4846320"/>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Hitter efficiency:</a:t>
            </a:r>
            <a:r>
              <a:rPr lang="en-US" sz="1350" dirty="0">
                <a:solidFill>
                  <a:srgbClr val="EEF1F6"/>
                </a:solidFill>
                <a:latin typeface="Barlow" pitchFamily="34" charset="0"/>
                <a:ea typeface="Barlow" pitchFamily="34" charset="-122"/>
                <a:cs typeface="Barlow" pitchFamily="34" charset="-120"/>
              </a:rPr>
              <a:t> variety of shots, tools and decisions — detecting a tactical error from a technical one.</a:t>
            </a:r>
            <a:endParaRPr lang="en-US" sz="1350" dirty="0"/>
          </a:p>
        </p:txBody>
      </p:sp>
      <p:sp>
        <p:nvSpPr>
          <p:cNvPr id="25" name="Shape 23"/>
          <p:cNvSpPr/>
          <p:nvPr/>
        </p:nvSpPr>
        <p:spPr>
          <a:xfrm>
            <a:off x="777240" y="5431536"/>
            <a:ext cx="118872" cy="118872"/>
          </a:xfrm>
          <a:prstGeom prst="rect">
            <a:avLst/>
          </a:prstGeom>
          <a:solidFill>
            <a:srgbClr val="FB385B"/>
          </a:solidFill>
          <a:ln/>
        </p:spPr>
        <p:txBody>
          <a:bodyPr/>
          <a:lstStyle/>
          <a:p>
            <a:endParaRPr lang="es-AR"/>
          </a:p>
        </p:txBody>
      </p:sp>
      <p:sp>
        <p:nvSpPr>
          <p:cNvPr id="26" name="Text 24"/>
          <p:cNvSpPr/>
          <p:nvPr/>
        </p:nvSpPr>
        <p:spPr>
          <a:xfrm>
            <a:off x="1033272" y="5367528"/>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Hit hard, high and long,</a:t>
            </a:r>
            <a:r>
              <a:rPr lang="en-US" sz="1350" dirty="0">
                <a:solidFill>
                  <a:srgbClr val="EEF1F6"/>
                </a:solidFill>
                <a:latin typeface="Barlow" pitchFamily="34" charset="0"/>
                <a:ea typeface="Barlow" pitchFamily="34" charset="-122"/>
                <a:cs typeface="Barlow" pitchFamily="34" charset="-120"/>
              </a:rPr>
              <a:t> varying angles and never closing the swing.</a:t>
            </a:r>
            <a:endParaRPr lang="en-US" sz="1350" dirty="0"/>
          </a:p>
        </p:txBody>
      </p:sp>
      <p:sp>
        <p:nvSpPr>
          <p:cNvPr id="27" name="Shape 25"/>
          <p:cNvSpPr/>
          <p:nvPr/>
        </p:nvSpPr>
        <p:spPr>
          <a:xfrm>
            <a:off x="777240" y="5952744"/>
            <a:ext cx="118872" cy="118872"/>
          </a:xfrm>
          <a:prstGeom prst="rect">
            <a:avLst/>
          </a:prstGeom>
          <a:solidFill>
            <a:srgbClr val="FB385B"/>
          </a:solidFill>
          <a:ln/>
        </p:spPr>
        <p:txBody>
          <a:bodyPr/>
          <a:lstStyle/>
          <a:p>
            <a:endParaRPr lang="es-AR"/>
          </a:p>
        </p:txBody>
      </p:sp>
      <p:sp>
        <p:nvSpPr>
          <p:cNvPr id="28" name="Text 26"/>
          <p:cNvSpPr/>
          <p:nvPr/>
        </p:nvSpPr>
        <p:spPr>
          <a:xfrm>
            <a:off x="1033272" y="5888736"/>
            <a:ext cx="10671048" cy="457200"/>
          </a:xfrm>
          <a:prstGeom prst="rect">
            <a:avLst/>
          </a:prstGeom>
          <a:noFill/>
          <a:ln/>
        </p:spPr>
        <p:txBody>
          <a:bodyPr wrap="square" rtlCol="0" anchor="t"/>
          <a:lstStyle/>
          <a:p>
            <a:pPr marL="0" indent="0">
              <a:lnSpc>
                <a:spcPts val="1650"/>
              </a:lnSpc>
              <a:buNone/>
            </a:pPr>
            <a:r>
              <a:rPr lang="en-US" sz="1350" b="1" dirty="0">
                <a:solidFill>
                  <a:srgbClr val="FFFFFF"/>
                </a:solidFill>
                <a:latin typeface="Barlow" pitchFamily="34" charset="0"/>
                <a:ea typeface="Barlow" pitchFamily="34" charset="-122"/>
                <a:cs typeface="Barlow" pitchFamily="34" charset="-120"/>
              </a:rPr>
              <a:t>Be smart:</a:t>
            </a:r>
            <a:r>
              <a:rPr lang="en-US" sz="1350" dirty="0">
                <a:solidFill>
                  <a:srgbClr val="EEF1F6"/>
                </a:solidFill>
                <a:latin typeface="Barlow" pitchFamily="34" charset="0"/>
                <a:ea typeface="Barlow" pitchFamily="34" charset="-122"/>
                <a:cs typeface="Barlow" pitchFamily="34" charset="-120"/>
              </a:rPr>
              <a:t> recycle when needed and always target the last 3 meters of the court.</a:t>
            </a:r>
            <a:endParaRPr lang="en-US" sz="1350" dirty="0"/>
          </a:p>
        </p:txBody>
      </p:sp>
      <p:sp>
        <p:nvSpPr>
          <p:cNvPr id="29" name="Shape 27"/>
          <p:cNvSpPr/>
          <p:nvPr/>
        </p:nvSpPr>
        <p:spPr>
          <a:xfrm>
            <a:off x="0" y="6620256"/>
            <a:ext cx="12161520" cy="54864"/>
          </a:xfrm>
          <a:prstGeom prst="rect">
            <a:avLst/>
          </a:prstGeom>
          <a:solidFill>
            <a:srgbClr val="161D3A"/>
          </a:solidFill>
          <a:ln/>
        </p:spPr>
        <p:txBody>
          <a:bodyPr/>
          <a:lstStyle/>
          <a:p>
            <a:endParaRPr lang="es-AR"/>
          </a:p>
        </p:txBody>
      </p:sp>
      <p:sp>
        <p:nvSpPr>
          <p:cNvPr id="30" name="Text 28"/>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31" name="Text 29"/>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226"/>
        </a:solidFill>
        <a:effectLst/>
      </p:bgPr>
    </p:bg>
    <p:spTree>
      <p:nvGrpSpPr>
        <p:cNvPr id="1" name=""/>
        <p:cNvGrpSpPr/>
        <p:nvPr/>
      </p:nvGrpSpPr>
      <p:grpSpPr>
        <a:xfrm>
          <a:off x="0" y="0"/>
          <a:ext cx="0" cy="0"/>
          <a:chOff x="0" y="0"/>
          <a:chExt cx="0" cy="0"/>
        </a:xfrm>
      </p:grpSpPr>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03</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IN-SYSTEM ATTACK</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Offensive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37360"/>
            <a:ext cx="11109960" cy="822960"/>
          </a:xfrm>
          <a:prstGeom prst="roundRect">
            <a:avLst>
              <a:gd name="adj" fmla="val 7778"/>
            </a:avLst>
          </a:prstGeom>
          <a:solidFill>
            <a:srgbClr val="161D3A"/>
          </a:solidFill>
          <a:ln w="12700">
            <a:solidFill>
              <a:srgbClr val="202A52"/>
            </a:solidFill>
            <a:prstDash val="solid"/>
          </a:ln>
        </p:spPr>
        <p:txBody>
          <a:bodyPr/>
          <a:lstStyle/>
          <a:p>
            <a:endParaRPr lang="es-AR"/>
          </a:p>
        </p:txBody>
      </p:sp>
      <p:sp>
        <p:nvSpPr>
          <p:cNvPr id="12" name="Shape 10"/>
          <p:cNvSpPr/>
          <p:nvPr/>
        </p:nvSpPr>
        <p:spPr>
          <a:xfrm>
            <a:off x="594360" y="1737360"/>
            <a:ext cx="11109960" cy="82296"/>
          </a:xfrm>
          <a:prstGeom prst="rect">
            <a:avLst/>
          </a:prstGeom>
          <a:solidFill>
            <a:srgbClr val="FCB758"/>
          </a:solidFill>
          <a:ln/>
        </p:spPr>
        <p:txBody>
          <a:bodyPr/>
          <a:lstStyle/>
          <a:p>
            <a:endParaRPr lang="es-AR"/>
          </a:p>
        </p:txBody>
      </p:sp>
      <p:sp>
        <p:nvSpPr>
          <p:cNvPr id="13" name="Text 11"/>
          <p:cNvSpPr/>
          <p:nvPr/>
        </p:nvSpPr>
        <p:spPr>
          <a:xfrm>
            <a:off x="822960" y="1737360"/>
            <a:ext cx="10698480" cy="822960"/>
          </a:xfrm>
          <a:prstGeom prst="rect">
            <a:avLst/>
          </a:prstGeom>
          <a:noFill/>
          <a:ln/>
        </p:spPr>
        <p:txBody>
          <a:bodyPr wrap="square" rtlCol="0" anchor="ctr"/>
          <a:lstStyle/>
          <a:p>
            <a:pPr marL="0" indent="0" algn="ctr">
              <a:buNone/>
            </a:pPr>
            <a:r>
              <a:rPr lang="en-US" sz="1600" b="1" dirty="0">
                <a:solidFill>
                  <a:srgbClr val="FFFFFF"/>
                </a:solidFill>
                <a:latin typeface="Oswald" pitchFamily="34" charset="0"/>
                <a:ea typeface="Oswald" pitchFamily="34" charset="-122"/>
                <a:cs typeface="Oswald" pitchFamily="34" charset="-120"/>
              </a:rPr>
              <a:t>RECEPTION IN 3   </a:t>
            </a:r>
            <a:r>
              <a:rPr lang="en-US" sz="1600" dirty="0">
                <a:solidFill>
                  <a:srgbClr val="EEF1F6"/>
                </a:solidFill>
                <a:latin typeface="Barlow" pitchFamily="34" charset="0"/>
                <a:ea typeface="Barlow" pitchFamily="34" charset="-122"/>
                <a:cs typeface="Barlow" pitchFamily="34" charset="-120"/>
              </a:rPr>
              <a:t>— four attacking options, two hitters per half court</a:t>
            </a:r>
            <a:endParaRPr lang="en-US" sz="1600" dirty="0"/>
          </a:p>
        </p:txBody>
      </p:sp>
      <p:sp>
        <p:nvSpPr>
          <p:cNvPr id="14" name="Shape 12"/>
          <p:cNvSpPr/>
          <p:nvPr/>
        </p:nvSpPr>
        <p:spPr>
          <a:xfrm>
            <a:off x="594360" y="2788920"/>
            <a:ext cx="3566160" cy="502920"/>
          </a:xfrm>
          <a:prstGeom prst="roundRect">
            <a:avLst>
              <a:gd name="adj" fmla="val 10909"/>
            </a:avLst>
          </a:prstGeom>
          <a:solidFill>
            <a:srgbClr val="202A52"/>
          </a:solidFill>
          <a:ln w="9525">
            <a:solidFill>
              <a:srgbClr val="FCB758"/>
            </a:solidFill>
            <a:prstDash val="solid"/>
          </a:ln>
        </p:spPr>
        <p:txBody>
          <a:bodyPr/>
          <a:lstStyle/>
          <a:p>
            <a:endParaRPr lang="es-AR"/>
          </a:p>
        </p:txBody>
      </p:sp>
      <p:sp>
        <p:nvSpPr>
          <p:cNvPr id="15" name="Text 13"/>
          <p:cNvSpPr/>
          <p:nvPr/>
        </p:nvSpPr>
        <p:spPr>
          <a:xfrm>
            <a:off x="594360" y="2788920"/>
            <a:ext cx="3566160" cy="502920"/>
          </a:xfrm>
          <a:prstGeom prst="rect">
            <a:avLst/>
          </a:prstGeom>
          <a:noFill/>
          <a:ln/>
        </p:spPr>
        <p:txBody>
          <a:bodyPr wrap="square" rtlCol="0" anchor="ctr"/>
          <a:lstStyle/>
          <a:p>
            <a:pPr marL="0" indent="0" algn="ctr">
              <a:buNone/>
            </a:pPr>
            <a:r>
              <a:rPr lang="en-US" sz="1400" b="1" kern="0" spc="100" dirty="0">
                <a:solidFill>
                  <a:srgbClr val="FFFFFF"/>
                </a:solidFill>
                <a:latin typeface="Barlow Condensed" pitchFamily="34" charset="0"/>
                <a:ea typeface="Barlow Condensed" pitchFamily="34" charset="-122"/>
                <a:cs typeface="Barlow Condensed" pitchFamily="34" charset="-120"/>
              </a:rPr>
              <a:t>Middle close · Pipe behind</a:t>
            </a:r>
            <a:endParaRPr lang="en-US" sz="1400" dirty="0"/>
          </a:p>
        </p:txBody>
      </p:sp>
      <p:sp>
        <p:nvSpPr>
          <p:cNvPr id="16" name="Shape 14"/>
          <p:cNvSpPr/>
          <p:nvPr/>
        </p:nvSpPr>
        <p:spPr>
          <a:xfrm>
            <a:off x="594360" y="3429000"/>
            <a:ext cx="3566160" cy="2880360"/>
          </a:xfrm>
          <a:prstGeom prst="roundRect">
            <a:avLst>
              <a:gd name="adj" fmla="val 1905"/>
            </a:avLst>
          </a:prstGeom>
          <a:solidFill>
            <a:srgbClr val="161D3A"/>
          </a:solidFill>
          <a:ln w="15875">
            <a:solidFill>
              <a:srgbClr val="FCB758"/>
            </a:solidFill>
            <a:prstDash val="dash"/>
          </a:ln>
        </p:spPr>
        <p:txBody>
          <a:bodyPr/>
          <a:lstStyle/>
          <a:p>
            <a:endParaRPr lang="es-AR"/>
          </a:p>
        </p:txBody>
      </p:sp>
      <p:sp>
        <p:nvSpPr>
          <p:cNvPr id="17" name="Text 15"/>
          <p:cNvSpPr/>
          <p:nvPr/>
        </p:nvSpPr>
        <p:spPr>
          <a:xfrm>
            <a:off x="594360" y="4366260"/>
            <a:ext cx="35661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18" name="Text 16"/>
          <p:cNvSpPr/>
          <p:nvPr/>
        </p:nvSpPr>
        <p:spPr>
          <a:xfrm>
            <a:off x="594360" y="4869180"/>
            <a:ext cx="35661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a:t>
            </a:r>
            <a:endParaRPr lang="en-US" sz="1300" dirty="0"/>
          </a:p>
        </p:txBody>
      </p:sp>
      <p:sp>
        <p:nvSpPr>
          <p:cNvPr id="19" name="Shape 17"/>
          <p:cNvSpPr/>
          <p:nvPr/>
        </p:nvSpPr>
        <p:spPr>
          <a:xfrm>
            <a:off x="4343400" y="2788920"/>
            <a:ext cx="3566160" cy="502920"/>
          </a:xfrm>
          <a:prstGeom prst="roundRect">
            <a:avLst>
              <a:gd name="adj" fmla="val 10909"/>
            </a:avLst>
          </a:prstGeom>
          <a:solidFill>
            <a:srgbClr val="202A52"/>
          </a:solidFill>
          <a:ln w="9525">
            <a:solidFill>
              <a:srgbClr val="FCB758"/>
            </a:solidFill>
            <a:prstDash val="solid"/>
          </a:ln>
        </p:spPr>
        <p:txBody>
          <a:bodyPr/>
          <a:lstStyle/>
          <a:p>
            <a:endParaRPr lang="es-AR"/>
          </a:p>
        </p:txBody>
      </p:sp>
      <p:sp>
        <p:nvSpPr>
          <p:cNvPr id="20" name="Text 18"/>
          <p:cNvSpPr/>
          <p:nvPr/>
        </p:nvSpPr>
        <p:spPr>
          <a:xfrm>
            <a:off x="4343400" y="2788920"/>
            <a:ext cx="3566160" cy="502920"/>
          </a:xfrm>
          <a:prstGeom prst="rect">
            <a:avLst/>
          </a:prstGeom>
          <a:noFill/>
          <a:ln/>
        </p:spPr>
        <p:txBody>
          <a:bodyPr wrap="square" rtlCol="0" anchor="ctr"/>
          <a:lstStyle/>
          <a:p>
            <a:pPr marL="0" indent="0" algn="ctr">
              <a:buNone/>
            </a:pPr>
            <a:r>
              <a:rPr lang="en-US" sz="1400" b="1" kern="0" spc="100" dirty="0">
                <a:solidFill>
                  <a:srgbClr val="FFFFFF"/>
                </a:solidFill>
                <a:latin typeface="Barlow Condensed" pitchFamily="34" charset="0"/>
                <a:ea typeface="Barlow Condensed" pitchFamily="34" charset="-122"/>
                <a:cs typeface="Barlow Condensed" pitchFamily="34" charset="-120"/>
              </a:rPr>
              <a:t>Middle shoot · Pipe behind</a:t>
            </a:r>
            <a:endParaRPr lang="en-US" sz="1400" dirty="0"/>
          </a:p>
        </p:txBody>
      </p:sp>
      <p:sp>
        <p:nvSpPr>
          <p:cNvPr id="21" name="Shape 19"/>
          <p:cNvSpPr/>
          <p:nvPr/>
        </p:nvSpPr>
        <p:spPr>
          <a:xfrm>
            <a:off x="4343400" y="3429000"/>
            <a:ext cx="3566160" cy="2880360"/>
          </a:xfrm>
          <a:prstGeom prst="roundRect">
            <a:avLst>
              <a:gd name="adj" fmla="val 1905"/>
            </a:avLst>
          </a:prstGeom>
          <a:solidFill>
            <a:srgbClr val="161D3A"/>
          </a:solidFill>
          <a:ln w="15875">
            <a:solidFill>
              <a:srgbClr val="FCB758"/>
            </a:solidFill>
            <a:prstDash val="dash"/>
          </a:ln>
        </p:spPr>
        <p:txBody>
          <a:bodyPr/>
          <a:lstStyle/>
          <a:p>
            <a:endParaRPr lang="es-AR"/>
          </a:p>
        </p:txBody>
      </p:sp>
      <p:sp>
        <p:nvSpPr>
          <p:cNvPr id="22" name="Text 20"/>
          <p:cNvSpPr/>
          <p:nvPr/>
        </p:nvSpPr>
        <p:spPr>
          <a:xfrm>
            <a:off x="4343400" y="4366260"/>
            <a:ext cx="35661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3" name="Text 21"/>
          <p:cNvSpPr/>
          <p:nvPr/>
        </p:nvSpPr>
        <p:spPr>
          <a:xfrm>
            <a:off x="4343400" y="4869180"/>
            <a:ext cx="35661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a:t>
            </a:r>
            <a:endParaRPr lang="en-US" sz="1300" dirty="0"/>
          </a:p>
        </p:txBody>
      </p:sp>
      <p:sp>
        <p:nvSpPr>
          <p:cNvPr id="24" name="Shape 22"/>
          <p:cNvSpPr/>
          <p:nvPr/>
        </p:nvSpPr>
        <p:spPr>
          <a:xfrm>
            <a:off x="8092440" y="2788920"/>
            <a:ext cx="3566160" cy="502920"/>
          </a:xfrm>
          <a:prstGeom prst="roundRect">
            <a:avLst>
              <a:gd name="adj" fmla="val 10909"/>
            </a:avLst>
          </a:prstGeom>
          <a:solidFill>
            <a:srgbClr val="202A52"/>
          </a:solidFill>
          <a:ln w="9525">
            <a:solidFill>
              <a:srgbClr val="FCB758"/>
            </a:solidFill>
            <a:prstDash val="solid"/>
          </a:ln>
        </p:spPr>
        <p:txBody>
          <a:bodyPr/>
          <a:lstStyle/>
          <a:p>
            <a:endParaRPr lang="es-AR"/>
          </a:p>
        </p:txBody>
      </p:sp>
      <p:sp>
        <p:nvSpPr>
          <p:cNvPr id="25" name="Text 23"/>
          <p:cNvSpPr/>
          <p:nvPr/>
        </p:nvSpPr>
        <p:spPr>
          <a:xfrm>
            <a:off x="8092440" y="2788920"/>
            <a:ext cx="3566160" cy="502920"/>
          </a:xfrm>
          <a:prstGeom prst="rect">
            <a:avLst/>
          </a:prstGeom>
          <a:noFill/>
          <a:ln/>
        </p:spPr>
        <p:txBody>
          <a:bodyPr wrap="square" rtlCol="0" anchor="ctr"/>
          <a:lstStyle/>
          <a:p>
            <a:pPr marL="0" indent="0" algn="ctr">
              <a:buNone/>
            </a:pPr>
            <a:r>
              <a:rPr lang="en-US" sz="1400" b="1" kern="0" spc="100" dirty="0">
                <a:solidFill>
                  <a:srgbClr val="FFFFFF"/>
                </a:solidFill>
                <a:latin typeface="Barlow Condensed" pitchFamily="34" charset="0"/>
                <a:ea typeface="Barlow Condensed" pitchFamily="34" charset="-122"/>
                <a:cs typeface="Barlow Condensed" pitchFamily="34" charset="-120"/>
              </a:rPr>
              <a:t>Middle behind · Pipe close</a:t>
            </a:r>
            <a:endParaRPr lang="en-US" sz="1400" dirty="0"/>
          </a:p>
        </p:txBody>
      </p:sp>
      <p:sp>
        <p:nvSpPr>
          <p:cNvPr id="26" name="Shape 24"/>
          <p:cNvSpPr/>
          <p:nvPr/>
        </p:nvSpPr>
        <p:spPr>
          <a:xfrm>
            <a:off x="8092440" y="3429000"/>
            <a:ext cx="3566160" cy="2880360"/>
          </a:xfrm>
          <a:prstGeom prst="roundRect">
            <a:avLst>
              <a:gd name="adj" fmla="val 1905"/>
            </a:avLst>
          </a:prstGeom>
          <a:solidFill>
            <a:srgbClr val="161D3A"/>
          </a:solidFill>
          <a:ln w="15875">
            <a:solidFill>
              <a:srgbClr val="FCB758"/>
            </a:solidFill>
            <a:prstDash val="dash"/>
          </a:ln>
        </p:spPr>
        <p:txBody>
          <a:bodyPr/>
          <a:lstStyle/>
          <a:p>
            <a:endParaRPr lang="es-AR"/>
          </a:p>
        </p:txBody>
      </p:sp>
      <p:sp>
        <p:nvSpPr>
          <p:cNvPr id="27" name="Text 25"/>
          <p:cNvSpPr/>
          <p:nvPr/>
        </p:nvSpPr>
        <p:spPr>
          <a:xfrm>
            <a:off x="8092440" y="4366260"/>
            <a:ext cx="35661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8" name="Text 26"/>
          <p:cNvSpPr/>
          <p:nvPr/>
        </p:nvSpPr>
        <p:spPr>
          <a:xfrm>
            <a:off x="8092440" y="4869180"/>
            <a:ext cx="35661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a:t>
            </a:r>
            <a:endParaRPr lang="en-US" sz="1300" dirty="0"/>
          </a:p>
        </p:txBody>
      </p:sp>
      <p:sp>
        <p:nvSpPr>
          <p:cNvPr id="29" name="Shape 27"/>
          <p:cNvSpPr/>
          <p:nvPr/>
        </p:nvSpPr>
        <p:spPr>
          <a:xfrm>
            <a:off x="0" y="6620256"/>
            <a:ext cx="12161520" cy="54864"/>
          </a:xfrm>
          <a:prstGeom prst="rect">
            <a:avLst/>
          </a:prstGeom>
          <a:solidFill>
            <a:srgbClr val="161D3A"/>
          </a:solidFill>
          <a:ln/>
        </p:spPr>
        <p:txBody>
          <a:bodyPr/>
          <a:lstStyle/>
          <a:p>
            <a:endParaRPr lang="es-AR"/>
          </a:p>
        </p:txBody>
      </p:sp>
      <p:sp>
        <p:nvSpPr>
          <p:cNvPr id="30" name="Text 28"/>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31" name="Text 29"/>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06</a:t>
            </a:r>
            <a:endParaRPr lang="en-US" sz="1300" dirty="0"/>
          </a:p>
        </p:txBody>
      </p:sp>
      <p:pic>
        <p:nvPicPr>
          <p:cNvPr id="33" name="Imagen 32">
            <a:extLst>
              <a:ext uri="{FF2B5EF4-FFF2-40B4-BE49-F238E27FC236}">
                <a16:creationId xmlns:a16="http://schemas.microsoft.com/office/drawing/2014/main" id="{7EE6572A-B263-232A-0CA8-E199B5EBA72C}"/>
              </a:ext>
            </a:extLst>
          </p:cNvPr>
          <p:cNvPicPr>
            <a:picLocks noChangeAspect="1"/>
          </p:cNvPicPr>
          <p:nvPr/>
        </p:nvPicPr>
        <p:blipFill>
          <a:blip r:embed="rId3"/>
          <a:stretch>
            <a:fillRect/>
          </a:stretch>
        </p:blipFill>
        <p:spPr>
          <a:xfrm>
            <a:off x="8125392" y="3465576"/>
            <a:ext cx="3505199" cy="2823675"/>
          </a:xfrm>
          <a:prstGeom prst="rect">
            <a:avLst/>
          </a:prstGeom>
          <a:ln>
            <a:noFill/>
          </a:ln>
          <a:effectLst>
            <a:softEdge rad="112500"/>
          </a:effectLst>
        </p:spPr>
      </p:pic>
      <p:pic>
        <p:nvPicPr>
          <p:cNvPr id="35" name="Imagen 34">
            <a:extLst>
              <a:ext uri="{FF2B5EF4-FFF2-40B4-BE49-F238E27FC236}">
                <a16:creationId xmlns:a16="http://schemas.microsoft.com/office/drawing/2014/main" id="{6B8DD529-8740-0932-8D2D-58AC861C2258}"/>
              </a:ext>
            </a:extLst>
          </p:cNvPr>
          <p:cNvPicPr>
            <a:picLocks noChangeAspect="1"/>
          </p:cNvPicPr>
          <p:nvPr/>
        </p:nvPicPr>
        <p:blipFill>
          <a:blip r:embed="rId4"/>
          <a:stretch>
            <a:fillRect/>
          </a:stretch>
        </p:blipFill>
        <p:spPr>
          <a:xfrm>
            <a:off x="4388646" y="3465576"/>
            <a:ext cx="3475194" cy="2823675"/>
          </a:xfrm>
          <a:prstGeom prst="rect">
            <a:avLst/>
          </a:prstGeom>
          <a:ln>
            <a:noFill/>
          </a:ln>
          <a:effectLst>
            <a:softEdge rad="112500"/>
          </a:effectLst>
        </p:spPr>
      </p:pic>
      <p:pic>
        <p:nvPicPr>
          <p:cNvPr id="37" name="Imagen 36">
            <a:extLst>
              <a:ext uri="{FF2B5EF4-FFF2-40B4-BE49-F238E27FC236}">
                <a16:creationId xmlns:a16="http://schemas.microsoft.com/office/drawing/2014/main" id="{8B17E8E0-393D-589F-4DF5-AB2F914B35EB}"/>
              </a:ext>
            </a:extLst>
          </p:cNvPr>
          <p:cNvPicPr>
            <a:picLocks noChangeAspect="1"/>
          </p:cNvPicPr>
          <p:nvPr/>
        </p:nvPicPr>
        <p:blipFill>
          <a:blip r:embed="rId5"/>
          <a:stretch>
            <a:fillRect/>
          </a:stretch>
        </p:blipFill>
        <p:spPr>
          <a:xfrm>
            <a:off x="654845" y="3394426"/>
            <a:ext cx="3505675" cy="2894397"/>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226"/>
        </a:solidFill>
        <a:effectLst/>
      </p:bgPr>
    </p:bg>
    <p:spTree>
      <p:nvGrpSpPr>
        <p:cNvPr id="1" name=""/>
        <p:cNvGrpSpPr/>
        <p:nvPr/>
      </p:nvGrpSpPr>
      <p:grpSpPr>
        <a:xfrm>
          <a:off x="0" y="0"/>
          <a:ext cx="0" cy="0"/>
          <a:chOff x="0" y="0"/>
          <a:chExt cx="0" cy="0"/>
        </a:xfrm>
      </p:grpSpPr>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03</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OUT-OF-PERFECT ATTACK</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Offensive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37360"/>
            <a:ext cx="7086600" cy="822960"/>
          </a:xfrm>
          <a:prstGeom prst="roundRect">
            <a:avLst>
              <a:gd name="adj" fmla="val 7778"/>
            </a:avLst>
          </a:prstGeom>
          <a:solidFill>
            <a:srgbClr val="161D3A"/>
          </a:solidFill>
          <a:ln w="12700">
            <a:solidFill>
              <a:srgbClr val="202A52"/>
            </a:solidFill>
            <a:prstDash val="solid"/>
          </a:ln>
        </p:spPr>
        <p:txBody>
          <a:bodyPr/>
          <a:lstStyle/>
          <a:p>
            <a:pPr algn="ctr"/>
            <a:endParaRPr lang="es-AR" dirty="0"/>
          </a:p>
        </p:txBody>
      </p:sp>
      <p:sp>
        <p:nvSpPr>
          <p:cNvPr id="12" name="Shape 10"/>
          <p:cNvSpPr/>
          <p:nvPr/>
        </p:nvSpPr>
        <p:spPr>
          <a:xfrm>
            <a:off x="594360" y="1737360"/>
            <a:ext cx="7086600" cy="82296"/>
          </a:xfrm>
          <a:prstGeom prst="rect">
            <a:avLst/>
          </a:prstGeom>
          <a:solidFill>
            <a:srgbClr val="FCB758"/>
          </a:solidFill>
          <a:ln/>
        </p:spPr>
        <p:txBody>
          <a:bodyPr/>
          <a:lstStyle/>
          <a:p>
            <a:endParaRPr lang="es-AR"/>
          </a:p>
        </p:txBody>
      </p:sp>
      <p:sp>
        <p:nvSpPr>
          <p:cNvPr id="13" name="Text 11"/>
          <p:cNvSpPr/>
          <p:nvPr/>
        </p:nvSpPr>
        <p:spPr>
          <a:xfrm>
            <a:off x="822960" y="1737360"/>
            <a:ext cx="6766560" cy="822960"/>
          </a:xfrm>
          <a:prstGeom prst="rect">
            <a:avLst/>
          </a:prstGeom>
          <a:noFill/>
          <a:ln/>
        </p:spPr>
        <p:txBody>
          <a:bodyPr wrap="square"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RECEPTION 2-3   </a:t>
            </a:r>
            <a:r>
              <a:rPr lang="en-US" sz="1500" dirty="0">
                <a:solidFill>
                  <a:srgbClr val="EEF1F6"/>
                </a:solidFill>
                <a:latin typeface="Barlow" pitchFamily="34" charset="0"/>
                <a:ea typeface="Barlow" pitchFamily="34" charset="-122"/>
                <a:cs typeface="Barlow" pitchFamily="34" charset="-120"/>
              </a:rPr>
              <a:t>— 4 options, 2 hitters/half</a:t>
            </a:r>
            <a:endParaRPr lang="en-US" sz="1500" dirty="0"/>
          </a:p>
        </p:txBody>
      </p:sp>
      <p:sp>
        <p:nvSpPr>
          <p:cNvPr id="14" name="Shape 12"/>
          <p:cNvSpPr/>
          <p:nvPr/>
        </p:nvSpPr>
        <p:spPr>
          <a:xfrm>
            <a:off x="7818120" y="1737360"/>
            <a:ext cx="3886200" cy="822960"/>
          </a:xfrm>
          <a:prstGeom prst="roundRect">
            <a:avLst>
              <a:gd name="adj" fmla="val 7778"/>
            </a:avLst>
          </a:prstGeom>
          <a:solidFill>
            <a:srgbClr val="161D3A"/>
          </a:solidFill>
          <a:ln w="12700">
            <a:solidFill>
              <a:srgbClr val="202A52"/>
            </a:solidFill>
            <a:prstDash val="solid"/>
          </a:ln>
        </p:spPr>
        <p:txBody>
          <a:bodyPr/>
          <a:lstStyle/>
          <a:p>
            <a:endParaRPr lang="es-AR"/>
          </a:p>
        </p:txBody>
      </p:sp>
      <p:sp>
        <p:nvSpPr>
          <p:cNvPr id="15" name="Shape 13"/>
          <p:cNvSpPr/>
          <p:nvPr/>
        </p:nvSpPr>
        <p:spPr>
          <a:xfrm>
            <a:off x="7818120" y="1737360"/>
            <a:ext cx="3886200" cy="82296"/>
          </a:xfrm>
          <a:prstGeom prst="rect">
            <a:avLst/>
          </a:prstGeom>
          <a:solidFill>
            <a:srgbClr val="FFD24A"/>
          </a:solidFill>
          <a:ln/>
        </p:spPr>
        <p:txBody>
          <a:bodyPr/>
          <a:lstStyle/>
          <a:p>
            <a:endParaRPr lang="es-AR"/>
          </a:p>
        </p:txBody>
      </p:sp>
      <p:sp>
        <p:nvSpPr>
          <p:cNvPr id="16" name="Text 14"/>
          <p:cNvSpPr/>
          <p:nvPr/>
        </p:nvSpPr>
        <p:spPr>
          <a:xfrm>
            <a:off x="8046720" y="1737360"/>
            <a:ext cx="3566160" cy="822960"/>
          </a:xfrm>
          <a:prstGeom prst="rect">
            <a:avLst/>
          </a:prstGeom>
          <a:noFill/>
          <a:ln/>
        </p:spPr>
        <p:txBody>
          <a:bodyPr wrap="square" rtlCol="0" anchor="ctr"/>
          <a:lstStyle/>
          <a:p>
            <a:pPr marL="0" indent="0" algn="ctr">
              <a:buNone/>
            </a:pPr>
            <a:r>
              <a:rPr lang="en-US" sz="1400" b="1" dirty="0">
                <a:solidFill>
                  <a:srgbClr val="FFFFFF"/>
                </a:solidFill>
                <a:latin typeface="Oswald" pitchFamily="34" charset="0"/>
                <a:ea typeface="Oswald" pitchFamily="34" charset="-122"/>
                <a:cs typeface="Oswald" pitchFamily="34" charset="-120"/>
              </a:rPr>
              <a:t>RECEPTION 3-4   </a:t>
            </a:r>
            <a:r>
              <a:rPr lang="en-US" sz="1400" dirty="0">
                <a:solidFill>
                  <a:srgbClr val="EEF1F6"/>
                </a:solidFill>
                <a:latin typeface="Barlow" pitchFamily="34" charset="0"/>
                <a:ea typeface="Barlow" pitchFamily="34" charset="-122"/>
                <a:cs typeface="Barlow" pitchFamily="34" charset="-120"/>
              </a:rPr>
              <a:t>— 4 options</a:t>
            </a:r>
            <a:endParaRPr lang="en-US" sz="1400" dirty="0"/>
          </a:p>
        </p:txBody>
      </p:sp>
      <p:sp>
        <p:nvSpPr>
          <p:cNvPr id="17" name="Shape 15"/>
          <p:cNvSpPr/>
          <p:nvPr/>
        </p:nvSpPr>
        <p:spPr>
          <a:xfrm>
            <a:off x="594360" y="2788920"/>
            <a:ext cx="3566160" cy="502920"/>
          </a:xfrm>
          <a:prstGeom prst="roundRect">
            <a:avLst>
              <a:gd name="adj" fmla="val 10909"/>
            </a:avLst>
          </a:prstGeom>
          <a:solidFill>
            <a:srgbClr val="202A52"/>
          </a:solidFill>
          <a:ln w="9525">
            <a:solidFill>
              <a:srgbClr val="FCB758"/>
            </a:solidFill>
            <a:prstDash val="solid"/>
          </a:ln>
        </p:spPr>
        <p:txBody>
          <a:bodyPr/>
          <a:lstStyle/>
          <a:p>
            <a:endParaRPr lang="es-AR"/>
          </a:p>
        </p:txBody>
      </p:sp>
      <p:sp>
        <p:nvSpPr>
          <p:cNvPr id="18" name="Text 16"/>
          <p:cNvSpPr/>
          <p:nvPr/>
        </p:nvSpPr>
        <p:spPr>
          <a:xfrm>
            <a:off x="594360" y="2788920"/>
            <a:ext cx="3566160" cy="502920"/>
          </a:xfrm>
          <a:prstGeom prst="rect">
            <a:avLst/>
          </a:prstGeom>
          <a:noFill/>
          <a:ln/>
        </p:spPr>
        <p:txBody>
          <a:bodyPr wrap="square" rtlCol="0" anchor="ctr"/>
          <a:lstStyle/>
          <a:p>
            <a:pPr marL="0" indent="0" algn="ctr">
              <a:buNone/>
            </a:pPr>
            <a:r>
              <a:rPr lang="en-US" sz="1400" b="1" kern="0" spc="100" dirty="0">
                <a:solidFill>
                  <a:srgbClr val="FFFFFF"/>
                </a:solidFill>
                <a:latin typeface="Barlow Condensed" pitchFamily="34" charset="0"/>
                <a:ea typeface="Barlow Condensed" pitchFamily="34" charset="-122"/>
                <a:cs typeface="Barlow Condensed" pitchFamily="34" charset="-120"/>
              </a:rPr>
              <a:t>Middle close · Pipe over</a:t>
            </a:r>
            <a:endParaRPr lang="en-US" sz="1400" dirty="0"/>
          </a:p>
        </p:txBody>
      </p:sp>
      <p:sp>
        <p:nvSpPr>
          <p:cNvPr id="19" name="Shape 17"/>
          <p:cNvSpPr/>
          <p:nvPr/>
        </p:nvSpPr>
        <p:spPr>
          <a:xfrm>
            <a:off x="594360" y="3429000"/>
            <a:ext cx="3566160" cy="2880360"/>
          </a:xfrm>
          <a:prstGeom prst="roundRect">
            <a:avLst>
              <a:gd name="adj" fmla="val 1905"/>
            </a:avLst>
          </a:prstGeom>
          <a:solidFill>
            <a:srgbClr val="161D3A"/>
          </a:solidFill>
          <a:ln w="15875">
            <a:solidFill>
              <a:srgbClr val="FCB758"/>
            </a:solidFill>
            <a:prstDash val="dash"/>
          </a:ln>
        </p:spPr>
        <p:txBody>
          <a:bodyPr/>
          <a:lstStyle/>
          <a:p>
            <a:endParaRPr lang="es-AR"/>
          </a:p>
        </p:txBody>
      </p:sp>
      <p:sp>
        <p:nvSpPr>
          <p:cNvPr id="20" name="Text 18"/>
          <p:cNvSpPr/>
          <p:nvPr/>
        </p:nvSpPr>
        <p:spPr>
          <a:xfrm>
            <a:off x="594360" y="4366260"/>
            <a:ext cx="35661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1" name="Text 19"/>
          <p:cNvSpPr/>
          <p:nvPr/>
        </p:nvSpPr>
        <p:spPr>
          <a:xfrm>
            <a:off x="594360" y="4869180"/>
            <a:ext cx="35661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a:t>
            </a:r>
            <a:endParaRPr lang="en-US" sz="1300" dirty="0"/>
          </a:p>
        </p:txBody>
      </p:sp>
      <p:sp>
        <p:nvSpPr>
          <p:cNvPr id="22" name="Shape 20"/>
          <p:cNvSpPr/>
          <p:nvPr/>
        </p:nvSpPr>
        <p:spPr>
          <a:xfrm>
            <a:off x="4343400" y="2788920"/>
            <a:ext cx="3566160" cy="502920"/>
          </a:xfrm>
          <a:prstGeom prst="roundRect">
            <a:avLst>
              <a:gd name="adj" fmla="val 10909"/>
            </a:avLst>
          </a:prstGeom>
          <a:solidFill>
            <a:srgbClr val="202A52"/>
          </a:solidFill>
          <a:ln w="9525">
            <a:solidFill>
              <a:srgbClr val="FCB758"/>
            </a:solidFill>
            <a:prstDash val="solid"/>
          </a:ln>
        </p:spPr>
        <p:txBody>
          <a:bodyPr/>
          <a:lstStyle/>
          <a:p>
            <a:endParaRPr lang="es-AR"/>
          </a:p>
        </p:txBody>
      </p:sp>
      <p:sp>
        <p:nvSpPr>
          <p:cNvPr id="23" name="Text 21"/>
          <p:cNvSpPr/>
          <p:nvPr/>
        </p:nvSpPr>
        <p:spPr>
          <a:xfrm>
            <a:off x="4343400" y="2788920"/>
            <a:ext cx="3566160" cy="502920"/>
          </a:xfrm>
          <a:prstGeom prst="rect">
            <a:avLst/>
          </a:prstGeom>
          <a:noFill/>
          <a:ln/>
        </p:spPr>
        <p:txBody>
          <a:bodyPr wrap="square" rtlCol="0" anchor="ctr"/>
          <a:lstStyle/>
          <a:p>
            <a:pPr marL="0" indent="0" algn="ctr">
              <a:buNone/>
            </a:pPr>
            <a:r>
              <a:rPr lang="en-US" sz="1400" b="1" kern="0" spc="100" dirty="0">
                <a:solidFill>
                  <a:srgbClr val="FFFFFF"/>
                </a:solidFill>
                <a:latin typeface="Barlow Condensed" pitchFamily="34" charset="0"/>
                <a:ea typeface="Barlow Condensed" pitchFamily="34" charset="-122"/>
                <a:cs typeface="Barlow Condensed" pitchFamily="34" charset="-120"/>
              </a:rPr>
              <a:t>Middle shoot · Pipe close</a:t>
            </a:r>
            <a:endParaRPr lang="en-US" sz="1400" dirty="0"/>
          </a:p>
        </p:txBody>
      </p:sp>
      <p:sp>
        <p:nvSpPr>
          <p:cNvPr id="24" name="Shape 22"/>
          <p:cNvSpPr/>
          <p:nvPr/>
        </p:nvSpPr>
        <p:spPr>
          <a:xfrm>
            <a:off x="4343400" y="3429000"/>
            <a:ext cx="3566160" cy="2880360"/>
          </a:xfrm>
          <a:prstGeom prst="roundRect">
            <a:avLst>
              <a:gd name="adj" fmla="val 1905"/>
            </a:avLst>
          </a:prstGeom>
          <a:solidFill>
            <a:srgbClr val="161D3A"/>
          </a:solidFill>
          <a:ln w="15875">
            <a:solidFill>
              <a:srgbClr val="FCB758"/>
            </a:solidFill>
            <a:prstDash val="dash"/>
          </a:ln>
        </p:spPr>
        <p:txBody>
          <a:bodyPr/>
          <a:lstStyle/>
          <a:p>
            <a:endParaRPr lang="es-AR"/>
          </a:p>
        </p:txBody>
      </p:sp>
      <p:sp>
        <p:nvSpPr>
          <p:cNvPr id="25" name="Text 23"/>
          <p:cNvSpPr/>
          <p:nvPr/>
        </p:nvSpPr>
        <p:spPr>
          <a:xfrm>
            <a:off x="4343400" y="4366260"/>
            <a:ext cx="35661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6" name="Text 24"/>
          <p:cNvSpPr/>
          <p:nvPr/>
        </p:nvSpPr>
        <p:spPr>
          <a:xfrm>
            <a:off x="4343400" y="4869180"/>
            <a:ext cx="35661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a:t>
            </a:r>
            <a:endParaRPr lang="en-US" sz="1300" dirty="0"/>
          </a:p>
        </p:txBody>
      </p:sp>
      <p:sp>
        <p:nvSpPr>
          <p:cNvPr id="27" name="Shape 25"/>
          <p:cNvSpPr/>
          <p:nvPr/>
        </p:nvSpPr>
        <p:spPr>
          <a:xfrm>
            <a:off x="8092440" y="2788920"/>
            <a:ext cx="3566160" cy="502920"/>
          </a:xfrm>
          <a:prstGeom prst="roundRect">
            <a:avLst>
              <a:gd name="adj" fmla="val 10909"/>
            </a:avLst>
          </a:prstGeom>
          <a:solidFill>
            <a:srgbClr val="202A52"/>
          </a:solidFill>
          <a:ln w="9525">
            <a:solidFill>
              <a:srgbClr val="FCB758"/>
            </a:solidFill>
            <a:prstDash val="solid"/>
          </a:ln>
        </p:spPr>
        <p:txBody>
          <a:bodyPr/>
          <a:lstStyle/>
          <a:p>
            <a:endParaRPr lang="es-AR"/>
          </a:p>
        </p:txBody>
      </p:sp>
      <p:sp>
        <p:nvSpPr>
          <p:cNvPr id="28" name="Text 26"/>
          <p:cNvSpPr/>
          <p:nvPr/>
        </p:nvSpPr>
        <p:spPr>
          <a:xfrm>
            <a:off x="8092440" y="2788920"/>
            <a:ext cx="3566160" cy="502920"/>
          </a:xfrm>
          <a:prstGeom prst="rect">
            <a:avLst/>
          </a:prstGeom>
          <a:noFill/>
          <a:ln/>
        </p:spPr>
        <p:txBody>
          <a:bodyPr wrap="square" rtlCol="0" anchor="ctr"/>
          <a:lstStyle/>
          <a:p>
            <a:pPr marL="0" indent="0" algn="ctr">
              <a:buNone/>
            </a:pPr>
            <a:r>
              <a:rPr lang="en-US" sz="1400" b="1" kern="0" spc="100" dirty="0">
                <a:solidFill>
                  <a:srgbClr val="FFFFFF"/>
                </a:solidFill>
                <a:latin typeface="Barlow Condensed" pitchFamily="34" charset="0"/>
                <a:ea typeface="Barlow Condensed" pitchFamily="34" charset="-122"/>
                <a:cs typeface="Barlow Condensed" pitchFamily="34" charset="-120"/>
              </a:rPr>
              <a:t>Middle behind · Pipe behind</a:t>
            </a:r>
            <a:endParaRPr lang="en-US" sz="1400" dirty="0"/>
          </a:p>
        </p:txBody>
      </p:sp>
      <p:sp>
        <p:nvSpPr>
          <p:cNvPr id="29" name="Shape 27"/>
          <p:cNvSpPr/>
          <p:nvPr/>
        </p:nvSpPr>
        <p:spPr>
          <a:xfrm>
            <a:off x="8092440" y="3429000"/>
            <a:ext cx="3566160" cy="2880360"/>
          </a:xfrm>
          <a:prstGeom prst="roundRect">
            <a:avLst>
              <a:gd name="adj" fmla="val 1905"/>
            </a:avLst>
          </a:prstGeom>
          <a:solidFill>
            <a:srgbClr val="161D3A"/>
          </a:solidFill>
          <a:ln w="15875">
            <a:solidFill>
              <a:srgbClr val="FCB758"/>
            </a:solidFill>
            <a:prstDash val="dash"/>
          </a:ln>
        </p:spPr>
        <p:txBody>
          <a:bodyPr/>
          <a:lstStyle/>
          <a:p>
            <a:endParaRPr lang="es-AR"/>
          </a:p>
        </p:txBody>
      </p:sp>
      <p:sp>
        <p:nvSpPr>
          <p:cNvPr id="30" name="Text 28"/>
          <p:cNvSpPr/>
          <p:nvPr/>
        </p:nvSpPr>
        <p:spPr>
          <a:xfrm>
            <a:off x="8092440" y="4366260"/>
            <a:ext cx="35661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31" name="Text 29"/>
          <p:cNvSpPr/>
          <p:nvPr/>
        </p:nvSpPr>
        <p:spPr>
          <a:xfrm>
            <a:off x="8092440" y="4869180"/>
            <a:ext cx="35661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a:t>
            </a:r>
            <a:endParaRPr lang="en-US" sz="1300" dirty="0"/>
          </a:p>
        </p:txBody>
      </p:sp>
      <p:sp>
        <p:nvSpPr>
          <p:cNvPr id="32" name="Shape 30"/>
          <p:cNvSpPr/>
          <p:nvPr/>
        </p:nvSpPr>
        <p:spPr>
          <a:xfrm>
            <a:off x="0" y="6620256"/>
            <a:ext cx="12161520" cy="54864"/>
          </a:xfrm>
          <a:prstGeom prst="rect">
            <a:avLst/>
          </a:prstGeom>
          <a:solidFill>
            <a:srgbClr val="161D3A"/>
          </a:solidFill>
          <a:ln/>
        </p:spPr>
        <p:txBody>
          <a:bodyPr/>
          <a:lstStyle/>
          <a:p>
            <a:endParaRPr lang="es-AR"/>
          </a:p>
        </p:txBody>
      </p:sp>
      <p:sp>
        <p:nvSpPr>
          <p:cNvPr id="33" name="Text 31"/>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34" name="Text 32"/>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07</a:t>
            </a:r>
            <a:endParaRPr lang="en-US" sz="1300" dirty="0"/>
          </a:p>
        </p:txBody>
      </p:sp>
      <p:pic>
        <p:nvPicPr>
          <p:cNvPr id="36" name="Imagen 35">
            <a:extLst>
              <a:ext uri="{FF2B5EF4-FFF2-40B4-BE49-F238E27FC236}">
                <a16:creationId xmlns:a16="http://schemas.microsoft.com/office/drawing/2014/main" id="{FB3A4DEB-4C85-2860-B50F-D307B58CDD30}"/>
              </a:ext>
            </a:extLst>
          </p:cNvPr>
          <p:cNvPicPr>
            <a:picLocks noChangeAspect="1"/>
          </p:cNvPicPr>
          <p:nvPr/>
        </p:nvPicPr>
        <p:blipFill>
          <a:blip r:embed="rId3"/>
          <a:stretch>
            <a:fillRect/>
          </a:stretch>
        </p:blipFill>
        <p:spPr>
          <a:xfrm>
            <a:off x="633486" y="3442716"/>
            <a:ext cx="3474313" cy="2844900"/>
          </a:xfrm>
          <a:prstGeom prst="rect">
            <a:avLst/>
          </a:prstGeom>
        </p:spPr>
      </p:pic>
      <p:pic>
        <p:nvPicPr>
          <p:cNvPr id="38" name="Imagen 37">
            <a:extLst>
              <a:ext uri="{FF2B5EF4-FFF2-40B4-BE49-F238E27FC236}">
                <a16:creationId xmlns:a16="http://schemas.microsoft.com/office/drawing/2014/main" id="{C346B942-CCE5-6AF1-21D4-B8B31E79AFD4}"/>
              </a:ext>
            </a:extLst>
          </p:cNvPr>
          <p:cNvPicPr>
            <a:picLocks noChangeAspect="1"/>
          </p:cNvPicPr>
          <p:nvPr/>
        </p:nvPicPr>
        <p:blipFill>
          <a:blip r:embed="rId4"/>
          <a:stretch>
            <a:fillRect/>
          </a:stretch>
        </p:blipFill>
        <p:spPr>
          <a:xfrm>
            <a:off x="4365165" y="3442716"/>
            <a:ext cx="3498675" cy="2833734"/>
          </a:xfrm>
          <a:prstGeom prst="rect">
            <a:avLst/>
          </a:prstGeom>
        </p:spPr>
      </p:pic>
      <p:pic>
        <p:nvPicPr>
          <p:cNvPr id="40" name="Imagen 39">
            <a:extLst>
              <a:ext uri="{FF2B5EF4-FFF2-40B4-BE49-F238E27FC236}">
                <a16:creationId xmlns:a16="http://schemas.microsoft.com/office/drawing/2014/main" id="{2EEB60A3-5FAA-8890-6B84-3D153DE4E101}"/>
              </a:ext>
            </a:extLst>
          </p:cNvPr>
          <p:cNvPicPr>
            <a:picLocks noChangeAspect="1"/>
          </p:cNvPicPr>
          <p:nvPr/>
        </p:nvPicPr>
        <p:blipFill>
          <a:blip r:embed="rId5"/>
          <a:stretch>
            <a:fillRect/>
          </a:stretch>
        </p:blipFill>
        <p:spPr>
          <a:xfrm>
            <a:off x="8138983" y="3450954"/>
            <a:ext cx="3473138" cy="28420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04</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HOW WE DEFEND</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Defensive System</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777240" y="1920240"/>
            <a:ext cx="118872" cy="118872"/>
          </a:xfrm>
          <a:prstGeom prst="rect">
            <a:avLst/>
          </a:prstGeom>
          <a:solidFill>
            <a:srgbClr val="FB385B"/>
          </a:solidFill>
          <a:ln/>
        </p:spPr>
        <p:txBody>
          <a:bodyPr/>
          <a:lstStyle/>
          <a:p>
            <a:endParaRPr lang="es-AR"/>
          </a:p>
        </p:txBody>
      </p:sp>
      <p:sp>
        <p:nvSpPr>
          <p:cNvPr id="12" name="Text 10"/>
          <p:cNvSpPr/>
          <p:nvPr/>
        </p:nvSpPr>
        <p:spPr>
          <a:xfrm>
            <a:off x="1033272" y="1856232"/>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The block as a tool:</a:t>
            </a:r>
            <a:r>
              <a:rPr lang="en-US" sz="1500" dirty="0">
                <a:solidFill>
                  <a:srgbClr val="EEF1F6"/>
                </a:solidFill>
                <a:latin typeface="Barlow" pitchFamily="34" charset="0"/>
                <a:ea typeface="Barlow" pitchFamily="34" charset="-122"/>
                <a:cs typeface="Barlow" pitchFamily="34" charset="-120"/>
              </a:rPr>
              <a:t> more than a direct kill, we guide the rival attack into the zone where our defenders wait.</a:t>
            </a:r>
            <a:endParaRPr lang="en-US" sz="1500" dirty="0"/>
          </a:p>
        </p:txBody>
      </p:sp>
      <p:sp>
        <p:nvSpPr>
          <p:cNvPr id="13" name="Shape 11"/>
          <p:cNvSpPr/>
          <p:nvPr/>
        </p:nvSpPr>
        <p:spPr>
          <a:xfrm>
            <a:off x="777240" y="2542032"/>
            <a:ext cx="118872" cy="118872"/>
          </a:xfrm>
          <a:prstGeom prst="rect">
            <a:avLst/>
          </a:prstGeom>
          <a:solidFill>
            <a:srgbClr val="FB385B"/>
          </a:solidFill>
          <a:ln/>
        </p:spPr>
        <p:txBody>
          <a:bodyPr/>
          <a:lstStyle/>
          <a:p>
            <a:endParaRPr lang="es-AR"/>
          </a:p>
        </p:txBody>
      </p:sp>
      <p:sp>
        <p:nvSpPr>
          <p:cNvPr id="14" name="Text 12"/>
          <p:cNvSpPr/>
          <p:nvPr/>
        </p:nvSpPr>
        <p:spPr>
          <a:xfrm>
            <a:off x="1033272" y="2478024"/>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System organization:</a:t>
            </a:r>
            <a:r>
              <a:rPr lang="en-US" sz="1500" dirty="0">
                <a:solidFill>
                  <a:srgbClr val="EEF1F6"/>
                </a:solidFill>
                <a:latin typeface="Barlow" pitchFamily="34" charset="0"/>
                <a:ea typeface="Barlow" pitchFamily="34" charset="-122"/>
                <a:cs typeface="Barlow" pitchFamily="34" charset="-120"/>
              </a:rPr>
              <a:t> we defend on pre-set patterns by rotation, rival tendencies and the opposing setter's distribution.</a:t>
            </a:r>
            <a:endParaRPr lang="en-US" sz="1500" dirty="0"/>
          </a:p>
        </p:txBody>
      </p:sp>
      <p:sp>
        <p:nvSpPr>
          <p:cNvPr id="15" name="Shape 13"/>
          <p:cNvSpPr/>
          <p:nvPr/>
        </p:nvSpPr>
        <p:spPr>
          <a:xfrm>
            <a:off x="777240" y="3163824"/>
            <a:ext cx="118872" cy="118872"/>
          </a:xfrm>
          <a:prstGeom prst="rect">
            <a:avLst/>
          </a:prstGeom>
          <a:solidFill>
            <a:srgbClr val="FB385B"/>
          </a:solidFill>
          <a:ln/>
        </p:spPr>
        <p:txBody>
          <a:bodyPr/>
          <a:lstStyle/>
          <a:p>
            <a:endParaRPr lang="es-AR"/>
          </a:p>
        </p:txBody>
      </p:sp>
      <p:sp>
        <p:nvSpPr>
          <p:cNvPr id="16" name="Text 14"/>
          <p:cNvSpPr/>
          <p:nvPr/>
        </p:nvSpPr>
        <p:spPr>
          <a:xfrm>
            <a:off x="1033272" y="3099816"/>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Collective reading:</a:t>
            </a:r>
            <a:r>
              <a:rPr lang="en-US" sz="1500" dirty="0">
                <a:solidFill>
                  <a:srgbClr val="EEF1F6"/>
                </a:solidFill>
                <a:latin typeface="Barlow" pitchFamily="34" charset="0"/>
                <a:ea typeface="Barlow" pitchFamily="34" charset="-122"/>
                <a:cs typeface="Barlow" pitchFamily="34" charset="-120"/>
              </a:rPr>
              <a:t> we trigger the system off the rival pass and move with the opposing set.</a:t>
            </a:r>
            <a:endParaRPr lang="en-US" sz="1500" dirty="0"/>
          </a:p>
        </p:txBody>
      </p:sp>
      <p:sp>
        <p:nvSpPr>
          <p:cNvPr id="17" name="Shape 15"/>
          <p:cNvSpPr/>
          <p:nvPr/>
        </p:nvSpPr>
        <p:spPr>
          <a:xfrm>
            <a:off x="777240" y="3785616"/>
            <a:ext cx="118872" cy="118872"/>
          </a:xfrm>
          <a:prstGeom prst="rect">
            <a:avLst/>
          </a:prstGeom>
          <a:solidFill>
            <a:srgbClr val="FB385B"/>
          </a:solidFill>
          <a:ln/>
        </p:spPr>
        <p:txBody>
          <a:bodyPr/>
          <a:lstStyle/>
          <a:p>
            <a:endParaRPr lang="es-AR"/>
          </a:p>
        </p:txBody>
      </p:sp>
      <p:sp>
        <p:nvSpPr>
          <p:cNvPr id="18" name="Text 16"/>
          <p:cNvSpPr/>
          <p:nvPr/>
        </p:nvSpPr>
        <p:spPr>
          <a:xfrm>
            <a:off x="1033272" y="3721608"/>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Dig-to-attack:</a:t>
            </a:r>
            <a:r>
              <a:rPr lang="en-US" sz="1500" dirty="0">
                <a:solidFill>
                  <a:srgbClr val="EEF1F6"/>
                </a:solidFill>
                <a:latin typeface="Barlow" pitchFamily="34" charset="0"/>
                <a:ea typeface="Barlow" pitchFamily="34" charset="-122"/>
                <a:cs typeface="Barlow" pitchFamily="34" charset="-120"/>
              </a:rPr>
              <a:t> after the dig we look for a fast, orderly transition into real counter-attack options.</a:t>
            </a:r>
            <a:endParaRPr lang="en-US" sz="1500" dirty="0"/>
          </a:p>
        </p:txBody>
      </p:sp>
      <p:sp>
        <p:nvSpPr>
          <p:cNvPr id="19" name="Shape 17"/>
          <p:cNvSpPr/>
          <p:nvPr/>
        </p:nvSpPr>
        <p:spPr>
          <a:xfrm>
            <a:off x="777240" y="4407408"/>
            <a:ext cx="118872" cy="118872"/>
          </a:xfrm>
          <a:prstGeom prst="rect">
            <a:avLst/>
          </a:prstGeom>
          <a:solidFill>
            <a:srgbClr val="FB385B"/>
          </a:solidFill>
          <a:ln/>
        </p:spPr>
        <p:txBody>
          <a:bodyPr/>
          <a:lstStyle/>
          <a:p>
            <a:endParaRPr lang="es-AR"/>
          </a:p>
        </p:txBody>
      </p:sp>
      <p:sp>
        <p:nvSpPr>
          <p:cNvPr id="20" name="Text 18"/>
          <p:cNvSpPr/>
          <p:nvPr/>
        </p:nvSpPr>
        <p:spPr>
          <a:xfrm>
            <a:off x="1033272" y="4343400"/>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Role responsibility:</a:t>
            </a:r>
            <a:r>
              <a:rPr lang="en-US" sz="1500" dirty="0">
                <a:solidFill>
                  <a:srgbClr val="EEF1F6"/>
                </a:solidFill>
                <a:latin typeface="Barlow" pitchFamily="34" charset="0"/>
                <a:ea typeface="Barlow" pitchFamily="34" charset="-122"/>
                <a:cs typeface="Barlow" pitchFamily="34" charset="-120"/>
              </a:rPr>
              <a:t> each player owns their defensive job with discipline, communication and technical precision.</a:t>
            </a:r>
            <a:endParaRPr lang="en-US" sz="1500" dirty="0"/>
          </a:p>
        </p:txBody>
      </p:sp>
      <p:sp>
        <p:nvSpPr>
          <p:cNvPr id="21" name="Shape 19"/>
          <p:cNvSpPr/>
          <p:nvPr/>
        </p:nvSpPr>
        <p:spPr>
          <a:xfrm>
            <a:off x="777240" y="5029200"/>
            <a:ext cx="118872" cy="118872"/>
          </a:xfrm>
          <a:prstGeom prst="rect">
            <a:avLst/>
          </a:prstGeom>
          <a:solidFill>
            <a:srgbClr val="FB385B"/>
          </a:solidFill>
          <a:ln/>
        </p:spPr>
        <p:txBody>
          <a:bodyPr/>
          <a:lstStyle/>
          <a:p>
            <a:endParaRPr lang="es-AR"/>
          </a:p>
        </p:txBody>
      </p:sp>
      <p:sp>
        <p:nvSpPr>
          <p:cNvPr id="22" name="Text 20"/>
          <p:cNvSpPr/>
          <p:nvPr/>
        </p:nvSpPr>
        <p:spPr>
          <a:xfrm>
            <a:off x="1033272" y="4965192"/>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Controlled aggression:</a:t>
            </a:r>
            <a:r>
              <a:rPr lang="en-US" sz="1500" dirty="0">
                <a:solidFill>
                  <a:srgbClr val="EEF1F6"/>
                </a:solidFill>
                <a:latin typeface="Barlow" pitchFamily="34" charset="0"/>
                <a:ea typeface="Barlow" pitchFamily="34" charset="-122"/>
                <a:cs typeface="Barlow" pitchFamily="34" charset="-120"/>
              </a:rPr>
              <a:t> we defend with intent, keeping body balance, controlled rebounds and rally continuity.</a:t>
            </a:r>
            <a:endParaRPr lang="en-US" sz="1500" dirty="0"/>
          </a:p>
        </p:txBody>
      </p:sp>
      <p:sp>
        <p:nvSpPr>
          <p:cNvPr id="23" name="Shape 21"/>
          <p:cNvSpPr/>
          <p:nvPr/>
        </p:nvSpPr>
        <p:spPr>
          <a:xfrm>
            <a:off x="777240" y="5650992"/>
            <a:ext cx="118872" cy="118872"/>
          </a:xfrm>
          <a:prstGeom prst="rect">
            <a:avLst/>
          </a:prstGeom>
          <a:solidFill>
            <a:srgbClr val="FB385B"/>
          </a:solidFill>
          <a:ln/>
        </p:spPr>
        <p:txBody>
          <a:bodyPr/>
          <a:lstStyle/>
          <a:p>
            <a:endParaRPr lang="es-AR"/>
          </a:p>
        </p:txBody>
      </p:sp>
      <p:sp>
        <p:nvSpPr>
          <p:cNvPr id="24" name="Text 22"/>
          <p:cNvSpPr/>
          <p:nvPr/>
        </p:nvSpPr>
        <p:spPr>
          <a:xfrm>
            <a:off x="1033272" y="5586984"/>
            <a:ext cx="10671048" cy="457200"/>
          </a:xfrm>
          <a:prstGeom prst="rect">
            <a:avLst/>
          </a:prstGeom>
          <a:noFill/>
          <a:ln/>
        </p:spPr>
        <p:txBody>
          <a:bodyPr wrap="square" rtlCol="0" anchor="t"/>
          <a:lstStyle/>
          <a:p>
            <a:pPr marL="0" indent="0">
              <a:lnSpc>
                <a:spcPts val="1900"/>
              </a:lnSpc>
              <a:buNone/>
            </a:pPr>
            <a:r>
              <a:rPr lang="en-US" sz="1500" b="1" dirty="0">
                <a:solidFill>
                  <a:srgbClr val="FFFFFF"/>
                </a:solidFill>
                <a:latin typeface="Barlow" pitchFamily="34" charset="0"/>
                <a:ea typeface="Barlow" pitchFamily="34" charset="-122"/>
                <a:cs typeface="Barlow" pitchFamily="34" charset="-120"/>
              </a:rPr>
              <a:t>No ball hits the floor</a:t>
            </a:r>
            <a:r>
              <a:rPr lang="en-US" sz="1500" dirty="0">
                <a:solidFill>
                  <a:srgbClr val="EEF1F6"/>
                </a:solidFill>
                <a:latin typeface="Barlow" pitchFamily="34" charset="0"/>
                <a:ea typeface="Barlow" pitchFamily="34" charset="-122"/>
                <a:cs typeface="Barlow" pitchFamily="34" charset="-120"/>
              </a:rPr>
              <a:t> without our players first going after it.</a:t>
            </a:r>
            <a:endParaRPr lang="en-US" sz="1500" dirty="0"/>
          </a:p>
        </p:txBody>
      </p:sp>
      <p:sp>
        <p:nvSpPr>
          <p:cNvPr id="25" name="Shape 23"/>
          <p:cNvSpPr/>
          <p:nvPr/>
        </p:nvSpPr>
        <p:spPr>
          <a:xfrm>
            <a:off x="0" y="6620256"/>
            <a:ext cx="12161520" cy="54864"/>
          </a:xfrm>
          <a:prstGeom prst="rect">
            <a:avLst/>
          </a:prstGeom>
          <a:solidFill>
            <a:srgbClr val="161D3A"/>
          </a:solidFill>
          <a:ln/>
        </p:spPr>
        <p:txBody>
          <a:bodyPr/>
          <a:lstStyle/>
          <a:p>
            <a:endParaRPr lang="es-AR"/>
          </a:p>
        </p:txBody>
      </p:sp>
      <p:sp>
        <p:nvSpPr>
          <p:cNvPr id="26" name="Text 24"/>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7" name="Text 25"/>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04</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DEFENSIVE POSITIONS</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Defensive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2331720" y="1691640"/>
            <a:ext cx="1828800" cy="384048"/>
          </a:xfrm>
          <a:prstGeom prst="roundRect">
            <a:avLst>
              <a:gd name="adj" fmla="val 11905"/>
            </a:avLst>
          </a:prstGeom>
          <a:solidFill>
            <a:srgbClr val="FFD24A"/>
          </a:solidFill>
          <a:ln/>
        </p:spPr>
        <p:txBody>
          <a:bodyPr/>
          <a:lstStyle/>
          <a:p>
            <a:endParaRPr lang="es-AR"/>
          </a:p>
        </p:txBody>
      </p:sp>
      <p:sp>
        <p:nvSpPr>
          <p:cNvPr id="12" name="Text 10"/>
          <p:cNvSpPr/>
          <p:nvPr/>
        </p:nvSpPr>
        <p:spPr>
          <a:xfrm>
            <a:off x="233172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ea typeface="Barlow Condensed" pitchFamily="34" charset="-122"/>
                <a:cs typeface="Barlow Condensed" pitchFamily="34" charset="-120"/>
              </a:rPr>
              <a:t>QUICK · x4</a:t>
            </a:r>
            <a:endParaRPr lang="en-US" sz="1400" dirty="0"/>
          </a:p>
        </p:txBody>
      </p:sp>
      <p:sp>
        <p:nvSpPr>
          <p:cNvPr id="13" name="Shape 11"/>
          <p:cNvSpPr/>
          <p:nvPr/>
        </p:nvSpPr>
        <p:spPr>
          <a:xfrm>
            <a:off x="8001000" y="1691640"/>
            <a:ext cx="1828800" cy="384048"/>
          </a:xfrm>
          <a:prstGeom prst="roundRect">
            <a:avLst>
              <a:gd name="adj" fmla="val 11905"/>
            </a:avLst>
          </a:prstGeom>
          <a:solidFill>
            <a:srgbClr val="FFD24A"/>
          </a:solidFill>
          <a:ln/>
        </p:spPr>
        <p:txBody>
          <a:bodyPr/>
          <a:lstStyle/>
          <a:p>
            <a:endParaRPr lang="es-AR"/>
          </a:p>
        </p:txBody>
      </p:sp>
      <p:sp>
        <p:nvSpPr>
          <p:cNvPr id="14" name="Text 12"/>
          <p:cNvSpPr/>
          <p:nvPr/>
        </p:nvSpPr>
        <p:spPr>
          <a:xfrm>
            <a:off x="800100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ea typeface="Barlow Condensed" pitchFamily="34" charset="-122"/>
                <a:cs typeface="Barlow Condensed" pitchFamily="34" charset="-120"/>
              </a:rPr>
              <a:t>HIGH · x4</a:t>
            </a:r>
            <a:endParaRPr lang="en-US" sz="1400" dirty="0"/>
          </a:p>
        </p:txBody>
      </p:sp>
      <p:sp>
        <p:nvSpPr>
          <p:cNvPr id="15" name="Shape 13"/>
          <p:cNvSpPr/>
          <p:nvPr/>
        </p:nvSpPr>
        <p:spPr>
          <a:xfrm>
            <a:off x="59436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6" name="Text 14"/>
          <p:cNvSpPr/>
          <p:nvPr/>
        </p:nvSpPr>
        <p:spPr>
          <a:xfrm>
            <a:off x="59436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17" name="Text 15"/>
          <p:cNvSpPr/>
          <p:nvPr/>
        </p:nvSpPr>
        <p:spPr>
          <a:xfrm>
            <a:off x="59436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18" name="Shape 16"/>
          <p:cNvSpPr/>
          <p:nvPr/>
        </p:nvSpPr>
        <p:spPr>
          <a:xfrm>
            <a:off x="626364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9" name="Text 17"/>
          <p:cNvSpPr/>
          <p:nvPr/>
        </p:nvSpPr>
        <p:spPr>
          <a:xfrm>
            <a:off x="626364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0" name="Text 18"/>
          <p:cNvSpPr/>
          <p:nvPr/>
        </p:nvSpPr>
        <p:spPr>
          <a:xfrm>
            <a:off x="626364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21" name="Shape 19"/>
          <p:cNvSpPr/>
          <p:nvPr/>
        </p:nvSpPr>
        <p:spPr>
          <a:xfrm>
            <a:off x="59436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2" name="Shape 20"/>
          <p:cNvSpPr/>
          <p:nvPr/>
        </p:nvSpPr>
        <p:spPr>
          <a:xfrm>
            <a:off x="594360" y="5029200"/>
            <a:ext cx="5394960" cy="82296"/>
          </a:xfrm>
          <a:prstGeom prst="rect">
            <a:avLst/>
          </a:prstGeom>
          <a:solidFill>
            <a:srgbClr val="FB385B"/>
          </a:solidFill>
          <a:ln/>
        </p:spPr>
        <p:txBody>
          <a:bodyPr/>
          <a:lstStyle/>
          <a:p>
            <a:endParaRPr lang="es-AR"/>
          </a:p>
        </p:txBody>
      </p:sp>
      <p:sp>
        <p:nvSpPr>
          <p:cNvPr id="23" name="Text 21"/>
          <p:cNvSpPr/>
          <p:nvPr/>
        </p:nvSpPr>
        <p:spPr>
          <a:xfrm>
            <a:off x="82296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6 — block hole: read &amp; move</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5 — deep cross: facing the hitter</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1 — line: tips &amp; tempo changes</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4 — sharp angle</a:t>
            </a:r>
            <a:endParaRPr lang="en-US" sz="1600" dirty="0"/>
          </a:p>
        </p:txBody>
      </p:sp>
      <p:sp>
        <p:nvSpPr>
          <p:cNvPr id="24" name="Shape 22"/>
          <p:cNvSpPr/>
          <p:nvPr/>
        </p:nvSpPr>
        <p:spPr>
          <a:xfrm>
            <a:off x="626364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5" name="Shape 23"/>
          <p:cNvSpPr/>
          <p:nvPr/>
        </p:nvSpPr>
        <p:spPr>
          <a:xfrm>
            <a:off x="6263640" y="5029200"/>
            <a:ext cx="5394960" cy="82296"/>
          </a:xfrm>
          <a:prstGeom prst="rect">
            <a:avLst/>
          </a:prstGeom>
          <a:solidFill>
            <a:srgbClr val="6D6BE0"/>
          </a:solidFill>
          <a:ln/>
        </p:spPr>
        <p:txBody>
          <a:bodyPr/>
          <a:lstStyle/>
          <a:p>
            <a:endParaRPr lang="es-AR"/>
          </a:p>
        </p:txBody>
      </p:sp>
      <p:sp>
        <p:nvSpPr>
          <p:cNvPr id="26" name="Text 24"/>
          <p:cNvSpPr/>
          <p:nvPr/>
        </p:nvSpPr>
        <p:spPr>
          <a:xfrm>
            <a:off x="649224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6 — double cross (unless exception)</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5 — deep cross: facing the hitter</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1 — line: tips &amp; tempo changes</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4 — sharp angle</a:t>
            </a:r>
            <a:endParaRPr lang="en-US" sz="1600" dirty="0"/>
          </a:p>
        </p:txBody>
      </p:sp>
      <p:sp>
        <p:nvSpPr>
          <p:cNvPr id="27" name="Shape 25"/>
          <p:cNvSpPr/>
          <p:nvPr/>
        </p:nvSpPr>
        <p:spPr>
          <a:xfrm>
            <a:off x="0" y="6620256"/>
            <a:ext cx="12161520" cy="54864"/>
          </a:xfrm>
          <a:prstGeom prst="rect">
            <a:avLst/>
          </a:prstGeom>
          <a:solidFill>
            <a:srgbClr val="161D3A"/>
          </a:solidFill>
          <a:ln/>
        </p:spPr>
        <p:txBody>
          <a:bodyPr/>
          <a:lstStyle/>
          <a:p>
            <a:endParaRPr lang="es-AR"/>
          </a:p>
        </p:txBody>
      </p:sp>
      <p:sp>
        <p:nvSpPr>
          <p:cNvPr id="28" name="Text 26"/>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9" name="Text 27"/>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09</a:t>
            </a:r>
            <a:endParaRPr lang="en-US" sz="1300" dirty="0"/>
          </a:p>
        </p:txBody>
      </p:sp>
      <p:pic>
        <p:nvPicPr>
          <p:cNvPr id="31" name="Imagen 30">
            <a:extLst>
              <a:ext uri="{FF2B5EF4-FFF2-40B4-BE49-F238E27FC236}">
                <a16:creationId xmlns:a16="http://schemas.microsoft.com/office/drawing/2014/main" id="{72074244-196E-457B-5A49-E118BCA091DE}"/>
              </a:ext>
            </a:extLst>
          </p:cNvPr>
          <p:cNvPicPr>
            <a:picLocks noChangeAspect="1"/>
          </p:cNvPicPr>
          <p:nvPr/>
        </p:nvPicPr>
        <p:blipFill>
          <a:blip r:embed="rId3"/>
          <a:stretch>
            <a:fillRect/>
          </a:stretch>
        </p:blipFill>
        <p:spPr>
          <a:xfrm>
            <a:off x="614502" y="2194560"/>
            <a:ext cx="5333217" cy="2674584"/>
          </a:xfrm>
          <a:prstGeom prst="rect">
            <a:avLst/>
          </a:prstGeom>
          <a:ln>
            <a:noFill/>
          </a:ln>
          <a:effectLst>
            <a:softEdge rad="112500"/>
          </a:effectLst>
        </p:spPr>
      </p:pic>
      <p:pic>
        <p:nvPicPr>
          <p:cNvPr id="35" name="Imagen 34">
            <a:extLst>
              <a:ext uri="{FF2B5EF4-FFF2-40B4-BE49-F238E27FC236}">
                <a16:creationId xmlns:a16="http://schemas.microsoft.com/office/drawing/2014/main" id="{1EDB55E0-1BBF-F673-8FEC-0488219D51ED}"/>
              </a:ext>
            </a:extLst>
          </p:cNvPr>
          <p:cNvPicPr>
            <a:picLocks noChangeAspect="1"/>
          </p:cNvPicPr>
          <p:nvPr/>
        </p:nvPicPr>
        <p:blipFill>
          <a:blip r:embed="rId4"/>
          <a:stretch>
            <a:fillRect/>
          </a:stretch>
        </p:blipFill>
        <p:spPr>
          <a:xfrm>
            <a:off x="6210920" y="2175366"/>
            <a:ext cx="5455918" cy="2697480"/>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226"/>
        </a:solidFill>
        <a:effectLst/>
      </p:bgPr>
    </p:bg>
    <p:spTree>
      <p:nvGrpSpPr>
        <p:cNvPr id="1" name=""/>
        <p:cNvGrpSpPr/>
        <p:nvPr/>
      </p:nvGrpSpPr>
      <p:grpSpPr>
        <a:xfrm>
          <a:off x="0" y="0"/>
          <a:ext cx="0" cy="0"/>
          <a:chOff x="0" y="0"/>
          <a:chExt cx="0" cy="0"/>
        </a:xfrm>
      </p:grpSpPr>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04</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DEFENSIVE POSITIONS</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Defensive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2331720" y="1691640"/>
            <a:ext cx="1828800" cy="384048"/>
          </a:xfrm>
          <a:prstGeom prst="roundRect">
            <a:avLst>
              <a:gd name="adj" fmla="val 11905"/>
            </a:avLst>
          </a:prstGeom>
          <a:solidFill>
            <a:srgbClr val="FFD24A"/>
          </a:solidFill>
          <a:ln/>
        </p:spPr>
        <p:txBody>
          <a:bodyPr/>
          <a:lstStyle/>
          <a:p>
            <a:endParaRPr lang="es-AR"/>
          </a:p>
        </p:txBody>
      </p:sp>
      <p:sp>
        <p:nvSpPr>
          <p:cNvPr id="12" name="Text 10"/>
          <p:cNvSpPr/>
          <p:nvPr/>
        </p:nvSpPr>
        <p:spPr>
          <a:xfrm>
            <a:off x="233172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ea typeface="Barlow Condensed" pitchFamily="34" charset="-122"/>
                <a:cs typeface="Barlow Condensed" pitchFamily="34" charset="-120"/>
              </a:rPr>
              <a:t>QUICK · x2</a:t>
            </a:r>
            <a:endParaRPr lang="en-US" sz="1400" dirty="0"/>
          </a:p>
        </p:txBody>
      </p:sp>
      <p:sp>
        <p:nvSpPr>
          <p:cNvPr id="13" name="Shape 11"/>
          <p:cNvSpPr/>
          <p:nvPr/>
        </p:nvSpPr>
        <p:spPr>
          <a:xfrm>
            <a:off x="8001000" y="1691640"/>
            <a:ext cx="1828800" cy="384048"/>
          </a:xfrm>
          <a:prstGeom prst="roundRect">
            <a:avLst>
              <a:gd name="adj" fmla="val 11905"/>
            </a:avLst>
          </a:prstGeom>
          <a:solidFill>
            <a:srgbClr val="FFD24A"/>
          </a:solidFill>
          <a:ln/>
        </p:spPr>
        <p:txBody>
          <a:bodyPr/>
          <a:lstStyle/>
          <a:p>
            <a:endParaRPr lang="es-AR"/>
          </a:p>
        </p:txBody>
      </p:sp>
      <p:sp>
        <p:nvSpPr>
          <p:cNvPr id="14" name="Text 12"/>
          <p:cNvSpPr/>
          <p:nvPr/>
        </p:nvSpPr>
        <p:spPr>
          <a:xfrm>
            <a:off x="800100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ea typeface="Barlow Condensed" pitchFamily="34" charset="-122"/>
                <a:cs typeface="Barlow Condensed" pitchFamily="34" charset="-120"/>
              </a:rPr>
              <a:t>HIGH · x2</a:t>
            </a:r>
            <a:endParaRPr lang="en-US" sz="1400" dirty="0"/>
          </a:p>
        </p:txBody>
      </p:sp>
      <p:sp>
        <p:nvSpPr>
          <p:cNvPr id="15" name="Shape 13"/>
          <p:cNvSpPr/>
          <p:nvPr/>
        </p:nvSpPr>
        <p:spPr>
          <a:xfrm>
            <a:off x="59436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6" name="Text 14"/>
          <p:cNvSpPr/>
          <p:nvPr/>
        </p:nvSpPr>
        <p:spPr>
          <a:xfrm>
            <a:off x="59436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17" name="Text 15"/>
          <p:cNvSpPr/>
          <p:nvPr/>
        </p:nvSpPr>
        <p:spPr>
          <a:xfrm>
            <a:off x="59436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18" name="Shape 16"/>
          <p:cNvSpPr/>
          <p:nvPr/>
        </p:nvSpPr>
        <p:spPr>
          <a:xfrm>
            <a:off x="626364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9" name="Text 17"/>
          <p:cNvSpPr/>
          <p:nvPr/>
        </p:nvSpPr>
        <p:spPr>
          <a:xfrm>
            <a:off x="626364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0" name="Text 18"/>
          <p:cNvSpPr/>
          <p:nvPr/>
        </p:nvSpPr>
        <p:spPr>
          <a:xfrm>
            <a:off x="626364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21" name="Shape 19"/>
          <p:cNvSpPr/>
          <p:nvPr/>
        </p:nvSpPr>
        <p:spPr>
          <a:xfrm>
            <a:off x="59436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2" name="Shape 20"/>
          <p:cNvSpPr/>
          <p:nvPr/>
        </p:nvSpPr>
        <p:spPr>
          <a:xfrm>
            <a:off x="594360" y="5029200"/>
            <a:ext cx="5394960" cy="82296"/>
          </a:xfrm>
          <a:prstGeom prst="rect">
            <a:avLst/>
          </a:prstGeom>
          <a:solidFill>
            <a:srgbClr val="FB385B"/>
          </a:solidFill>
          <a:ln/>
        </p:spPr>
        <p:txBody>
          <a:bodyPr/>
          <a:lstStyle/>
          <a:p>
            <a:endParaRPr lang="es-AR"/>
          </a:p>
        </p:txBody>
      </p:sp>
      <p:sp>
        <p:nvSpPr>
          <p:cNvPr id="23" name="Text 21"/>
          <p:cNvSpPr/>
          <p:nvPr/>
        </p:nvSpPr>
        <p:spPr>
          <a:xfrm>
            <a:off x="82296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6 — block hole: read &amp; move</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1 — deep cross: facing the hitter</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5 — line: tips &amp; tempo changes</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2 — sharp angle</a:t>
            </a:r>
            <a:endParaRPr lang="en-US" sz="1600" dirty="0"/>
          </a:p>
        </p:txBody>
      </p:sp>
      <p:sp>
        <p:nvSpPr>
          <p:cNvPr id="24" name="Shape 22"/>
          <p:cNvSpPr/>
          <p:nvPr/>
        </p:nvSpPr>
        <p:spPr>
          <a:xfrm>
            <a:off x="626364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5" name="Shape 23"/>
          <p:cNvSpPr/>
          <p:nvPr/>
        </p:nvSpPr>
        <p:spPr>
          <a:xfrm>
            <a:off x="6263640" y="5029200"/>
            <a:ext cx="5394960" cy="82296"/>
          </a:xfrm>
          <a:prstGeom prst="rect">
            <a:avLst/>
          </a:prstGeom>
          <a:solidFill>
            <a:srgbClr val="6D6BE0"/>
          </a:solidFill>
          <a:ln/>
        </p:spPr>
        <p:txBody>
          <a:bodyPr/>
          <a:lstStyle/>
          <a:p>
            <a:endParaRPr lang="es-AR"/>
          </a:p>
        </p:txBody>
      </p:sp>
      <p:sp>
        <p:nvSpPr>
          <p:cNvPr id="26" name="Text 24"/>
          <p:cNvSpPr/>
          <p:nvPr/>
        </p:nvSpPr>
        <p:spPr>
          <a:xfrm>
            <a:off x="649224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6 — double cross (unless exception)</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1 — deep cross: facing the hitter</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5 — line: tips &amp; tempo changes</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2 — sharp angle</a:t>
            </a:r>
            <a:endParaRPr lang="en-US" sz="1600" dirty="0"/>
          </a:p>
        </p:txBody>
      </p:sp>
      <p:sp>
        <p:nvSpPr>
          <p:cNvPr id="27" name="Shape 25"/>
          <p:cNvSpPr/>
          <p:nvPr/>
        </p:nvSpPr>
        <p:spPr>
          <a:xfrm>
            <a:off x="0" y="6620256"/>
            <a:ext cx="12161520" cy="54864"/>
          </a:xfrm>
          <a:prstGeom prst="rect">
            <a:avLst/>
          </a:prstGeom>
          <a:solidFill>
            <a:srgbClr val="161D3A"/>
          </a:solidFill>
          <a:ln/>
        </p:spPr>
        <p:txBody>
          <a:bodyPr/>
          <a:lstStyle/>
          <a:p>
            <a:endParaRPr lang="es-AR"/>
          </a:p>
        </p:txBody>
      </p:sp>
      <p:sp>
        <p:nvSpPr>
          <p:cNvPr id="28" name="Text 26"/>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9" name="Text 27"/>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10</a:t>
            </a:r>
            <a:endParaRPr lang="en-US" sz="1300" dirty="0"/>
          </a:p>
        </p:txBody>
      </p:sp>
      <p:pic>
        <p:nvPicPr>
          <p:cNvPr id="31" name="Imagen 30">
            <a:extLst>
              <a:ext uri="{FF2B5EF4-FFF2-40B4-BE49-F238E27FC236}">
                <a16:creationId xmlns:a16="http://schemas.microsoft.com/office/drawing/2014/main" id="{74471362-BEC8-CADB-2E00-272E502D58F3}"/>
              </a:ext>
            </a:extLst>
          </p:cNvPr>
          <p:cNvPicPr>
            <a:picLocks noChangeAspect="1"/>
          </p:cNvPicPr>
          <p:nvPr/>
        </p:nvPicPr>
        <p:blipFill>
          <a:blip r:embed="rId3"/>
          <a:stretch>
            <a:fillRect/>
          </a:stretch>
        </p:blipFill>
        <p:spPr>
          <a:xfrm>
            <a:off x="581508" y="2160660"/>
            <a:ext cx="5394960" cy="2747772"/>
          </a:xfrm>
          <a:prstGeom prst="rect">
            <a:avLst/>
          </a:prstGeom>
          <a:ln>
            <a:noFill/>
          </a:ln>
          <a:effectLst>
            <a:softEdge rad="112500"/>
          </a:effectLst>
        </p:spPr>
      </p:pic>
      <p:pic>
        <p:nvPicPr>
          <p:cNvPr id="32" name="Imagen 31">
            <a:extLst>
              <a:ext uri="{FF2B5EF4-FFF2-40B4-BE49-F238E27FC236}">
                <a16:creationId xmlns:a16="http://schemas.microsoft.com/office/drawing/2014/main" id="{542BA813-4EA5-C65E-65A2-D278CAE9F0F3}"/>
              </a:ext>
            </a:extLst>
          </p:cNvPr>
          <p:cNvPicPr>
            <a:picLocks noChangeAspect="1"/>
          </p:cNvPicPr>
          <p:nvPr/>
        </p:nvPicPr>
        <p:blipFill>
          <a:blip r:embed="rId4"/>
          <a:stretch>
            <a:fillRect/>
          </a:stretch>
        </p:blipFill>
        <p:spPr>
          <a:xfrm>
            <a:off x="6263640" y="2205471"/>
            <a:ext cx="5394960" cy="2658911"/>
          </a:xfrm>
          <a:prstGeom prst="rect">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04</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DEFENSIVE POSITIONS</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Defensive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2331720" y="1691640"/>
            <a:ext cx="1828800" cy="384048"/>
          </a:xfrm>
          <a:prstGeom prst="roundRect">
            <a:avLst>
              <a:gd name="adj" fmla="val 11905"/>
            </a:avLst>
          </a:prstGeom>
          <a:solidFill>
            <a:srgbClr val="FFD24A"/>
          </a:solidFill>
          <a:ln/>
        </p:spPr>
        <p:txBody>
          <a:bodyPr/>
          <a:lstStyle/>
          <a:p>
            <a:endParaRPr lang="es-AR"/>
          </a:p>
        </p:txBody>
      </p:sp>
      <p:sp>
        <p:nvSpPr>
          <p:cNvPr id="12" name="Text 10"/>
          <p:cNvSpPr/>
          <p:nvPr/>
        </p:nvSpPr>
        <p:spPr>
          <a:xfrm>
            <a:off x="233172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ea typeface="Barlow Condensed" pitchFamily="34" charset="-122"/>
                <a:cs typeface="Barlow Condensed" pitchFamily="34" charset="-120"/>
              </a:rPr>
              <a:t>QUICK · x1</a:t>
            </a:r>
            <a:endParaRPr lang="en-US" sz="1400" dirty="0"/>
          </a:p>
        </p:txBody>
      </p:sp>
      <p:sp>
        <p:nvSpPr>
          <p:cNvPr id="13" name="Shape 11"/>
          <p:cNvSpPr/>
          <p:nvPr/>
        </p:nvSpPr>
        <p:spPr>
          <a:xfrm>
            <a:off x="8001000" y="1691640"/>
            <a:ext cx="1828800" cy="384048"/>
          </a:xfrm>
          <a:prstGeom prst="roundRect">
            <a:avLst>
              <a:gd name="adj" fmla="val 11905"/>
            </a:avLst>
          </a:prstGeom>
          <a:solidFill>
            <a:srgbClr val="FFD24A"/>
          </a:solidFill>
          <a:ln/>
        </p:spPr>
        <p:txBody>
          <a:bodyPr/>
          <a:lstStyle/>
          <a:p>
            <a:endParaRPr lang="es-AR"/>
          </a:p>
        </p:txBody>
      </p:sp>
      <p:sp>
        <p:nvSpPr>
          <p:cNvPr id="14" name="Text 12"/>
          <p:cNvSpPr/>
          <p:nvPr/>
        </p:nvSpPr>
        <p:spPr>
          <a:xfrm>
            <a:off x="800100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ea typeface="Barlow Condensed" pitchFamily="34" charset="-122"/>
                <a:cs typeface="Barlow Condensed" pitchFamily="34" charset="-120"/>
              </a:rPr>
              <a:t>HIGH · x1</a:t>
            </a:r>
            <a:endParaRPr lang="en-US" sz="1400" dirty="0"/>
          </a:p>
        </p:txBody>
      </p:sp>
      <p:sp>
        <p:nvSpPr>
          <p:cNvPr id="15" name="Shape 13"/>
          <p:cNvSpPr/>
          <p:nvPr/>
        </p:nvSpPr>
        <p:spPr>
          <a:xfrm>
            <a:off x="59436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6" name="Text 14"/>
          <p:cNvSpPr/>
          <p:nvPr/>
        </p:nvSpPr>
        <p:spPr>
          <a:xfrm>
            <a:off x="59436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17" name="Text 15"/>
          <p:cNvSpPr/>
          <p:nvPr/>
        </p:nvSpPr>
        <p:spPr>
          <a:xfrm>
            <a:off x="59436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18" name="Shape 16"/>
          <p:cNvSpPr/>
          <p:nvPr/>
        </p:nvSpPr>
        <p:spPr>
          <a:xfrm>
            <a:off x="626364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9" name="Text 17"/>
          <p:cNvSpPr/>
          <p:nvPr/>
        </p:nvSpPr>
        <p:spPr>
          <a:xfrm>
            <a:off x="626364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0" name="Text 18"/>
          <p:cNvSpPr/>
          <p:nvPr/>
        </p:nvSpPr>
        <p:spPr>
          <a:xfrm>
            <a:off x="626364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21" name="Shape 19"/>
          <p:cNvSpPr/>
          <p:nvPr/>
        </p:nvSpPr>
        <p:spPr>
          <a:xfrm>
            <a:off x="59436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2" name="Shape 20"/>
          <p:cNvSpPr/>
          <p:nvPr/>
        </p:nvSpPr>
        <p:spPr>
          <a:xfrm>
            <a:off x="594360" y="5029200"/>
            <a:ext cx="5394960" cy="82296"/>
          </a:xfrm>
          <a:prstGeom prst="rect">
            <a:avLst/>
          </a:prstGeom>
          <a:solidFill>
            <a:srgbClr val="FB385B"/>
          </a:solidFill>
          <a:ln/>
        </p:spPr>
        <p:txBody>
          <a:bodyPr/>
          <a:lstStyle/>
          <a:p>
            <a:endParaRPr lang="es-AR"/>
          </a:p>
        </p:txBody>
      </p:sp>
      <p:sp>
        <p:nvSpPr>
          <p:cNvPr id="23" name="Text 21"/>
          <p:cNvSpPr/>
          <p:nvPr/>
        </p:nvSpPr>
        <p:spPr>
          <a:xfrm>
            <a:off x="82296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6 — double line: read &amp; move</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1 — deep angle: facing the hitter</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5 — ball line</a:t>
            </a:r>
            <a:endParaRPr lang="en-US" sz="1600" dirty="0"/>
          </a:p>
          <a:p>
            <a:pPr marL="285750" indent="-285750">
              <a:spcAft>
                <a:spcPts val="300"/>
              </a:spcAft>
              <a:buFont typeface="Arial" panose="020B0604020202020204" pitchFamily="34" charset="0"/>
              <a:buChar char="•"/>
            </a:pPr>
            <a:r>
              <a:rPr lang="en-US" sz="1600" b="1" dirty="0">
                <a:solidFill>
                  <a:srgbClr val="EEF1F6"/>
                </a:solidFill>
                <a:latin typeface="Barlow" pitchFamily="34" charset="0"/>
                <a:ea typeface="Barlow" pitchFamily="34" charset="-122"/>
                <a:cs typeface="Barlow" pitchFamily="34" charset="-120"/>
              </a:rPr>
              <a:t>Pos 2 — tip behind the block</a:t>
            </a:r>
            <a:endParaRPr lang="en-US" sz="1600" dirty="0"/>
          </a:p>
        </p:txBody>
      </p:sp>
      <p:sp>
        <p:nvSpPr>
          <p:cNvPr id="24" name="Shape 22"/>
          <p:cNvSpPr/>
          <p:nvPr/>
        </p:nvSpPr>
        <p:spPr>
          <a:xfrm>
            <a:off x="626364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5" name="Shape 23"/>
          <p:cNvSpPr/>
          <p:nvPr/>
        </p:nvSpPr>
        <p:spPr>
          <a:xfrm>
            <a:off x="6263640" y="5029200"/>
            <a:ext cx="5394960" cy="82296"/>
          </a:xfrm>
          <a:prstGeom prst="rect">
            <a:avLst/>
          </a:prstGeom>
          <a:solidFill>
            <a:srgbClr val="6D6BE0"/>
          </a:solidFill>
          <a:ln/>
        </p:spPr>
        <p:txBody>
          <a:bodyPr/>
          <a:lstStyle/>
          <a:p>
            <a:endParaRPr lang="es-AR"/>
          </a:p>
        </p:txBody>
      </p:sp>
      <p:sp>
        <p:nvSpPr>
          <p:cNvPr id="26" name="Text 24"/>
          <p:cNvSpPr/>
          <p:nvPr/>
        </p:nvSpPr>
        <p:spPr>
          <a:xfrm>
            <a:off x="6492240" y="5138928"/>
            <a:ext cx="5029200" cy="1325880"/>
          </a:xfrm>
          <a:prstGeom prst="rect">
            <a:avLst/>
          </a:prstGeom>
          <a:noFill/>
          <a:ln/>
        </p:spPr>
        <p:txBody>
          <a:bodyPr wrap="square" rtlCol="0" anchor="t"/>
          <a:lstStyle/>
          <a:p>
            <a:pPr marL="0" indent="0">
              <a:spcAft>
                <a:spcPts val="300"/>
              </a:spcAft>
              <a:buNone/>
            </a:pPr>
            <a:r>
              <a:rPr lang="en-US" sz="1600" b="1" dirty="0">
                <a:solidFill>
                  <a:srgbClr val="EEF1F6"/>
                </a:solidFill>
                <a:latin typeface="Barlow" pitchFamily="34" charset="0"/>
                <a:ea typeface="Barlow" pitchFamily="34" charset="-122"/>
                <a:cs typeface="Barlow" pitchFamily="34" charset="-120"/>
              </a:rPr>
              <a:t>Pos 6 — court center (unless exception)</a:t>
            </a:r>
            <a:endParaRPr lang="en-US" sz="1600" dirty="0"/>
          </a:p>
          <a:p>
            <a:pPr marL="0" indent="0">
              <a:spcAft>
                <a:spcPts val="300"/>
              </a:spcAft>
              <a:buNone/>
            </a:pPr>
            <a:r>
              <a:rPr lang="en-US" sz="1600" b="1" dirty="0">
                <a:solidFill>
                  <a:srgbClr val="EEF1F6"/>
                </a:solidFill>
                <a:latin typeface="Barlow" pitchFamily="34" charset="0"/>
                <a:ea typeface="Barlow" pitchFamily="34" charset="-122"/>
                <a:cs typeface="Barlow" pitchFamily="34" charset="-120"/>
              </a:rPr>
              <a:t>Pos 1 — deep angle: facing the hitter</a:t>
            </a:r>
            <a:endParaRPr lang="en-US" sz="1600" dirty="0"/>
          </a:p>
          <a:p>
            <a:pPr marL="0" indent="0">
              <a:spcAft>
                <a:spcPts val="300"/>
              </a:spcAft>
              <a:buNone/>
            </a:pPr>
            <a:r>
              <a:rPr lang="en-US" sz="1600" b="1" dirty="0">
                <a:solidFill>
                  <a:srgbClr val="EEF1F6"/>
                </a:solidFill>
                <a:latin typeface="Barlow" pitchFamily="34" charset="0"/>
                <a:ea typeface="Barlow" pitchFamily="34" charset="-122"/>
                <a:cs typeface="Barlow" pitchFamily="34" charset="-120"/>
              </a:rPr>
              <a:t>Pos 5 — ball line</a:t>
            </a:r>
            <a:endParaRPr lang="en-US" sz="1600" dirty="0"/>
          </a:p>
          <a:p>
            <a:pPr marL="0" indent="0">
              <a:spcAft>
                <a:spcPts val="300"/>
              </a:spcAft>
              <a:buNone/>
            </a:pPr>
            <a:r>
              <a:rPr lang="en-US" sz="1600" b="1" dirty="0">
                <a:solidFill>
                  <a:srgbClr val="EEF1F6"/>
                </a:solidFill>
                <a:latin typeface="Barlow" pitchFamily="34" charset="0"/>
                <a:ea typeface="Barlow" pitchFamily="34" charset="-122"/>
                <a:cs typeface="Barlow" pitchFamily="34" charset="-120"/>
              </a:rPr>
              <a:t>Pos 2 — tip behind the block</a:t>
            </a:r>
            <a:endParaRPr lang="en-US" sz="1600" dirty="0"/>
          </a:p>
        </p:txBody>
      </p:sp>
      <p:sp>
        <p:nvSpPr>
          <p:cNvPr id="27" name="Shape 25"/>
          <p:cNvSpPr/>
          <p:nvPr/>
        </p:nvSpPr>
        <p:spPr>
          <a:xfrm>
            <a:off x="0" y="6620256"/>
            <a:ext cx="12161520" cy="54864"/>
          </a:xfrm>
          <a:prstGeom prst="rect">
            <a:avLst/>
          </a:prstGeom>
          <a:solidFill>
            <a:srgbClr val="161D3A"/>
          </a:solidFill>
          <a:ln/>
        </p:spPr>
        <p:txBody>
          <a:bodyPr/>
          <a:lstStyle/>
          <a:p>
            <a:endParaRPr lang="es-AR"/>
          </a:p>
        </p:txBody>
      </p:sp>
      <p:sp>
        <p:nvSpPr>
          <p:cNvPr id="28" name="Text 26"/>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9" name="Text 27"/>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11</a:t>
            </a:r>
            <a:endParaRPr lang="en-US" sz="1300" dirty="0"/>
          </a:p>
        </p:txBody>
      </p:sp>
      <p:pic>
        <p:nvPicPr>
          <p:cNvPr id="31" name="Imagen 30">
            <a:extLst>
              <a:ext uri="{FF2B5EF4-FFF2-40B4-BE49-F238E27FC236}">
                <a16:creationId xmlns:a16="http://schemas.microsoft.com/office/drawing/2014/main" id="{A75B1E0B-6F55-00DF-DB94-0D4953978FA8}"/>
              </a:ext>
            </a:extLst>
          </p:cNvPr>
          <p:cNvPicPr>
            <a:picLocks noChangeAspect="1"/>
          </p:cNvPicPr>
          <p:nvPr/>
        </p:nvPicPr>
        <p:blipFill>
          <a:blip r:embed="rId3"/>
          <a:stretch>
            <a:fillRect/>
          </a:stretch>
        </p:blipFill>
        <p:spPr>
          <a:xfrm>
            <a:off x="509922" y="2163175"/>
            <a:ext cx="5479398" cy="2728865"/>
          </a:xfrm>
          <a:prstGeom prst="rect">
            <a:avLst/>
          </a:prstGeom>
          <a:ln>
            <a:noFill/>
          </a:ln>
          <a:effectLst>
            <a:softEdge rad="112500"/>
          </a:effectLst>
        </p:spPr>
      </p:pic>
      <p:pic>
        <p:nvPicPr>
          <p:cNvPr id="35" name="Imagen 34">
            <a:extLst>
              <a:ext uri="{FF2B5EF4-FFF2-40B4-BE49-F238E27FC236}">
                <a16:creationId xmlns:a16="http://schemas.microsoft.com/office/drawing/2014/main" id="{07D3F60A-5739-185B-382F-9DC83DBC8B3D}"/>
              </a:ext>
            </a:extLst>
          </p:cNvPr>
          <p:cNvPicPr>
            <a:picLocks noChangeAspect="1"/>
          </p:cNvPicPr>
          <p:nvPr/>
        </p:nvPicPr>
        <p:blipFill>
          <a:blip r:embed="rId4"/>
          <a:stretch>
            <a:fillRect/>
          </a:stretch>
        </p:blipFill>
        <p:spPr>
          <a:xfrm>
            <a:off x="6202682" y="2103121"/>
            <a:ext cx="5455918" cy="2788920"/>
          </a:xfrm>
          <a:prstGeom prst="rect">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04</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DEFENSIVE POSITIONS</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Defensive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2331720" y="1691640"/>
            <a:ext cx="1828800" cy="384048"/>
          </a:xfrm>
          <a:prstGeom prst="roundRect">
            <a:avLst>
              <a:gd name="adj" fmla="val 11905"/>
            </a:avLst>
          </a:prstGeom>
          <a:solidFill>
            <a:srgbClr val="FFD24A"/>
          </a:solidFill>
          <a:ln/>
        </p:spPr>
        <p:txBody>
          <a:bodyPr/>
          <a:lstStyle/>
          <a:p>
            <a:endParaRPr lang="es-AR"/>
          </a:p>
        </p:txBody>
      </p:sp>
      <p:sp>
        <p:nvSpPr>
          <p:cNvPr id="12" name="Text 10"/>
          <p:cNvSpPr/>
          <p:nvPr/>
        </p:nvSpPr>
        <p:spPr>
          <a:xfrm>
            <a:off x="233172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rPr>
              <a:t>CLOSE</a:t>
            </a:r>
            <a:endParaRPr lang="en-US" sz="1400" dirty="0"/>
          </a:p>
        </p:txBody>
      </p:sp>
      <p:sp>
        <p:nvSpPr>
          <p:cNvPr id="13" name="Shape 11"/>
          <p:cNvSpPr/>
          <p:nvPr/>
        </p:nvSpPr>
        <p:spPr>
          <a:xfrm>
            <a:off x="8001000" y="1691640"/>
            <a:ext cx="1828800" cy="384048"/>
          </a:xfrm>
          <a:prstGeom prst="roundRect">
            <a:avLst>
              <a:gd name="adj" fmla="val 11905"/>
            </a:avLst>
          </a:prstGeom>
          <a:solidFill>
            <a:srgbClr val="FFD24A"/>
          </a:solidFill>
          <a:ln/>
        </p:spPr>
        <p:txBody>
          <a:bodyPr/>
          <a:lstStyle/>
          <a:p>
            <a:endParaRPr lang="es-AR"/>
          </a:p>
        </p:txBody>
      </p:sp>
      <p:sp>
        <p:nvSpPr>
          <p:cNvPr id="14" name="Text 12"/>
          <p:cNvSpPr/>
          <p:nvPr/>
        </p:nvSpPr>
        <p:spPr>
          <a:xfrm>
            <a:off x="8001000" y="1691640"/>
            <a:ext cx="1828800" cy="384048"/>
          </a:xfrm>
          <a:prstGeom prst="rect">
            <a:avLst/>
          </a:prstGeom>
          <a:noFill/>
          <a:ln/>
        </p:spPr>
        <p:txBody>
          <a:bodyPr wrap="square" rtlCol="0" anchor="ctr"/>
          <a:lstStyle/>
          <a:p>
            <a:pPr marL="0" indent="0" algn="ctr">
              <a:buNone/>
            </a:pPr>
            <a:r>
              <a:rPr lang="en-US" sz="1400" b="1" kern="0" spc="100" dirty="0">
                <a:solidFill>
                  <a:srgbClr val="080B18"/>
                </a:solidFill>
                <a:latin typeface="Barlow Condensed" pitchFamily="34" charset="0"/>
              </a:rPr>
              <a:t>SHOOT</a:t>
            </a:r>
            <a:endParaRPr lang="en-US" sz="1400" dirty="0"/>
          </a:p>
        </p:txBody>
      </p:sp>
      <p:sp>
        <p:nvSpPr>
          <p:cNvPr id="15" name="Shape 13"/>
          <p:cNvSpPr/>
          <p:nvPr/>
        </p:nvSpPr>
        <p:spPr>
          <a:xfrm>
            <a:off x="59436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6" name="Text 14"/>
          <p:cNvSpPr/>
          <p:nvPr/>
        </p:nvSpPr>
        <p:spPr>
          <a:xfrm>
            <a:off x="59436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17" name="Text 15"/>
          <p:cNvSpPr/>
          <p:nvPr/>
        </p:nvSpPr>
        <p:spPr>
          <a:xfrm>
            <a:off x="59436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18" name="Shape 16"/>
          <p:cNvSpPr/>
          <p:nvPr/>
        </p:nvSpPr>
        <p:spPr>
          <a:xfrm>
            <a:off x="6263640" y="2194560"/>
            <a:ext cx="5394960" cy="2697480"/>
          </a:xfrm>
          <a:prstGeom prst="roundRect">
            <a:avLst>
              <a:gd name="adj" fmla="val 2034"/>
            </a:avLst>
          </a:prstGeom>
          <a:solidFill>
            <a:srgbClr val="161D3A"/>
          </a:solidFill>
          <a:ln w="15875">
            <a:solidFill>
              <a:srgbClr val="FCB758"/>
            </a:solidFill>
            <a:prstDash val="dash"/>
          </a:ln>
        </p:spPr>
        <p:txBody>
          <a:bodyPr/>
          <a:lstStyle/>
          <a:p>
            <a:endParaRPr lang="es-AR"/>
          </a:p>
        </p:txBody>
      </p:sp>
      <p:sp>
        <p:nvSpPr>
          <p:cNvPr id="19" name="Text 17"/>
          <p:cNvSpPr/>
          <p:nvPr/>
        </p:nvSpPr>
        <p:spPr>
          <a:xfrm>
            <a:off x="6263640" y="3040380"/>
            <a:ext cx="5394960" cy="457200"/>
          </a:xfrm>
          <a:prstGeom prst="rect">
            <a:avLst/>
          </a:prstGeom>
          <a:noFill/>
          <a:ln/>
        </p:spPr>
        <p:txBody>
          <a:bodyPr wrap="square" rtlCol="0" anchor="ctr"/>
          <a:lstStyle/>
          <a:p>
            <a:pPr marL="0" indent="0" algn="ctr">
              <a:buNone/>
            </a:pPr>
            <a:r>
              <a:rPr lang="en-US" sz="2600" dirty="0">
                <a:solidFill>
                  <a:srgbClr val="8B97AD"/>
                </a:solidFill>
              </a:rPr>
              <a:t>▣</a:t>
            </a:r>
            <a:endParaRPr lang="en-US" sz="2600" dirty="0"/>
          </a:p>
        </p:txBody>
      </p:sp>
      <p:sp>
        <p:nvSpPr>
          <p:cNvPr id="20" name="Text 18"/>
          <p:cNvSpPr/>
          <p:nvPr/>
        </p:nvSpPr>
        <p:spPr>
          <a:xfrm>
            <a:off x="6263640" y="3543300"/>
            <a:ext cx="5394960" cy="411480"/>
          </a:xfrm>
          <a:prstGeom prst="rect">
            <a:avLst/>
          </a:prstGeom>
          <a:noFill/>
          <a:ln/>
        </p:spPr>
        <p:txBody>
          <a:bodyPr wrap="square" rtlCol="0" anchor="ctr"/>
          <a:lstStyle/>
          <a:p>
            <a:pPr marL="0" indent="0" algn="ctr">
              <a:buNone/>
            </a:pPr>
            <a:r>
              <a:rPr lang="en-US" sz="1300" kern="0" spc="200" dirty="0">
                <a:solidFill>
                  <a:srgbClr val="8B97AD"/>
                </a:solidFill>
                <a:latin typeface="Barlow Condensed" pitchFamily="34" charset="0"/>
                <a:ea typeface="Barlow Condensed" pitchFamily="34" charset="-122"/>
                <a:cs typeface="Barlow Condensed" pitchFamily="34" charset="-120"/>
              </a:rPr>
              <a:t>COURT IMAGE — replace</a:t>
            </a:r>
            <a:endParaRPr lang="en-US" sz="1300" dirty="0"/>
          </a:p>
        </p:txBody>
      </p:sp>
      <p:sp>
        <p:nvSpPr>
          <p:cNvPr id="21" name="Shape 19"/>
          <p:cNvSpPr/>
          <p:nvPr/>
        </p:nvSpPr>
        <p:spPr>
          <a:xfrm>
            <a:off x="59436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2" name="Shape 20"/>
          <p:cNvSpPr/>
          <p:nvPr/>
        </p:nvSpPr>
        <p:spPr>
          <a:xfrm>
            <a:off x="594360" y="5029200"/>
            <a:ext cx="5394960" cy="82296"/>
          </a:xfrm>
          <a:prstGeom prst="rect">
            <a:avLst/>
          </a:prstGeom>
          <a:solidFill>
            <a:srgbClr val="FB385B"/>
          </a:solidFill>
          <a:ln/>
        </p:spPr>
        <p:txBody>
          <a:bodyPr/>
          <a:lstStyle/>
          <a:p>
            <a:endParaRPr lang="es-AR"/>
          </a:p>
        </p:txBody>
      </p:sp>
      <p:sp>
        <p:nvSpPr>
          <p:cNvPr id="23" name="Text 21"/>
          <p:cNvSpPr/>
          <p:nvPr/>
        </p:nvSpPr>
        <p:spPr>
          <a:xfrm>
            <a:off x="82296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5 — facing the middle</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6 — shift left (6-5)</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1 — outside the block</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4 — help (if possible)</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Leave the lines — defend deep &amp; tight</a:t>
            </a:r>
            <a:endParaRPr lang="en-US" sz="1400" dirty="0"/>
          </a:p>
        </p:txBody>
      </p:sp>
      <p:sp>
        <p:nvSpPr>
          <p:cNvPr id="24" name="Shape 22"/>
          <p:cNvSpPr/>
          <p:nvPr/>
        </p:nvSpPr>
        <p:spPr>
          <a:xfrm>
            <a:off x="6263640" y="5029200"/>
            <a:ext cx="5394960" cy="1508760"/>
          </a:xfrm>
          <a:prstGeom prst="roundRect">
            <a:avLst>
              <a:gd name="adj" fmla="val 4242"/>
            </a:avLst>
          </a:prstGeom>
          <a:solidFill>
            <a:srgbClr val="161D3A"/>
          </a:solidFill>
          <a:ln w="12700">
            <a:solidFill>
              <a:srgbClr val="202A52"/>
            </a:solidFill>
            <a:prstDash val="solid"/>
          </a:ln>
        </p:spPr>
        <p:txBody>
          <a:bodyPr/>
          <a:lstStyle/>
          <a:p>
            <a:endParaRPr lang="es-AR"/>
          </a:p>
        </p:txBody>
      </p:sp>
      <p:sp>
        <p:nvSpPr>
          <p:cNvPr id="25" name="Shape 23"/>
          <p:cNvSpPr/>
          <p:nvPr/>
        </p:nvSpPr>
        <p:spPr>
          <a:xfrm>
            <a:off x="6263640" y="5029200"/>
            <a:ext cx="5394960" cy="82296"/>
          </a:xfrm>
          <a:prstGeom prst="rect">
            <a:avLst/>
          </a:prstGeom>
          <a:solidFill>
            <a:srgbClr val="6D6BE0"/>
          </a:solidFill>
          <a:ln/>
        </p:spPr>
        <p:txBody>
          <a:bodyPr/>
          <a:lstStyle/>
          <a:p>
            <a:endParaRPr lang="es-AR"/>
          </a:p>
        </p:txBody>
      </p:sp>
      <p:sp>
        <p:nvSpPr>
          <p:cNvPr id="26" name="Text 24"/>
          <p:cNvSpPr/>
          <p:nvPr/>
        </p:nvSpPr>
        <p:spPr>
          <a:xfrm>
            <a:off x="6492240" y="5138928"/>
            <a:ext cx="5029200" cy="1325880"/>
          </a:xfrm>
          <a:prstGeom prst="rect">
            <a:avLst/>
          </a:prstGeom>
          <a:noFill/>
          <a:ln/>
        </p:spPr>
        <p:txBody>
          <a:bodyPr wrap="square" rtlCol="0" anchor="t"/>
          <a:lstStyle/>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1 — facing the middle</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6 — shift right (6-1)</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5 — outside the block</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Pos 2 — help (if possible)</a:t>
            </a:r>
            <a:endParaRPr lang="en-US" sz="1400" dirty="0"/>
          </a:p>
          <a:p>
            <a:pPr marL="285750" indent="-285750">
              <a:spcAft>
                <a:spcPts val="300"/>
              </a:spcAft>
              <a:buFont typeface="Arial" panose="020B0604020202020204" pitchFamily="34" charset="0"/>
              <a:buChar char="•"/>
            </a:pPr>
            <a:r>
              <a:rPr lang="en-US" sz="1400" b="1" dirty="0">
                <a:solidFill>
                  <a:srgbClr val="EEF1F6"/>
                </a:solidFill>
                <a:latin typeface="Barlow" pitchFamily="34" charset="0"/>
                <a:ea typeface="Barlow" pitchFamily="34" charset="-122"/>
                <a:cs typeface="Barlow" pitchFamily="34" charset="-120"/>
              </a:rPr>
              <a:t>Free the lines — defend deep &amp; tight</a:t>
            </a:r>
            <a:endParaRPr lang="en-US" sz="1400" dirty="0"/>
          </a:p>
        </p:txBody>
      </p:sp>
      <p:sp>
        <p:nvSpPr>
          <p:cNvPr id="27" name="Shape 25"/>
          <p:cNvSpPr/>
          <p:nvPr/>
        </p:nvSpPr>
        <p:spPr>
          <a:xfrm>
            <a:off x="0" y="6620256"/>
            <a:ext cx="12161520" cy="54864"/>
          </a:xfrm>
          <a:prstGeom prst="rect">
            <a:avLst/>
          </a:prstGeom>
          <a:solidFill>
            <a:srgbClr val="161D3A"/>
          </a:solidFill>
          <a:ln/>
        </p:spPr>
        <p:txBody>
          <a:bodyPr/>
          <a:lstStyle/>
          <a:p>
            <a:endParaRPr lang="es-AR"/>
          </a:p>
        </p:txBody>
      </p:sp>
      <p:sp>
        <p:nvSpPr>
          <p:cNvPr id="28" name="Text 26"/>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9" name="Text 27"/>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12</a:t>
            </a:r>
            <a:endParaRPr lang="en-US" sz="1300" dirty="0"/>
          </a:p>
        </p:txBody>
      </p:sp>
      <p:pic>
        <p:nvPicPr>
          <p:cNvPr id="33" name="Imagen 32">
            <a:extLst>
              <a:ext uri="{FF2B5EF4-FFF2-40B4-BE49-F238E27FC236}">
                <a16:creationId xmlns:a16="http://schemas.microsoft.com/office/drawing/2014/main" id="{AAA2CD34-D9B3-6EBC-EE86-A183FEAEDA3D}"/>
              </a:ext>
            </a:extLst>
          </p:cNvPr>
          <p:cNvPicPr>
            <a:picLocks noChangeAspect="1"/>
          </p:cNvPicPr>
          <p:nvPr/>
        </p:nvPicPr>
        <p:blipFill>
          <a:blip r:embed="rId3"/>
          <a:stretch>
            <a:fillRect/>
          </a:stretch>
        </p:blipFill>
        <p:spPr>
          <a:xfrm>
            <a:off x="6227396" y="2209785"/>
            <a:ext cx="5394958" cy="2638389"/>
          </a:xfrm>
          <a:prstGeom prst="rect">
            <a:avLst/>
          </a:prstGeom>
          <a:ln>
            <a:noFill/>
          </a:ln>
          <a:effectLst>
            <a:softEdge rad="112500"/>
          </a:effectLst>
        </p:spPr>
      </p:pic>
      <p:pic>
        <p:nvPicPr>
          <p:cNvPr id="35" name="Imagen 34">
            <a:extLst>
              <a:ext uri="{FF2B5EF4-FFF2-40B4-BE49-F238E27FC236}">
                <a16:creationId xmlns:a16="http://schemas.microsoft.com/office/drawing/2014/main" id="{2E90B9BA-6E43-CBC7-1CDD-B637C157E11A}"/>
              </a:ext>
            </a:extLst>
          </p:cNvPr>
          <p:cNvPicPr>
            <a:picLocks noChangeAspect="1"/>
          </p:cNvPicPr>
          <p:nvPr/>
        </p:nvPicPr>
        <p:blipFill>
          <a:blip r:embed="rId4"/>
          <a:stretch>
            <a:fillRect/>
          </a:stretch>
        </p:blipFill>
        <p:spPr>
          <a:xfrm>
            <a:off x="511158" y="2112264"/>
            <a:ext cx="5486400" cy="2778985"/>
          </a:xfrm>
          <a:prstGeom prst="rect">
            <a:avLst/>
          </a:prstGeom>
          <a:ln>
            <a:noFill/>
          </a:ln>
          <a:effectLst>
            <a:softEdge rad="1125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05</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SIDE-OUT + TRANSITION</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400" b="1" kern="0" spc="100" dirty="0">
                <a:solidFill>
                  <a:srgbClr val="FFFFFF"/>
                </a:solidFill>
                <a:latin typeface="Oswald" pitchFamily="34" charset="0"/>
                <a:ea typeface="Oswald" pitchFamily="34" charset="-122"/>
                <a:cs typeface="Oswald" pitchFamily="34" charset="-120"/>
              </a:rPr>
              <a:t>Blocking System</a:t>
            </a:r>
            <a:endParaRPr lang="en-US" sz="34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777240" y="1709928"/>
            <a:ext cx="868680" cy="329184"/>
          </a:xfrm>
          <a:prstGeom prst="roundRect">
            <a:avLst>
              <a:gd name="adj" fmla="val 13889"/>
            </a:avLst>
          </a:prstGeom>
          <a:solidFill>
            <a:srgbClr val="FCB758"/>
          </a:solidFill>
          <a:ln/>
        </p:spPr>
        <p:txBody>
          <a:bodyPr/>
          <a:lstStyle/>
          <a:p>
            <a:endParaRPr lang="es-AR"/>
          </a:p>
        </p:txBody>
      </p:sp>
      <p:sp>
        <p:nvSpPr>
          <p:cNvPr id="12" name="Text 10"/>
          <p:cNvSpPr/>
          <p:nvPr/>
        </p:nvSpPr>
        <p:spPr>
          <a:xfrm>
            <a:off x="777240" y="1709928"/>
            <a:ext cx="868680" cy="329184"/>
          </a:xfrm>
          <a:prstGeom prst="rect">
            <a:avLst/>
          </a:prstGeom>
          <a:noFill/>
          <a:ln/>
        </p:spPr>
        <p:txBody>
          <a:bodyPr wrap="square" rtlCol="0" anchor="ctr"/>
          <a:lstStyle/>
          <a:p>
            <a:pPr marL="0" indent="0" algn="ctr">
              <a:buNone/>
            </a:pPr>
            <a:r>
              <a:rPr lang="en-US" sz="1500" b="1" dirty="0">
                <a:solidFill>
                  <a:srgbClr val="080B18"/>
                </a:solidFill>
                <a:latin typeface="Oswald" pitchFamily="34" charset="0"/>
                <a:ea typeface="Oswald" pitchFamily="34" charset="-122"/>
                <a:cs typeface="Oswald" pitchFamily="34" charset="-120"/>
              </a:rPr>
              <a:t>R</a:t>
            </a:r>
            <a:endParaRPr lang="en-US" sz="1500" dirty="0"/>
          </a:p>
        </p:txBody>
      </p:sp>
      <p:sp>
        <p:nvSpPr>
          <p:cNvPr id="13" name="Text 11"/>
          <p:cNvSpPr/>
          <p:nvPr/>
        </p:nvSpPr>
        <p:spPr>
          <a:xfrm>
            <a:off x="1783080" y="1691640"/>
            <a:ext cx="9875520" cy="365760"/>
          </a:xfrm>
          <a:prstGeom prst="rect">
            <a:avLst/>
          </a:prstGeom>
          <a:noFill/>
          <a:ln/>
        </p:spPr>
        <p:txBody>
          <a:bodyPr wrap="square" rtlCol="0" anchor="ctr"/>
          <a:lstStyle/>
          <a:p>
            <a:pPr marL="0" indent="0">
              <a:buNone/>
            </a:pPr>
            <a:r>
              <a:rPr lang="en-US" sz="1400" b="1" dirty="0">
                <a:solidFill>
                  <a:srgbClr val="FFFFFF"/>
                </a:solidFill>
                <a:latin typeface="Oswald" pitchFamily="34" charset="0"/>
                <a:ea typeface="Oswald" pitchFamily="34" charset="-122"/>
                <a:cs typeface="Oswald" pitchFamily="34" charset="-120"/>
              </a:rPr>
              <a:t>Read  </a:t>
            </a:r>
            <a:r>
              <a:rPr lang="en-US" sz="1400" dirty="0">
                <a:solidFill>
                  <a:srgbClr val="EEF1F6"/>
                </a:solidFill>
                <a:latin typeface="Barlow" pitchFamily="34" charset="0"/>
                <a:ea typeface="Barlow" pitchFamily="34" charset="-122"/>
                <a:cs typeface="Barlow" pitchFamily="34" charset="-120"/>
              </a:rPr>
              <a:t>decision by rival trajectory and setter distribution.</a:t>
            </a:r>
            <a:endParaRPr lang="en-US" sz="1400" dirty="0"/>
          </a:p>
        </p:txBody>
      </p:sp>
      <p:sp>
        <p:nvSpPr>
          <p:cNvPr id="14" name="Shape 12"/>
          <p:cNvSpPr/>
          <p:nvPr/>
        </p:nvSpPr>
        <p:spPr>
          <a:xfrm>
            <a:off x="777240" y="2167128"/>
            <a:ext cx="868680" cy="329184"/>
          </a:xfrm>
          <a:prstGeom prst="roundRect">
            <a:avLst>
              <a:gd name="adj" fmla="val 13889"/>
            </a:avLst>
          </a:prstGeom>
          <a:solidFill>
            <a:srgbClr val="FCB758"/>
          </a:solidFill>
          <a:ln/>
        </p:spPr>
        <p:txBody>
          <a:bodyPr/>
          <a:lstStyle/>
          <a:p>
            <a:endParaRPr lang="es-AR"/>
          </a:p>
        </p:txBody>
      </p:sp>
      <p:sp>
        <p:nvSpPr>
          <p:cNvPr id="15" name="Text 13"/>
          <p:cNvSpPr/>
          <p:nvPr/>
        </p:nvSpPr>
        <p:spPr>
          <a:xfrm>
            <a:off x="777240" y="2167128"/>
            <a:ext cx="868680" cy="329184"/>
          </a:xfrm>
          <a:prstGeom prst="rect">
            <a:avLst/>
          </a:prstGeom>
          <a:noFill/>
          <a:ln/>
        </p:spPr>
        <p:txBody>
          <a:bodyPr wrap="square" rtlCol="0" anchor="ctr"/>
          <a:lstStyle/>
          <a:p>
            <a:pPr marL="0" indent="0" algn="ctr">
              <a:buNone/>
            </a:pPr>
            <a:r>
              <a:rPr lang="en-US" sz="1500" b="1" dirty="0">
                <a:solidFill>
                  <a:srgbClr val="080B18"/>
                </a:solidFill>
                <a:latin typeface="Oswald" pitchFamily="34" charset="0"/>
                <a:ea typeface="Oswald" pitchFamily="34" charset="-122"/>
                <a:cs typeface="Oswald" pitchFamily="34" charset="-120"/>
              </a:rPr>
              <a:t>1</a:t>
            </a:r>
            <a:endParaRPr lang="en-US" sz="1500" dirty="0"/>
          </a:p>
        </p:txBody>
      </p:sp>
      <p:sp>
        <p:nvSpPr>
          <p:cNvPr id="16" name="Text 14"/>
          <p:cNvSpPr/>
          <p:nvPr/>
        </p:nvSpPr>
        <p:spPr>
          <a:xfrm>
            <a:off x="1783080" y="2148840"/>
            <a:ext cx="9875520" cy="365760"/>
          </a:xfrm>
          <a:prstGeom prst="rect">
            <a:avLst/>
          </a:prstGeom>
          <a:noFill/>
          <a:ln/>
        </p:spPr>
        <p:txBody>
          <a:bodyPr wrap="square" rtlCol="0" anchor="ctr"/>
          <a:lstStyle/>
          <a:p>
            <a:pPr marL="0" indent="0">
              <a:buNone/>
            </a:pPr>
            <a:r>
              <a:rPr lang="en-US" sz="1400" b="1" dirty="0">
                <a:solidFill>
                  <a:srgbClr val="FFFFFF"/>
                </a:solidFill>
                <a:latin typeface="Oswald" pitchFamily="34" charset="0"/>
                <a:ea typeface="Oswald" pitchFamily="34" charset="-122"/>
                <a:cs typeface="Oswald" pitchFamily="34" charset="-120"/>
              </a:rPr>
              <a:t>Call 1  </a:t>
            </a:r>
            <a:r>
              <a:rPr lang="en-US" sz="1400" dirty="0">
                <a:solidFill>
                  <a:srgbClr val="EEF1F6"/>
                </a:solidFill>
                <a:latin typeface="Barlow" pitchFamily="34" charset="0"/>
                <a:ea typeface="Barlow" pitchFamily="34" charset="-122"/>
                <a:cs typeface="Barlow" pitchFamily="34" charset="-120"/>
              </a:rPr>
              <a:t>priority front half (middle · pipe · position 4).</a:t>
            </a:r>
            <a:endParaRPr lang="en-US" sz="1400" dirty="0"/>
          </a:p>
        </p:txBody>
      </p:sp>
      <p:sp>
        <p:nvSpPr>
          <p:cNvPr id="17" name="Shape 15"/>
          <p:cNvSpPr/>
          <p:nvPr/>
        </p:nvSpPr>
        <p:spPr>
          <a:xfrm>
            <a:off x="777240" y="2624328"/>
            <a:ext cx="868680" cy="329184"/>
          </a:xfrm>
          <a:prstGeom prst="roundRect">
            <a:avLst>
              <a:gd name="adj" fmla="val 13889"/>
            </a:avLst>
          </a:prstGeom>
          <a:solidFill>
            <a:srgbClr val="FCB758"/>
          </a:solidFill>
          <a:ln/>
        </p:spPr>
        <p:txBody>
          <a:bodyPr/>
          <a:lstStyle/>
          <a:p>
            <a:endParaRPr lang="es-AR"/>
          </a:p>
        </p:txBody>
      </p:sp>
      <p:sp>
        <p:nvSpPr>
          <p:cNvPr id="18" name="Text 16"/>
          <p:cNvSpPr/>
          <p:nvPr/>
        </p:nvSpPr>
        <p:spPr>
          <a:xfrm>
            <a:off x="777240" y="2624328"/>
            <a:ext cx="868680" cy="329184"/>
          </a:xfrm>
          <a:prstGeom prst="rect">
            <a:avLst/>
          </a:prstGeom>
          <a:noFill/>
          <a:ln/>
        </p:spPr>
        <p:txBody>
          <a:bodyPr wrap="square" rtlCol="0" anchor="ctr"/>
          <a:lstStyle/>
          <a:p>
            <a:pPr marL="0" indent="0" algn="ctr">
              <a:buNone/>
            </a:pPr>
            <a:r>
              <a:rPr lang="en-US" sz="1500" b="1" dirty="0">
                <a:solidFill>
                  <a:srgbClr val="080B18"/>
                </a:solidFill>
                <a:latin typeface="Oswald" pitchFamily="34" charset="0"/>
                <a:ea typeface="Oswald" pitchFamily="34" charset="-122"/>
                <a:cs typeface="Oswald" pitchFamily="34" charset="-120"/>
              </a:rPr>
              <a:t>2</a:t>
            </a:r>
            <a:endParaRPr lang="en-US" sz="1500" dirty="0"/>
          </a:p>
        </p:txBody>
      </p:sp>
      <p:sp>
        <p:nvSpPr>
          <p:cNvPr id="19" name="Text 17"/>
          <p:cNvSpPr/>
          <p:nvPr/>
        </p:nvSpPr>
        <p:spPr>
          <a:xfrm>
            <a:off x="1783080" y="2606040"/>
            <a:ext cx="9875520" cy="365760"/>
          </a:xfrm>
          <a:prstGeom prst="rect">
            <a:avLst/>
          </a:prstGeom>
          <a:noFill/>
          <a:ln/>
        </p:spPr>
        <p:txBody>
          <a:bodyPr wrap="square" rtlCol="0" anchor="ctr"/>
          <a:lstStyle/>
          <a:p>
            <a:pPr marL="0" indent="0">
              <a:buNone/>
            </a:pPr>
            <a:r>
              <a:rPr lang="en-US" sz="1400" b="1" dirty="0">
                <a:solidFill>
                  <a:srgbClr val="FFFFFF"/>
                </a:solidFill>
                <a:latin typeface="Oswald" pitchFamily="34" charset="0"/>
                <a:ea typeface="Oswald" pitchFamily="34" charset="-122"/>
                <a:cs typeface="Oswald" pitchFamily="34" charset="-120"/>
              </a:rPr>
              <a:t>Call 2  </a:t>
            </a:r>
            <a:r>
              <a:rPr lang="en-US" sz="1400" dirty="0">
                <a:solidFill>
                  <a:srgbClr val="EEF1F6"/>
                </a:solidFill>
                <a:latin typeface="Barlow" pitchFamily="34" charset="0"/>
                <a:ea typeface="Barlow" pitchFamily="34" charset="-122"/>
                <a:cs typeface="Barlow" pitchFamily="34" charset="-120"/>
              </a:rPr>
              <a:t>priority back half (middle · pipe · position 2/1).</a:t>
            </a:r>
            <a:endParaRPr lang="en-US" sz="1400" dirty="0"/>
          </a:p>
        </p:txBody>
      </p:sp>
      <p:sp>
        <p:nvSpPr>
          <p:cNvPr id="20" name="Shape 18"/>
          <p:cNvSpPr/>
          <p:nvPr/>
        </p:nvSpPr>
        <p:spPr>
          <a:xfrm>
            <a:off x="777240" y="3081528"/>
            <a:ext cx="868680" cy="329184"/>
          </a:xfrm>
          <a:prstGeom prst="roundRect">
            <a:avLst>
              <a:gd name="adj" fmla="val 13889"/>
            </a:avLst>
          </a:prstGeom>
          <a:solidFill>
            <a:srgbClr val="FCB758"/>
          </a:solidFill>
          <a:ln/>
        </p:spPr>
        <p:txBody>
          <a:bodyPr/>
          <a:lstStyle/>
          <a:p>
            <a:endParaRPr lang="es-AR"/>
          </a:p>
        </p:txBody>
      </p:sp>
      <p:sp>
        <p:nvSpPr>
          <p:cNvPr id="21" name="Text 19"/>
          <p:cNvSpPr/>
          <p:nvPr/>
        </p:nvSpPr>
        <p:spPr>
          <a:xfrm>
            <a:off x="777240" y="3081528"/>
            <a:ext cx="868680" cy="329184"/>
          </a:xfrm>
          <a:prstGeom prst="rect">
            <a:avLst/>
          </a:prstGeom>
          <a:noFill/>
          <a:ln/>
        </p:spPr>
        <p:txBody>
          <a:bodyPr wrap="square" rtlCol="0" anchor="ctr"/>
          <a:lstStyle/>
          <a:p>
            <a:pPr marL="0" indent="0" algn="ctr">
              <a:buNone/>
            </a:pPr>
            <a:r>
              <a:rPr lang="en-US" sz="1500" b="1" dirty="0">
                <a:solidFill>
                  <a:srgbClr val="080B18"/>
                </a:solidFill>
                <a:latin typeface="Oswald" pitchFamily="34" charset="0"/>
                <a:ea typeface="Oswald" pitchFamily="34" charset="-122"/>
                <a:cs typeface="Oswald" pitchFamily="34" charset="-120"/>
              </a:rPr>
              <a:t>3</a:t>
            </a:r>
            <a:endParaRPr lang="en-US" sz="1500" dirty="0"/>
          </a:p>
        </p:txBody>
      </p:sp>
      <p:sp>
        <p:nvSpPr>
          <p:cNvPr id="22" name="Text 20"/>
          <p:cNvSpPr/>
          <p:nvPr/>
        </p:nvSpPr>
        <p:spPr>
          <a:xfrm>
            <a:off x="1783080" y="3063240"/>
            <a:ext cx="9875520" cy="365760"/>
          </a:xfrm>
          <a:prstGeom prst="rect">
            <a:avLst/>
          </a:prstGeom>
          <a:noFill/>
          <a:ln/>
        </p:spPr>
        <p:txBody>
          <a:bodyPr wrap="square" rtlCol="0" anchor="ctr"/>
          <a:lstStyle/>
          <a:p>
            <a:pPr marL="0" indent="0">
              <a:buNone/>
            </a:pPr>
            <a:r>
              <a:rPr lang="en-US" sz="1400" b="1" dirty="0">
                <a:solidFill>
                  <a:srgbClr val="FFFFFF"/>
                </a:solidFill>
                <a:latin typeface="Oswald" pitchFamily="34" charset="0"/>
                <a:ea typeface="Oswald" pitchFamily="34" charset="-122"/>
                <a:cs typeface="Oswald" pitchFamily="34" charset="-120"/>
              </a:rPr>
              <a:t>Commit  </a:t>
            </a:r>
            <a:r>
              <a:rPr lang="en-US" sz="1400" dirty="0">
                <a:solidFill>
                  <a:srgbClr val="EEF1F6"/>
                </a:solidFill>
                <a:latin typeface="Barlow" pitchFamily="34" charset="0"/>
                <a:ea typeface="Barlow" pitchFamily="34" charset="-122"/>
                <a:cs typeface="Barlow" pitchFamily="34" charset="-120"/>
              </a:rPr>
              <a:t>we follow the middle; on a perfect ball we block 1-on-1.</a:t>
            </a:r>
            <a:endParaRPr lang="en-US" sz="1400" dirty="0"/>
          </a:p>
        </p:txBody>
      </p:sp>
      <p:sp>
        <p:nvSpPr>
          <p:cNvPr id="23" name="Shape 21"/>
          <p:cNvSpPr/>
          <p:nvPr/>
        </p:nvSpPr>
        <p:spPr>
          <a:xfrm>
            <a:off x="777240" y="3538728"/>
            <a:ext cx="868680" cy="329184"/>
          </a:xfrm>
          <a:prstGeom prst="roundRect">
            <a:avLst>
              <a:gd name="adj" fmla="val 13889"/>
            </a:avLst>
          </a:prstGeom>
          <a:solidFill>
            <a:srgbClr val="FCB758"/>
          </a:solidFill>
          <a:ln/>
        </p:spPr>
        <p:txBody>
          <a:bodyPr/>
          <a:lstStyle/>
          <a:p>
            <a:endParaRPr lang="es-AR"/>
          </a:p>
        </p:txBody>
      </p:sp>
      <p:sp>
        <p:nvSpPr>
          <p:cNvPr id="24" name="Text 22"/>
          <p:cNvSpPr/>
          <p:nvPr/>
        </p:nvSpPr>
        <p:spPr>
          <a:xfrm>
            <a:off x="777240" y="3538728"/>
            <a:ext cx="868680" cy="329184"/>
          </a:xfrm>
          <a:prstGeom prst="rect">
            <a:avLst/>
          </a:prstGeom>
          <a:noFill/>
          <a:ln/>
        </p:spPr>
        <p:txBody>
          <a:bodyPr wrap="square" rtlCol="0" anchor="ctr"/>
          <a:lstStyle/>
          <a:p>
            <a:pPr marL="0" indent="0" algn="ctr">
              <a:buNone/>
            </a:pPr>
            <a:r>
              <a:rPr lang="en-US" sz="1500" b="1" dirty="0">
                <a:solidFill>
                  <a:srgbClr val="080B18"/>
                </a:solidFill>
                <a:latin typeface="Oswald" pitchFamily="34" charset="0"/>
                <a:ea typeface="Oswald" pitchFamily="34" charset="-122"/>
                <a:cs typeface="Oswald" pitchFamily="34" charset="-120"/>
              </a:rPr>
              <a:t>4</a:t>
            </a:r>
            <a:endParaRPr lang="en-US" sz="1500" dirty="0"/>
          </a:p>
        </p:txBody>
      </p:sp>
      <p:sp>
        <p:nvSpPr>
          <p:cNvPr id="25" name="Text 23"/>
          <p:cNvSpPr/>
          <p:nvPr/>
        </p:nvSpPr>
        <p:spPr>
          <a:xfrm>
            <a:off x="1783080" y="3520440"/>
            <a:ext cx="9875520" cy="365760"/>
          </a:xfrm>
          <a:prstGeom prst="rect">
            <a:avLst/>
          </a:prstGeom>
          <a:noFill/>
          <a:ln/>
        </p:spPr>
        <p:txBody>
          <a:bodyPr wrap="square" rtlCol="0" anchor="ctr"/>
          <a:lstStyle/>
          <a:p>
            <a:pPr marL="0" indent="0">
              <a:buNone/>
            </a:pPr>
            <a:r>
              <a:rPr lang="en-US" sz="1400" b="1" dirty="0">
                <a:solidFill>
                  <a:srgbClr val="FFFFFF"/>
                </a:solidFill>
                <a:latin typeface="Oswald" pitchFamily="34" charset="0"/>
                <a:ea typeface="Oswald" pitchFamily="34" charset="-122"/>
                <a:cs typeface="Oswald" pitchFamily="34" charset="-120"/>
              </a:rPr>
              <a:t>Pin &amp; pin  </a:t>
            </a:r>
            <a:r>
              <a:rPr lang="en-US" sz="1400" dirty="0">
                <a:solidFill>
                  <a:srgbClr val="EEF1F6"/>
                </a:solidFill>
                <a:latin typeface="Barlow" pitchFamily="34" charset="0"/>
                <a:ea typeface="Barlow" pitchFamily="34" charset="-122"/>
                <a:cs typeface="Barlow" pitchFamily="34" charset="-120"/>
              </a:rPr>
              <a:t>priority on the wings.</a:t>
            </a:r>
            <a:endParaRPr lang="en-US" sz="1400" dirty="0"/>
          </a:p>
        </p:txBody>
      </p:sp>
      <p:sp>
        <p:nvSpPr>
          <p:cNvPr id="26" name="Shape 24"/>
          <p:cNvSpPr/>
          <p:nvPr/>
        </p:nvSpPr>
        <p:spPr>
          <a:xfrm>
            <a:off x="777240" y="4023360"/>
            <a:ext cx="10881360" cy="0"/>
          </a:xfrm>
          <a:prstGeom prst="line">
            <a:avLst/>
          </a:prstGeom>
          <a:noFill/>
          <a:ln w="12700">
            <a:solidFill>
              <a:srgbClr val="202A52"/>
            </a:solidFill>
            <a:prstDash val="solid"/>
          </a:ln>
        </p:spPr>
        <p:txBody>
          <a:bodyPr/>
          <a:lstStyle/>
          <a:p>
            <a:endParaRPr lang="es-AR"/>
          </a:p>
        </p:txBody>
      </p:sp>
      <p:sp>
        <p:nvSpPr>
          <p:cNvPr id="27" name="Shape 25"/>
          <p:cNvSpPr/>
          <p:nvPr/>
        </p:nvSpPr>
        <p:spPr>
          <a:xfrm>
            <a:off x="822960" y="4251960"/>
            <a:ext cx="100584" cy="100584"/>
          </a:xfrm>
          <a:prstGeom prst="rect">
            <a:avLst/>
          </a:prstGeom>
          <a:solidFill>
            <a:srgbClr val="FCB758"/>
          </a:solidFill>
          <a:ln/>
        </p:spPr>
        <p:txBody>
          <a:bodyPr/>
          <a:lstStyle/>
          <a:p>
            <a:endParaRPr lang="es-AR"/>
          </a:p>
        </p:txBody>
      </p:sp>
      <p:sp>
        <p:nvSpPr>
          <p:cNvPr id="28" name="Text 26"/>
          <p:cNvSpPr/>
          <p:nvPr/>
        </p:nvSpPr>
        <p:spPr>
          <a:xfrm>
            <a:off x="1051560" y="4206240"/>
            <a:ext cx="10607040" cy="457200"/>
          </a:xfrm>
          <a:prstGeom prst="rect">
            <a:avLst/>
          </a:prstGeom>
          <a:noFill/>
          <a:ln/>
        </p:spPr>
        <p:txBody>
          <a:bodyPr wrap="square" rtlCol="0" anchor="t"/>
          <a:lstStyle/>
          <a:p>
            <a:pPr marL="0" indent="0">
              <a:lnSpc>
                <a:spcPts val="1550"/>
              </a:lnSpc>
              <a:buNone/>
            </a:pPr>
            <a:r>
              <a:rPr lang="en-US" sz="1250" dirty="0">
                <a:solidFill>
                  <a:srgbClr val="EEF1F6"/>
                </a:solidFill>
                <a:latin typeface="Barlow" pitchFamily="34" charset="0"/>
                <a:ea typeface="Barlow" pitchFamily="34" charset="-122"/>
                <a:cs typeface="Barlow" pitchFamily="34" charset="-120"/>
              </a:rPr>
              <a:t>We block the ball, not a zone.</a:t>
            </a:r>
            <a:r>
              <a:rPr lang="en-US" sz="1250" b="1" dirty="0">
                <a:solidFill>
                  <a:srgbClr val="FB385B"/>
                </a:solidFill>
                <a:latin typeface="Barlow Condensed" pitchFamily="34" charset="0"/>
                <a:ea typeface="Barlow Condensed" pitchFamily="34" charset="-122"/>
                <a:cs typeface="Barlow Condensed" pitchFamily="34" charset="-120"/>
              </a:rPr>
              <a:t>  ◦ VIDEO</a:t>
            </a:r>
            <a:endParaRPr lang="en-US" sz="1250" dirty="0"/>
          </a:p>
        </p:txBody>
      </p:sp>
      <p:sp>
        <p:nvSpPr>
          <p:cNvPr id="29" name="Shape 27"/>
          <p:cNvSpPr/>
          <p:nvPr/>
        </p:nvSpPr>
        <p:spPr>
          <a:xfrm>
            <a:off x="822960" y="4636008"/>
            <a:ext cx="100584" cy="100584"/>
          </a:xfrm>
          <a:prstGeom prst="rect">
            <a:avLst/>
          </a:prstGeom>
          <a:solidFill>
            <a:srgbClr val="FCB758"/>
          </a:solidFill>
          <a:ln/>
        </p:spPr>
        <p:txBody>
          <a:bodyPr/>
          <a:lstStyle/>
          <a:p>
            <a:endParaRPr lang="es-AR"/>
          </a:p>
        </p:txBody>
      </p:sp>
      <p:sp>
        <p:nvSpPr>
          <p:cNvPr id="30" name="Text 28"/>
          <p:cNvSpPr/>
          <p:nvPr/>
        </p:nvSpPr>
        <p:spPr>
          <a:xfrm>
            <a:off x="1051560" y="4590288"/>
            <a:ext cx="10607040" cy="457200"/>
          </a:xfrm>
          <a:prstGeom prst="rect">
            <a:avLst/>
          </a:prstGeom>
          <a:noFill/>
          <a:ln/>
        </p:spPr>
        <p:txBody>
          <a:bodyPr wrap="square" rtlCol="0" anchor="t"/>
          <a:lstStyle/>
          <a:p>
            <a:pPr marL="0" indent="0">
              <a:lnSpc>
                <a:spcPts val="1550"/>
              </a:lnSpc>
              <a:buNone/>
            </a:pPr>
            <a:r>
              <a:rPr lang="en-US" sz="1250" dirty="0">
                <a:solidFill>
                  <a:srgbClr val="EEF1F6"/>
                </a:solidFill>
                <a:latin typeface="Barlow" pitchFamily="34" charset="0"/>
                <a:ea typeface="Barlow" pitchFamily="34" charset="-122"/>
                <a:cs typeface="Barlow" pitchFamily="34" charset="-120"/>
              </a:rPr>
              <a:t>The pin takes the ball; the middle closes mainly the cross-court.</a:t>
            </a:r>
            <a:endParaRPr lang="en-US" sz="1250" dirty="0"/>
          </a:p>
        </p:txBody>
      </p:sp>
      <p:sp>
        <p:nvSpPr>
          <p:cNvPr id="31" name="Shape 29"/>
          <p:cNvSpPr/>
          <p:nvPr/>
        </p:nvSpPr>
        <p:spPr>
          <a:xfrm>
            <a:off x="822960" y="5020056"/>
            <a:ext cx="100584" cy="100584"/>
          </a:xfrm>
          <a:prstGeom prst="rect">
            <a:avLst/>
          </a:prstGeom>
          <a:solidFill>
            <a:srgbClr val="FCB758"/>
          </a:solidFill>
          <a:ln/>
        </p:spPr>
        <p:txBody>
          <a:bodyPr/>
          <a:lstStyle/>
          <a:p>
            <a:endParaRPr lang="es-AR"/>
          </a:p>
        </p:txBody>
      </p:sp>
      <p:sp>
        <p:nvSpPr>
          <p:cNvPr id="32" name="Text 30"/>
          <p:cNvSpPr/>
          <p:nvPr/>
        </p:nvSpPr>
        <p:spPr>
          <a:xfrm>
            <a:off x="1051560" y="4974336"/>
            <a:ext cx="10607040" cy="457200"/>
          </a:xfrm>
          <a:prstGeom prst="rect">
            <a:avLst/>
          </a:prstGeom>
          <a:noFill/>
          <a:ln/>
        </p:spPr>
        <p:txBody>
          <a:bodyPr wrap="square" rtlCol="0" anchor="t"/>
          <a:lstStyle/>
          <a:p>
            <a:pPr marL="0" indent="0">
              <a:lnSpc>
                <a:spcPts val="1550"/>
              </a:lnSpc>
              <a:buNone/>
            </a:pPr>
            <a:r>
              <a:rPr lang="en-US" sz="1250" dirty="0">
                <a:solidFill>
                  <a:srgbClr val="EEF1F6"/>
                </a:solidFill>
                <a:latin typeface="Barlow" pitchFamily="34" charset="0"/>
                <a:ea typeface="Barlow" pitchFamily="34" charset="-122"/>
                <a:cs typeface="Barlow" pitchFamily="34" charset="-120"/>
              </a:rPr>
              <a:t>The off-blocker drops fast to cover the sharp angle.</a:t>
            </a:r>
            <a:endParaRPr lang="en-US" sz="1250" dirty="0"/>
          </a:p>
        </p:txBody>
      </p:sp>
      <p:sp>
        <p:nvSpPr>
          <p:cNvPr id="33" name="Shape 31"/>
          <p:cNvSpPr/>
          <p:nvPr/>
        </p:nvSpPr>
        <p:spPr>
          <a:xfrm>
            <a:off x="822960" y="5404104"/>
            <a:ext cx="100584" cy="100584"/>
          </a:xfrm>
          <a:prstGeom prst="rect">
            <a:avLst/>
          </a:prstGeom>
          <a:solidFill>
            <a:srgbClr val="FCB758"/>
          </a:solidFill>
          <a:ln/>
        </p:spPr>
        <p:txBody>
          <a:bodyPr/>
          <a:lstStyle/>
          <a:p>
            <a:endParaRPr lang="es-AR"/>
          </a:p>
        </p:txBody>
      </p:sp>
      <p:sp>
        <p:nvSpPr>
          <p:cNvPr id="34" name="Text 32"/>
          <p:cNvSpPr/>
          <p:nvPr/>
        </p:nvSpPr>
        <p:spPr>
          <a:xfrm>
            <a:off x="1051560" y="5358384"/>
            <a:ext cx="10607040" cy="457200"/>
          </a:xfrm>
          <a:prstGeom prst="rect">
            <a:avLst/>
          </a:prstGeom>
          <a:noFill/>
          <a:ln/>
        </p:spPr>
        <p:txBody>
          <a:bodyPr wrap="square" rtlCol="0" anchor="t"/>
          <a:lstStyle/>
          <a:p>
            <a:pPr marL="0" indent="0">
              <a:lnSpc>
                <a:spcPts val="1550"/>
              </a:lnSpc>
              <a:buNone/>
            </a:pPr>
            <a:r>
              <a:rPr lang="en-US" sz="1250" dirty="0">
                <a:solidFill>
                  <a:srgbClr val="EEF1F6"/>
                </a:solidFill>
                <a:latin typeface="Barlow" pitchFamily="34" charset="0"/>
                <a:ea typeface="Barlow" pitchFamily="34" charset="-122"/>
                <a:cs typeface="Barlow" pitchFamily="34" charset="-120"/>
              </a:rPr>
              <a:t>We watch: pass drop, set direction, ball path and the hitter's approach.</a:t>
            </a:r>
            <a:endParaRPr lang="en-US" sz="1250" dirty="0"/>
          </a:p>
        </p:txBody>
      </p:sp>
      <p:sp>
        <p:nvSpPr>
          <p:cNvPr id="35" name="Shape 33"/>
          <p:cNvSpPr/>
          <p:nvPr/>
        </p:nvSpPr>
        <p:spPr>
          <a:xfrm>
            <a:off x="822960" y="5788152"/>
            <a:ext cx="100584" cy="100584"/>
          </a:xfrm>
          <a:prstGeom prst="rect">
            <a:avLst/>
          </a:prstGeom>
          <a:solidFill>
            <a:srgbClr val="FCB758"/>
          </a:solidFill>
          <a:ln/>
        </p:spPr>
        <p:txBody>
          <a:bodyPr/>
          <a:lstStyle/>
          <a:p>
            <a:endParaRPr lang="es-AR"/>
          </a:p>
        </p:txBody>
      </p:sp>
      <p:sp>
        <p:nvSpPr>
          <p:cNvPr id="36" name="Text 34"/>
          <p:cNvSpPr/>
          <p:nvPr/>
        </p:nvSpPr>
        <p:spPr>
          <a:xfrm>
            <a:off x="1051560" y="5742432"/>
            <a:ext cx="10607040" cy="457200"/>
          </a:xfrm>
          <a:prstGeom prst="rect">
            <a:avLst/>
          </a:prstGeom>
          <a:noFill/>
          <a:ln/>
        </p:spPr>
        <p:txBody>
          <a:bodyPr wrap="square" rtlCol="0" anchor="t"/>
          <a:lstStyle/>
          <a:p>
            <a:pPr marL="0" indent="0">
              <a:lnSpc>
                <a:spcPts val="1550"/>
              </a:lnSpc>
              <a:buNone/>
            </a:pPr>
            <a:r>
              <a:rPr lang="en-US" sz="1250" dirty="0">
                <a:solidFill>
                  <a:srgbClr val="EEF1F6"/>
                </a:solidFill>
                <a:latin typeface="Barlow" pitchFamily="34" charset="0"/>
                <a:ea typeface="Barlow" pitchFamily="34" charset="-122"/>
                <a:cs typeface="Barlow" pitchFamily="34" charset="-120"/>
              </a:rPr>
              <a:t>Ball quality changes the block — a double-positive isn't a high, separated ball. Good reading sets jump timing and contact. We set defensive position before the rival contact.</a:t>
            </a:r>
            <a:endParaRPr lang="en-US" sz="1250" dirty="0"/>
          </a:p>
        </p:txBody>
      </p:sp>
      <p:sp>
        <p:nvSpPr>
          <p:cNvPr id="37" name="Shape 35"/>
          <p:cNvSpPr/>
          <p:nvPr/>
        </p:nvSpPr>
        <p:spPr>
          <a:xfrm>
            <a:off x="822960" y="6391656"/>
            <a:ext cx="100584" cy="100584"/>
          </a:xfrm>
          <a:prstGeom prst="rect">
            <a:avLst/>
          </a:prstGeom>
          <a:solidFill>
            <a:srgbClr val="FB385B"/>
          </a:solidFill>
          <a:ln/>
        </p:spPr>
        <p:txBody>
          <a:bodyPr/>
          <a:lstStyle/>
          <a:p>
            <a:endParaRPr lang="es-AR"/>
          </a:p>
        </p:txBody>
      </p:sp>
      <p:sp>
        <p:nvSpPr>
          <p:cNvPr id="38" name="Text 36"/>
          <p:cNvSpPr/>
          <p:nvPr/>
        </p:nvSpPr>
        <p:spPr>
          <a:xfrm>
            <a:off x="1051560" y="6345936"/>
            <a:ext cx="10607040" cy="457200"/>
          </a:xfrm>
          <a:prstGeom prst="rect">
            <a:avLst/>
          </a:prstGeom>
          <a:noFill/>
          <a:ln/>
        </p:spPr>
        <p:txBody>
          <a:bodyPr wrap="square" rtlCol="0" anchor="t"/>
          <a:lstStyle/>
          <a:p>
            <a:pPr marL="0" indent="0">
              <a:lnSpc>
                <a:spcPts val="1550"/>
              </a:lnSpc>
              <a:buNone/>
            </a:pPr>
            <a:r>
              <a:rPr lang="en-US" sz="1250" b="1" u="sng" dirty="0">
                <a:solidFill>
                  <a:srgbClr val="FFFFFF"/>
                </a:solidFill>
                <a:latin typeface="Barlow" pitchFamily="34" charset="0"/>
                <a:ea typeface="Barlow" pitchFamily="34" charset="-122"/>
                <a:cs typeface="Barlow" pitchFamily="34" charset="-120"/>
              </a:rPr>
              <a:t>THE DEFENSE CALLS OUT WHEN THERE IS NO BLOCK.</a:t>
            </a:r>
            <a:endParaRPr lang="en-US" sz="1250" dirty="0"/>
          </a:p>
        </p:txBody>
      </p:sp>
      <p:sp>
        <p:nvSpPr>
          <p:cNvPr id="39" name="Shape 37"/>
          <p:cNvSpPr/>
          <p:nvPr/>
        </p:nvSpPr>
        <p:spPr>
          <a:xfrm>
            <a:off x="0" y="6620256"/>
            <a:ext cx="12161520" cy="54864"/>
          </a:xfrm>
          <a:prstGeom prst="rect">
            <a:avLst/>
          </a:prstGeom>
          <a:solidFill>
            <a:srgbClr val="161D3A"/>
          </a:solidFill>
          <a:ln/>
        </p:spPr>
        <p:txBody>
          <a:bodyPr/>
          <a:lstStyle/>
          <a:p>
            <a:endParaRPr lang="es-AR"/>
          </a:p>
        </p:txBody>
      </p:sp>
      <p:sp>
        <p:nvSpPr>
          <p:cNvPr id="40" name="Text 38"/>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41" name="Text 39"/>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13</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06</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CONCEPT &amp; SYSTEM</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Serve</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37360"/>
            <a:ext cx="5486400" cy="1417320"/>
          </a:xfrm>
          <a:prstGeom prst="roundRect">
            <a:avLst>
              <a:gd name="adj" fmla="val 4516"/>
            </a:avLst>
          </a:prstGeom>
          <a:solidFill>
            <a:srgbClr val="161D3A"/>
          </a:solidFill>
          <a:ln w="12700">
            <a:solidFill>
              <a:srgbClr val="202A52"/>
            </a:solidFill>
            <a:prstDash val="solid"/>
          </a:ln>
        </p:spPr>
        <p:txBody>
          <a:bodyPr/>
          <a:lstStyle/>
          <a:p>
            <a:endParaRPr lang="es-AR"/>
          </a:p>
        </p:txBody>
      </p:sp>
      <p:sp>
        <p:nvSpPr>
          <p:cNvPr id="12" name="Shape 10"/>
          <p:cNvSpPr/>
          <p:nvPr/>
        </p:nvSpPr>
        <p:spPr>
          <a:xfrm>
            <a:off x="594360" y="1737360"/>
            <a:ext cx="5486400" cy="82296"/>
          </a:xfrm>
          <a:prstGeom prst="rect">
            <a:avLst/>
          </a:prstGeom>
          <a:solidFill>
            <a:srgbClr val="FB385B"/>
          </a:solidFill>
          <a:ln/>
        </p:spPr>
        <p:txBody>
          <a:bodyPr/>
          <a:lstStyle/>
          <a:p>
            <a:endParaRPr lang="es-AR"/>
          </a:p>
        </p:txBody>
      </p:sp>
      <p:sp>
        <p:nvSpPr>
          <p:cNvPr id="13" name="Text 11"/>
          <p:cNvSpPr/>
          <p:nvPr/>
        </p:nvSpPr>
        <p:spPr>
          <a:xfrm>
            <a:off x="822960" y="1901952"/>
            <a:ext cx="5029200" cy="320040"/>
          </a:xfrm>
          <a:prstGeom prst="rect">
            <a:avLst/>
          </a:prstGeom>
          <a:noFill/>
          <a:ln/>
        </p:spPr>
        <p:txBody>
          <a:bodyPr wrap="square" rtlCol="0" anchor="ctr"/>
          <a:lstStyle/>
          <a:p>
            <a:pPr marL="0" indent="0">
              <a:buNone/>
            </a:pPr>
            <a:r>
              <a:rPr lang="en-US" sz="1400" b="1" kern="0" spc="100" dirty="0">
                <a:solidFill>
                  <a:srgbClr val="FFFFFF"/>
                </a:solidFill>
                <a:latin typeface="Oswald" pitchFamily="34" charset="0"/>
                <a:ea typeface="Oswald" pitchFamily="34" charset="-122"/>
                <a:cs typeface="Oswald" pitchFamily="34" charset="-120"/>
              </a:rPr>
              <a:t>MINDSET</a:t>
            </a:r>
            <a:endParaRPr lang="en-US" sz="1400" dirty="0"/>
          </a:p>
        </p:txBody>
      </p:sp>
      <p:sp>
        <p:nvSpPr>
          <p:cNvPr id="14" name="Text 12"/>
          <p:cNvSpPr/>
          <p:nvPr/>
        </p:nvSpPr>
        <p:spPr>
          <a:xfrm>
            <a:off x="822960" y="2267712"/>
            <a:ext cx="5029200" cy="822960"/>
          </a:xfrm>
          <a:prstGeom prst="rect">
            <a:avLst/>
          </a:prstGeom>
          <a:noFill/>
          <a:ln/>
        </p:spPr>
        <p:txBody>
          <a:bodyPr wrap="square" rtlCol="0" anchor="t"/>
          <a:lstStyle/>
          <a:p>
            <a:pPr marL="0" indent="0">
              <a:lnSpc>
                <a:spcPts val="1450"/>
              </a:lnSpc>
              <a:buNone/>
            </a:pPr>
            <a:r>
              <a:rPr lang="en-US" sz="1150" dirty="0">
                <a:solidFill>
                  <a:srgbClr val="EEF1F6"/>
                </a:solidFill>
                <a:latin typeface="Barlow" pitchFamily="34" charset="0"/>
                <a:ea typeface="Barlow" pitchFamily="34" charset="-122"/>
                <a:cs typeface="Barlow" pitchFamily="34" charset="-120"/>
              </a:rPr>
              <a:t>We are aggressive from this fundamental. The serve is our first real chance to win the point — executed with intent, pressure and weaknesses of the rival.</a:t>
            </a:r>
            <a:endParaRPr lang="en-US" sz="1150" dirty="0"/>
          </a:p>
        </p:txBody>
      </p:sp>
      <p:sp>
        <p:nvSpPr>
          <p:cNvPr id="15" name="Shape 13"/>
          <p:cNvSpPr/>
          <p:nvPr/>
        </p:nvSpPr>
        <p:spPr>
          <a:xfrm>
            <a:off x="6172200" y="1737360"/>
            <a:ext cx="5486400" cy="1417320"/>
          </a:xfrm>
          <a:prstGeom prst="roundRect">
            <a:avLst>
              <a:gd name="adj" fmla="val 4516"/>
            </a:avLst>
          </a:prstGeom>
          <a:solidFill>
            <a:srgbClr val="161D3A"/>
          </a:solidFill>
          <a:ln w="12700">
            <a:solidFill>
              <a:srgbClr val="202A52"/>
            </a:solidFill>
            <a:prstDash val="solid"/>
          </a:ln>
        </p:spPr>
        <p:txBody>
          <a:bodyPr/>
          <a:lstStyle/>
          <a:p>
            <a:endParaRPr lang="es-AR"/>
          </a:p>
        </p:txBody>
      </p:sp>
      <p:sp>
        <p:nvSpPr>
          <p:cNvPr id="16" name="Shape 14"/>
          <p:cNvSpPr/>
          <p:nvPr/>
        </p:nvSpPr>
        <p:spPr>
          <a:xfrm>
            <a:off x="6172200" y="1737360"/>
            <a:ext cx="5486400" cy="82296"/>
          </a:xfrm>
          <a:prstGeom prst="rect">
            <a:avLst/>
          </a:prstGeom>
          <a:solidFill>
            <a:srgbClr val="FCB758"/>
          </a:solidFill>
          <a:ln/>
        </p:spPr>
        <p:txBody>
          <a:bodyPr/>
          <a:lstStyle/>
          <a:p>
            <a:endParaRPr lang="es-AR"/>
          </a:p>
        </p:txBody>
      </p:sp>
      <p:sp>
        <p:nvSpPr>
          <p:cNvPr id="17" name="Text 15"/>
          <p:cNvSpPr/>
          <p:nvPr/>
        </p:nvSpPr>
        <p:spPr>
          <a:xfrm>
            <a:off x="6400800" y="1901952"/>
            <a:ext cx="5029200" cy="320040"/>
          </a:xfrm>
          <a:prstGeom prst="rect">
            <a:avLst/>
          </a:prstGeom>
          <a:noFill/>
          <a:ln/>
        </p:spPr>
        <p:txBody>
          <a:bodyPr wrap="square" rtlCol="0" anchor="ctr"/>
          <a:lstStyle/>
          <a:p>
            <a:pPr marL="0" indent="0">
              <a:buNone/>
            </a:pPr>
            <a:r>
              <a:rPr lang="en-US" sz="1400" b="1" kern="0" spc="100" dirty="0">
                <a:solidFill>
                  <a:srgbClr val="FFFFFF"/>
                </a:solidFill>
                <a:latin typeface="Oswald" pitchFamily="34" charset="0"/>
                <a:ea typeface="Oswald" pitchFamily="34" charset="-122"/>
                <a:cs typeface="Oswald" pitchFamily="34" charset="-120"/>
              </a:rPr>
              <a:t>MAIN OBJECTIVES</a:t>
            </a:r>
            <a:endParaRPr lang="en-US" sz="1400" dirty="0"/>
          </a:p>
        </p:txBody>
      </p:sp>
      <p:sp>
        <p:nvSpPr>
          <p:cNvPr id="18" name="Text 16"/>
          <p:cNvSpPr/>
          <p:nvPr/>
        </p:nvSpPr>
        <p:spPr>
          <a:xfrm>
            <a:off x="6400800" y="2267712"/>
            <a:ext cx="5029200" cy="822960"/>
          </a:xfrm>
          <a:prstGeom prst="rect">
            <a:avLst/>
          </a:prstGeom>
          <a:noFill/>
          <a:ln/>
        </p:spPr>
        <p:txBody>
          <a:bodyPr wrap="square" rtlCol="0" anchor="t"/>
          <a:lstStyle/>
          <a:p>
            <a:pPr marL="0" indent="0">
              <a:lnSpc>
                <a:spcPts val="1450"/>
              </a:lnSpc>
              <a:buNone/>
            </a:pPr>
            <a:r>
              <a:rPr lang="en-US" sz="1150" dirty="0">
                <a:solidFill>
                  <a:srgbClr val="EEF1F6"/>
                </a:solidFill>
                <a:latin typeface="Barlow" pitchFamily="34" charset="0"/>
                <a:ea typeface="Barlow" pitchFamily="34" charset="-122"/>
                <a:cs typeface="Barlow" pitchFamily="34" charset="-120"/>
              </a:rPr>
              <a:t>Jump serve → ace. Float → hurt or neutralize a specific passer per game plan. First serve of each set and post-timeout: must be in. Stay flexible to what the team needs.</a:t>
            </a:r>
            <a:endParaRPr lang="en-US" sz="1150" dirty="0"/>
          </a:p>
        </p:txBody>
      </p:sp>
      <p:sp>
        <p:nvSpPr>
          <p:cNvPr id="19" name="Shape 17"/>
          <p:cNvSpPr/>
          <p:nvPr/>
        </p:nvSpPr>
        <p:spPr>
          <a:xfrm>
            <a:off x="594360" y="3310128"/>
            <a:ext cx="5486400" cy="1417320"/>
          </a:xfrm>
          <a:prstGeom prst="roundRect">
            <a:avLst>
              <a:gd name="adj" fmla="val 4516"/>
            </a:avLst>
          </a:prstGeom>
          <a:solidFill>
            <a:srgbClr val="161D3A"/>
          </a:solidFill>
          <a:ln w="12700">
            <a:solidFill>
              <a:srgbClr val="202A52"/>
            </a:solidFill>
            <a:prstDash val="solid"/>
          </a:ln>
        </p:spPr>
        <p:txBody>
          <a:bodyPr/>
          <a:lstStyle/>
          <a:p>
            <a:endParaRPr lang="es-AR"/>
          </a:p>
        </p:txBody>
      </p:sp>
      <p:sp>
        <p:nvSpPr>
          <p:cNvPr id="20" name="Shape 18"/>
          <p:cNvSpPr/>
          <p:nvPr/>
        </p:nvSpPr>
        <p:spPr>
          <a:xfrm>
            <a:off x="594360" y="3310128"/>
            <a:ext cx="5486400" cy="82296"/>
          </a:xfrm>
          <a:prstGeom prst="rect">
            <a:avLst/>
          </a:prstGeom>
          <a:solidFill>
            <a:srgbClr val="FFD24A"/>
          </a:solidFill>
          <a:ln/>
        </p:spPr>
        <p:txBody>
          <a:bodyPr/>
          <a:lstStyle/>
          <a:p>
            <a:endParaRPr lang="es-AR"/>
          </a:p>
        </p:txBody>
      </p:sp>
      <p:sp>
        <p:nvSpPr>
          <p:cNvPr id="21" name="Text 19"/>
          <p:cNvSpPr/>
          <p:nvPr/>
        </p:nvSpPr>
        <p:spPr>
          <a:xfrm>
            <a:off x="822960" y="3474720"/>
            <a:ext cx="5029200" cy="320040"/>
          </a:xfrm>
          <a:prstGeom prst="rect">
            <a:avLst/>
          </a:prstGeom>
          <a:noFill/>
          <a:ln/>
        </p:spPr>
        <p:txBody>
          <a:bodyPr wrap="square" rtlCol="0" anchor="ctr"/>
          <a:lstStyle/>
          <a:p>
            <a:pPr marL="0" indent="0">
              <a:buNone/>
            </a:pPr>
            <a:r>
              <a:rPr lang="en-US" sz="1400" b="1" kern="0" spc="100" dirty="0">
                <a:solidFill>
                  <a:srgbClr val="FFFFFF"/>
                </a:solidFill>
                <a:latin typeface="Oswald" pitchFamily="34" charset="0"/>
                <a:ea typeface="Oswald" pitchFamily="34" charset="-122"/>
                <a:cs typeface="Oswald" pitchFamily="34" charset="-120"/>
              </a:rPr>
              <a:t>RISK SYSTEM — 3-3 MODEL</a:t>
            </a:r>
            <a:endParaRPr lang="en-US" sz="1400" dirty="0"/>
          </a:p>
        </p:txBody>
      </p:sp>
      <p:sp>
        <p:nvSpPr>
          <p:cNvPr id="22" name="Text 20"/>
          <p:cNvSpPr/>
          <p:nvPr/>
        </p:nvSpPr>
        <p:spPr>
          <a:xfrm>
            <a:off x="822960" y="3840480"/>
            <a:ext cx="5029200" cy="822960"/>
          </a:xfrm>
          <a:prstGeom prst="rect">
            <a:avLst/>
          </a:prstGeom>
          <a:noFill/>
          <a:ln/>
        </p:spPr>
        <p:txBody>
          <a:bodyPr wrap="square" rtlCol="0" anchor="t"/>
          <a:lstStyle/>
          <a:p>
            <a:pPr marL="0" indent="0">
              <a:lnSpc>
                <a:spcPts val="1450"/>
              </a:lnSpc>
              <a:buNone/>
            </a:pPr>
            <a:r>
              <a:rPr lang="en-US" sz="1150" dirty="0">
                <a:solidFill>
                  <a:srgbClr val="EEF1F6"/>
                </a:solidFill>
                <a:latin typeface="Barlow" pitchFamily="34" charset="0"/>
                <a:ea typeface="Barlow" pitchFamily="34" charset="-122"/>
                <a:cs typeface="Barlow" pitchFamily="34" charset="-120"/>
              </a:rPr>
              <a:t>Group A (3 players): 85–100% risk, constant damage. Group B (3 players): 70–85% risk, tactical control without losing aggression.</a:t>
            </a:r>
            <a:endParaRPr lang="en-US" sz="1150" dirty="0"/>
          </a:p>
        </p:txBody>
      </p:sp>
      <p:sp>
        <p:nvSpPr>
          <p:cNvPr id="23" name="Shape 21"/>
          <p:cNvSpPr/>
          <p:nvPr/>
        </p:nvSpPr>
        <p:spPr>
          <a:xfrm>
            <a:off x="6172200" y="3310128"/>
            <a:ext cx="5486400" cy="1417320"/>
          </a:xfrm>
          <a:prstGeom prst="roundRect">
            <a:avLst>
              <a:gd name="adj" fmla="val 4516"/>
            </a:avLst>
          </a:prstGeom>
          <a:solidFill>
            <a:srgbClr val="161D3A"/>
          </a:solidFill>
          <a:ln w="12700">
            <a:solidFill>
              <a:srgbClr val="202A52"/>
            </a:solidFill>
            <a:prstDash val="solid"/>
          </a:ln>
        </p:spPr>
        <p:txBody>
          <a:bodyPr/>
          <a:lstStyle/>
          <a:p>
            <a:endParaRPr lang="es-AR"/>
          </a:p>
        </p:txBody>
      </p:sp>
      <p:sp>
        <p:nvSpPr>
          <p:cNvPr id="24" name="Shape 22"/>
          <p:cNvSpPr/>
          <p:nvPr/>
        </p:nvSpPr>
        <p:spPr>
          <a:xfrm>
            <a:off x="6172200" y="3310128"/>
            <a:ext cx="5486400" cy="82296"/>
          </a:xfrm>
          <a:prstGeom prst="rect">
            <a:avLst/>
          </a:prstGeom>
          <a:solidFill>
            <a:srgbClr val="6D6BE0"/>
          </a:solidFill>
          <a:ln/>
        </p:spPr>
        <p:txBody>
          <a:bodyPr/>
          <a:lstStyle/>
          <a:p>
            <a:endParaRPr lang="es-AR"/>
          </a:p>
        </p:txBody>
      </p:sp>
      <p:sp>
        <p:nvSpPr>
          <p:cNvPr id="25" name="Text 23"/>
          <p:cNvSpPr/>
          <p:nvPr/>
        </p:nvSpPr>
        <p:spPr>
          <a:xfrm>
            <a:off x="6400800" y="3474720"/>
            <a:ext cx="5029200" cy="320040"/>
          </a:xfrm>
          <a:prstGeom prst="rect">
            <a:avLst/>
          </a:prstGeom>
          <a:noFill/>
          <a:ln/>
        </p:spPr>
        <p:txBody>
          <a:bodyPr wrap="square" rtlCol="0" anchor="ctr"/>
          <a:lstStyle/>
          <a:p>
            <a:pPr marL="0" indent="0">
              <a:buNone/>
            </a:pPr>
            <a:r>
              <a:rPr lang="en-US" sz="1400" b="1" kern="0" spc="100" dirty="0">
                <a:solidFill>
                  <a:srgbClr val="FFFFFF"/>
                </a:solidFill>
                <a:latin typeface="Oswald" pitchFamily="34" charset="0"/>
                <a:ea typeface="Oswald" pitchFamily="34" charset="-122"/>
                <a:cs typeface="Oswald" pitchFamily="34" charset="-120"/>
              </a:rPr>
              <a:t>FLOAT SERVE</a:t>
            </a:r>
            <a:endParaRPr lang="en-US" sz="1400" dirty="0"/>
          </a:p>
        </p:txBody>
      </p:sp>
      <p:sp>
        <p:nvSpPr>
          <p:cNvPr id="26" name="Text 24"/>
          <p:cNvSpPr/>
          <p:nvPr/>
        </p:nvSpPr>
        <p:spPr>
          <a:xfrm>
            <a:off x="6400800" y="3840480"/>
            <a:ext cx="5029200" cy="822960"/>
          </a:xfrm>
          <a:prstGeom prst="rect">
            <a:avLst/>
          </a:prstGeom>
          <a:noFill/>
          <a:ln/>
        </p:spPr>
        <p:txBody>
          <a:bodyPr wrap="square" rtlCol="0" anchor="t"/>
          <a:lstStyle/>
          <a:p>
            <a:pPr marL="0" indent="0">
              <a:lnSpc>
                <a:spcPts val="1450"/>
              </a:lnSpc>
              <a:buNone/>
            </a:pPr>
            <a:r>
              <a:rPr lang="en-US" sz="1150" dirty="0">
                <a:solidFill>
                  <a:srgbClr val="EEF1F6"/>
                </a:solidFill>
                <a:latin typeface="Barlow" pitchFamily="34" charset="0"/>
                <a:ea typeface="Barlow" pitchFamily="34" charset="-122"/>
                <a:cs typeface="Barlow" pitchFamily="34" charset="-120"/>
              </a:rPr>
              <a:t>Always tactical — aimed at zones or specific passers. Aggressive, with unstable trajectory and reading of the rival system.</a:t>
            </a:r>
            <a:endParaRPr lang="en-US" sz="1150" dirty="0"/>
          </a:p>
        </p:txBody>
      </p:sp>
      <p:sp>
        <p:nvSpPr>
          <p:cNvPr id="27" name="Shape 25"/>
          <p:cNvSpPr/>
          <p:nvPr/>
        </p:nvSpPr>
        <p:spPr>
          <a:xfrm>
            <a:off x="594360" y="4882896"/>
            <a:ext cx="5486400" cy="1417320"/>
          </a:xfrm>
          <a:prstGeom prst="roundRect">
            <a:avLst>
              <a:gd name="adj" fmla="val 4516"/>
            </a:avLst>
          </a:prstGeom>
          <a:solidFill>
            <a:srgbClr val="161D3A"/>
          </a:solidFill>
          <a:ln w="12700">
            <a:solidFill>
              <a:srgbClr val="202A52"/>
            </a:solidFill>
            <a:prstDash val="solid"/>
          </a:ln>
        </p:spPr>
        <p:txBody>
          <a:bodyPr/>
          <a:lstStyle/>
          <a:p>
            <a:endParaRPr lang="es-AR"/>
          </a:p>
        </p:txBody>
      </p:sp>
      <p:sp>
        <p:nvSpPr>
          <p:cNvPr id="28" name="Shape 26"/>
          <p:cNvSpPr/>
          <p:nvPr/>
        </p:nvSpPr>
        <p:spPr>
          <a:xfrm>
            <a:off x="594360" y="4882896"/>
            <a:ext cx="5486400" cy="82296"/>
          </a:xfrm>
          <a:prstGeom prst="rect">
            <a:avLst/>
          </a:prstGeom>
          <a:solidFill>
            <a:srgbClr val="4543CE"/>
          </a:solidFill>
          <a:ln/>
        </p:spPr>
        <p:txBody>
          <a:bodyPr/>
          <a:lstStyle/>
          <a:p>
            <a:endParaRPr lang="es-AR"/>
          </a:p>
        </p:txBody>
      </p:sp>
      <p:sp>
        <p:nvSpPr>
          <p:cNvPr id="29" name="Text 27"/>
          <p:cNvSpPr/>
          <p:nvPr/>
        </p:nvSpPr>
        <p:spPr>
          <a:xfrm>
            <a:off x="822960" y="5047488"/>
            <a:ext cx="5029200" cy="320040"/>
          </a:xfrm>
          <a:prstGeom prst="rect">
            <a:avLst/>
          </a:prstGeom>
          <a:noFill/>
          <a:ln/>
        </p:spPr>
        <p:txBody>
          <a:bodyPr wrap="square" rtlCol="0" anchor="ctr"/>
          <a:lstStyle/>
          <a:p>
            <a:pPr marL="0" indent="0">
              <a:buNone/>
            </a:pPr>
            <a:r>
              <a:rPr lang="en-US" sz="1400" b="1" kern="0" spc="100" dirty="0">
                <a:solidFill>
                  <a:srgbClr val="FFFFFF"/>
                </a:solidFill>
                <a:latin typeface="Oswald" pitchFamily="34" charset="0"/>
                <a:ea typeface="Oswald" pitchFamily="34" charset="-122"/>
                <a:cs typeface="Oswald" pitchFamily="34" charset="-120"/>
              </a:rPr>
              <a:t>JUMP-SPIN SERVE</a:t>
            </a:r>
            <a:endParaRPr lang="en-US" sz="1400" dirty="0"/>
          </a:p>
        </p:txBody>
      </p:sp>
      <p:sp>
        <p:nvSpPr>
          <p:cNvPr id="30" name="Text 28"/>
          <p:cNvSpPr/>
          <p:nvPr/>
        </p:nvSpPr>
        <p:spPr>
          <a:xfrm>
            <a:off x="822960" y="5413248"/>
            <a:ext cx="5029200" cy="822960"/>
          </a:xfrm>
          <a:prstGeom prst="rect">
            <a:avLst/>
          </a:prstGeom>
          <a:noFill/>
          <a:ln/>
        </p:spPr>
        <p:txBody>
          <a:bodyPr wrap="square" rtlCol="0" anchor="t"/>
          <a:lstStyle/>
          <a:p>
            <a:pPr marL="0" indent="0">
              <a:lnSpc>
                <a:spcPts val="1450"/>
              </a:lnSpc>
              <a:buNone/>
            </a:pPr>
            <a:r>
              <a:rPr lang="en-US" sz="1150" dirty="0">
                <a:solidFill>
                  <a:srgbClr val="EEF1F6"/>
                </a:solidFill>
                <a:latin typeface="Barlow" pitchFamily="34" charset="0"/>
                <a:ea typeface="Barlow" pitchFamily="34" charset="-122"/>
                <a:cs typeface="Barlow" pitchFamily="34" charset="-120"/>
              </a:rPr>
              <a:t>Full: total commitment and confidence, deep to court center. Controlled: in, aimed at a scouted zone.</a:t>
            </a:r>
            <a:endParaRPr lang="en-US" sz="1150" dirty="0"/>
          </a:p>
        </p:txBody>
      </p:sp>
      <p:sp>
        <p:nvSpPr>
          <p:cNvPr id="31" name="Shape 29"/>
          <p:cNvSpPr/>
          <p:nvPr/>
        </p:nvSpPr>
        <p:spPr>
          <a:xfrm>
            <a:off x="6172200" y="4882896"/>
            <a:ext cx="5486400" cy="1417320"/>
          </a:xfrm>
          <a:prstGeom prst="roundRect">
            <a:avLst>
              <a:gd name="adj" fmla="val 4516"/>
            </a:avLst>
          </a:prstGeom>
          <a:solidFill>
            <a:srgbClr val="161D3A"/>
          </a:solidFill>
          <a:ln w="12700">
            <a:solidFill>
              <a:srgbClr val="202A52"/>
            </a:solidFill>
            <a:prstDash val="solid"/>
          </a:ln>
        </p:spPr>
        <p:txBody>
          <a:bodyPr/>
          <a:lstStyle/>
          <a:p>
            <a:endParaRPr lang="es-AR"/>
          </a:p>
        </p:txBody>
      </p:sp>
      <p:sp>
        <p:nvSpPr>
          <p:cNvPr id="32" name="Shape 30"/>
          <p:cNvSpPr/>
          <p:nvPr/>
        </p:nvSpPr>
        <p:spPr>
          <a:xfrm>
            <a:off x="6172200" y="4882896"/>
            <a:ext cx="5486400" cy="82296"/>
          </a:xfrm>
          <a:prstGeom prst="rect">
            <a:avLst/>
          </a:prstGeom>
          <a:solidFill>
            <a:srgbClr val="FCB758"/>
          </a:solidFill>
          <a:ln/>
        </p:spPr>
        <p:txBody>
          <a:bodyPr/>
          <a:lstStyle/>
          <a:p>
            <a:endParaRPr lang="es-AR"/>
          </a:p>
        </p:txBody>
      </p:sp>
      <p:sp>
        <p:nvSpPr>
          <p:cNvPr id="33" name="Text 31"/>
          <p:cNvSpPr/>
          <p:nvPr/>
        </p:nvSpPr>
        <p:spPr>
          <a:xfrm>
            <a:off x="6400800" y="5047488"/>
            <a:ext cx="5029200" cy="320040"/>
          </a:xfrm>
          <a:prstGeom prst="rect">
            <a:avLst/>
          </a:prstGeom>
          <a:noFill/>
          <a:ln/>
        </p:spPr>
        <p:txBody>
          <a:bodyPr wrap="square" rtlCol="0" anchor="ctr"/>
          <a:lstStyle/>
          <a:p>
            <a:pPr marL="0" indent="0">
              <a:buNone/>
            </a:pPr>
            <a:r>
              <a:rPr lang="en-US" sz="1400" b="1" kern="0" spc="100" dirty="0">
                <a:solidFill>
                  <a:srgbClr val="FFFFFF"/>
                </a:solidFill>
                <a:latin typeface="Oswald" pitchFamily="34" charset="0"/>
                <a:ea typeface="Oswald" pitchFamily="34" charset="-122"/>
                <a:cs typeface="Oswald" pitchFamily="34" charset="-120"/>
              </a:rPr>
              <a:t>ERROR &amp; RISK MANAGEMENT</a:t>
            </a:r>
            <a:endParaRPr lang="en-US" sz="1400" dirty="0"/>
          </a:p>
        </p:txBody>
      </p:sp>
      <p:sp>
        <p:nvSpPr>
          <p:cNvPr id="34" name="Text 32"/>
          <p:cNvSpPr/>
          <p:nvPr/>
        </p:nvSpPr>
        <p:spPr>
          <a:xfrm>
            <a:off x="6400800" y="5413248"/>
            <a:ext cx="5029200" cy="822960"/>
          </a:xfrm>
          <a:prstGeom prst="rect">
            <a:avLst/>
          </a:prstGeom>
          <a:noFill/>
          <a:ln/>
        </p:spPr>
        <p:txBody>
          <a:bodyPr wrap="square" rtlCol="0" anchor="t"/>
          <a:lstStyle/>
          <a:p>
            <a:pPr marL="0" indent="0">
              <a:lnSpc>
                <a:spcPts val="1450"/>
              </a:lnSpc>
              <a:buNone/>
            </a:pPr>
            <a:r>
              <a:rPr lang="en-US" sz="1150" dirty="0">
                <a:solidFill>
                  <a:srgbClr val="EEF1F6"/>
                </a:solidFill>
                <a:latin typeface="Barlow" pitchFamily="34" charset="0"/>
                <a:ea typeface="Barlow" pitchFamily="34" charset="-122"/>
                <a:cs typeface="Barlow" pitchFamily="34" charset="-120"/>
              </a:rPr>
              <a:t>Max 4 errors per set (does not license raising risk above profile). No two missed serves in a row. Individual risk is set before each match — master more than one serve from any spot.</a:t>
            </a:r>
            <a:endParaRPr lang="en-US" sz="1150" dirty="0"/>
          </a:p>
        </p:txBody>
      </p:sp>
      <p:sp>
        <p:nvSpPr>
          <p:cNvPr id="35" name="Shape 33"/>
          <p:cNvSpPr/>
          <p:nvPr/>
        </p:nvSpPr>
        <p:spPr>
          <a:xfrm>
            <a:off x="0" y="6620256"/>
            <a:ext cx="12161520" cy="54864"/>
          </a:xfrm>
          <a:prstGeom prst="rect">
            <a:avLst/>
          </a:prstGeom>
          <a:solidFill>
            <a:srgbClr val="161D3A"/>
          </a:solidFill>
          <a:ln/>
        </p:spPr>
        <p:txBody>
          <a:bodyPr/>
          <a:lstStyle/>
          <a:p>
            <a:endParaRPr lang="es-AR"/>
          </a:p>
        </p:txBody>
      </p:sp>
      <p:sp>
        <p:nvSpPr>
          <p:cNvPr id="36" name="Text 34"/>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37" name="Text 35"/>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14</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07</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CONCEPT &amp; SYSTEM</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Reception</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37360"/>
            <a:ext cx="11109960" cy="1051560"/>
          </a:xfrm>
          <a:prstGeom prst="roundRect">
            <a:avLst>
              <a:gd name="adj" fmla="val 6087"/>
            </a:avLst>
          </a:prstGeom>
          <a:solidFill>
            <a:srgbClr val="161D3A"/>
          </a:solidFill>
          <a:ln w="12700">
            <a:solidFill>
              <a:srgbClr val="202A52"/>
            </a:solidFill>
            <a:prstDash val="solid"/>
          </a:ln>
        </p:spPr>
        <p:txBody>
          <a:bodyPr/>
          <a:lstStyle/>
          <a:p>
            <a:endParaRPr lang="es-AR"/>
          </a:p>
        </p:txBody>
      </p:sp>
      <p:sp>
        <p:nvSpPr>
          <p:cNvPr id="12" name="Shape 10"/>
          <p:cNvSpPr/>
          <p:nvPr/>
        </p:nvSpPr>
        <p:spPr>
          <a:xfrm>
            <a:off x="594360" y="1737360"/>
            <a:ext cx="11109960" cy="82296"/>
          </a:xfrm>
          <a:prstGeom prst="rect">
            <a:avLst/>
          </a:prstGeom>
          <a:solidFill>
            <a:srgbClr val="FB385B"/>
          </a:solidFill>
          <a:ln/>
        </p:spPr>
        <p:txBody>
          <a:bodyPr/>
          <a:lstStyle/>
          <a:p>
            <a:endParaRPr lang="es-AR"/>
          </a:p>
        </p:txBody>
      </p:sp>
      <p:sp>
        <p:nvSpPr>
          <p:cNvPr id="13" name="Text 11"/>
          <p:cNvSpPr/>
          <p:nvPr/>
        </p:nvSpPr>
        <p:spPr>
          <a:xfrm>
            <a:off x="822960" y="1883664"/>
            <a:ext cx="10607040" cy="32004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GENERAL PRINCIPLES</a:t>
            </a:r>
            <a:endParaRPr lang="en-US" sz="1500" dirty="0"/>
          </a:p>
        </p:txBody>
      </p:sp>
      <p:sp>
        <p:nvSpPr>
          <p:cNvPr id="14" name="Text 12"/>
          <p:cNvSpPr/>
          <p:nvPr/>
        </p:nvSpPr>
        <p:spPr>
          <a:xfrm>
            <a:off x="822960" y="2231136"/>
            <a:ext cx="10698480" cy="502920"/>
          </a:xfrm>
          <a:prstGeom prst="rect">
            <a:avLst/>
          </a:prstGeom>
          <a:noFill/>
          <a:ln/>
        </p:spPr>
        <p:txBody>
          <a:bodyPr wrap="square" rtlCol="0" anchor="t"/>
          <a:lstStyle/>
          <a:p>
            <a:pPr marL="0" indent="0">
              <a:lnSpc>
                <a:spcPts val="1500"/>
              </a:lnSpc>
              <a:buNone/>
            </a:pPr>
            <a:r>
              <a:rPr lang="en-US" sz="1200" dirty="0">
                <a:solidFill>
                  <a:srgbClr val="EEF1F6"/>
                </a:solidFill>
                <a:latin typeface="Barlow" pitchFamily="34" charset="0"/>
                <a:ea typeface="Barlow" pitchFamily="34" charset="-122"/>
                <a:cs typeface="Barlow" pitchFamily="34" charset="-120"/>
              </a:rPr>
              <a:t>Neutralize the rival serve and deliver a high, stable, centered ball so the setter keeps two real options. The system depends on our passers' profile and the rival serve. Push the lines up and shrink the court on floats to pass overhead.</a:t>
            </a:r>
            <a:endParaRPr lang="en-US" sz="1200" dirty="0"/>
          </a:p>
        </p:txBody>
      </p:sp>
      <p:sp>
        <p:nvSpPr>
          <p:cNvPr id="15" name="Shape 13"/>
          <p:cNvSpPr/>
          <p:nvPr/>
        </p:nvSpPr>
        <p:spPr>
          <a:xfrm>
            <a:off x="594360" y="2907792"/>
            <a:ext cx="11109960" cy="1051560"/>
          </a:xfrm>
          <a:prstGeom prst="roundRect">
            <a:avLst>
              <a:gd name="adj" fmla="val 6087"/>
            </a:avLst>
          </a:prstGeom>
          <a:solidFill>
            <a:srgbClr val="161D3A"/>
          </a:solidFill>
          <a:ln w="12700">
            <a:solidFill>
              <a:srgbClr val="202A52"/>
            </a:solidFill>
            <a:prstDash val="solid"/>
          </a:ln>
        </p:spPr>
        <p:txBody>
          <a:bodyPr/>
          <a:lstStyle/>
          <a:p>
            <a:endParaRPr lang="es-AR"/>
          </a:p>
        </p:txBody>
      </p:sp>
      <p:sp>
        <p:nvSpPr>
          <p:cNvPr id="16" name="Shape 14"/>
          <p:cNvSpPr/>
          <p:nvPr/>
        </p:nvSpPr>
        <p:spPr>
          <a:xfrm>
            <a:off x="594360" y="2907792"/>
            <a:ext cx="11109960" cy="82296"/>
          </a:xfrm>
          <a:prstGeom prst="rect">
            <a:avLst/>
          </a:prstGeom>
          <a:solidFill>
            <a:srgbClr val="FCB758"/>
          </a:solidFill>
          <a:ln/>
        </p:spPr>
        <p:txBody>
          <a:bodyPr/>
          <a:lstStyle/>
          <a:p>
            <a:endParaRPr lang="es-AR"/>
          </a:p>
        </p:txBody>
      </p:sp>
      <p:sp>
        <p:nvSpPr>
          <p:cNvPr id="17" name="Text 15"/>
          <p:cNvSpPr/>
          <p:nvPr/>
        </p:nvSpPr>
        <p:spPr>
          <a:xfrm>
            <a:off x="822960" y="3054096"/>
            <a:ext cx="10607040" cy="32004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VS JUMP-SPIN SERVE</a:t>
            </a:r>
            <a:endParaRPr lang="en-US" sz="1500" dirty="0"/>
          </a:p>
        </p:txBody>
      </p:sp>
      <p:sp>
        <p:nvSpPr>
          <p:cNvPr id="18" name="Text 16"/>
          <p:cNvSpPr/>
          <p:nvPr/>
        </p:nvSpPr>
        <p:spPr>
          <a:xfrm>
            <a:off x="822960" y="3401568"/>
            <a:ext cx="10698480" cy="502920"/>
          </a:xfrm>
          <a:prstGeom prst="rect">
            <a:avLst/>
          </a:prstGeom>
          <a:noFill/>
          <a:ln/>
        </p:spPr>
        <p:txBody>
          <a:bodyPr wrap="square" rtlCol="0" anchor="t"/>
          <a:lstStyle/>
          <a:p>
            <a:pPr marL="0" indent="0">
              <a:lnSpc>
                <a:spcPts val="1500"/>
              </a:lnSpc>
              <a:buNone/>
            </a:pPr>
            <a:r>
              <a:rPr lang="en-US" sz="1200" dirty="0">
                <a:solidFill>
                  <a:srgbClr val="EEF1F6"/>
                </a:solidFill>
                <a:latin typeface="Barlow" pitchFamily="34" charset="0"/>
                <a:ea typeface="Barlow" pitchFamily="34" charset="-122"/>
                <a:cs typeface="Barlow" pitchFamily="34" charset="-120"/>
              </a:rPr>
              <a:t>Firm platform, body aligned behind the ball, no hip rotation or loose arms. 3-passer system with constant zone communication. Setter and middle alert to the short serve and net deflections. Goal: height + control, always to ZONE 3.</a:t>
            </a:r>
            <a:endParaRPr lang="en-US" sz="1200" dirty="0"/>
          </a:p>
        </p:txBody>
      </p:sp>
      <p:sp>
        <p:nvSpPr>
          <p:cNvPr id="19" name="Shape 17"/>
          <p:cNvSpPr/>
          <p:nvPr/>
        </p:nvSpPr>
        <p:spPr>
          <a:xfrm>
            <a:off x="594360" y="4078224"/>
            <a:ext cx="11109960" cy="1051560"/>
          </a:xfrm>
          <a:prstGeom prst="roundRect">
            <a:avLst>
              <a:gd name="adj" fmla="val 6087"/>
            </a:avLst>
          </a:prstGeom>
          <a:solidFill>
            <a:srgbClr val="161D3A"/>
          </a:solidFill>
          <a:ln w="12700">
            <a:solidFill>
              <a:srgbClr val="202A52"/>
            </a:solidFill>
            <a:prstDash val="solid"/>
          </a:ln>
        </p:spPr>
        <p:txBody>
          <a:bodyPr/>
          <a:lstStyle/>
          <a:p>
            <a:endParaRPr lang="es-AR"/>
          </a:p>
        </p:txBody>
      </p:sp>
      <p:sp>
        <p:nvSpPr>
          <p:cNvPr id="20" name="Shape 18"/>
          <p:cNvSpPr/>
          <p:nvPr/>
        </p:nvSpPr>
        <p:spPr>
          <a:xfrm>
            <a:off x="594360" y="4078224"/>
            <a:ext cx="11109960" cy="82296"/>
          </a:xfrm>
          <a:prstGeom prst="rect">
            <a:avLst/>
          </a:prstGeom>
          <a:solidFill>
            <a:srgbClr val="FFD24A"/>
          </a:solidFill>
          <a:ln/>
        </p:spPr>
        <p:txBody>
          <a:bodyPr/>
          <a:lstStyle/>
          <a:p>
            <a:endParaRPr lang="es-AR"/>
          </a:p>
        </p:txBody>
      </p:sp>
      <p:sp>
        <p:nvSpPr>
          <p:cNvPr id="21" name="Text 19"/>
          <p:cNvSpPr/>
          <p:nvPr/>
        </p:nvSpPr>
        <p:spPr>
          <a:xfrm>
            <a:off x="822960" y="4224528"/>
            <a:ext cx="10607040" cy="32004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VS FLOAT SERVE</a:t>
            </a:r>
            <a:endParaRPr lang="en-US" sz="1500" dirty="0"/>
          </a:p>
        </p:txBody>
      </p:sp>
      <p:sp>
        <p:nvSpPr>
          <p:cNvPr id="22" name="Text 20"/>
          <p:cNvSpPr/>
          <p:nvPr/>
        </p:nvSpPr>
        <p:spPr>
          <a:xfrm>
            <a:off x="822960" y="4572000"/>
            <a:ext cx="10698480" cy="502920"/>
          </a:xfrm>
          <a:prstGeom prst="rect">
            <a:avLst/>
          </a:prstGeom>
          <a:noFill/>
          <a:ln/>
        </p:spPr>
        <p:txBody>
          <a:bodyPr wrap="square" rtlCol="0" anchor="t"/>
          <a:lstStyle/>
          <a:p>
            <a:pPr marL="0" indent="0">
              <a:lnSpc>
                <a:spcPts val="1500"/>
              </a:lnSpc>
              <a:buNone/>
            </a:pPr>
            <a:r>
              <a:rPr lang="en-US" sz="1200" dirty="0">
                <a:solidFill>
                  <a:srgbClr val="EEF1F6"/>
                </a:solidFill>
                <a:latin typeface="Barlow" pitchFamily="34" charset="0"/>
                <a:ea typeface="Barlow" pitchFamily="34" charset="-122"/>
                <a:cs typeface="Barlow" pitchFamily="34" charset="-120"/>
              </a:rPr>
              <a:t>Two main passers with high responsibility. We shrink the front pin's zone to free him to attack. Ready to pass sideways, opening hips and lifting the platform. Overhand passing enabled.</a:t>
            </a:r>
            <a:endParaRPr lang="en-US" sz="1200" dirty="0"/>
          </a:p>
        </p:txBody>
      </p:sp>
      <p:sp>
        <p:nvSpPr>
          <p:cNvPr id="23" name="Shape 21"/>
          <p:cNvSpPr/>
          <p:nvPr/>
        </p:nvSpPr>
        <p:spPr>
          <a:xfrm>
            <a:off x="594360" y="5248656"/>
            <a:ext cx="11109960" cy="1051560"/>
          </a:xfrm>
          <a:prstGeom prst="roundRect">
            <a:avLst>
              <a:gd name="adj" fmla="val 6087"/>
            </a:avLst>
          </a:prstGeom>
          <a:solidFill>
            <a:srgbClr val="161D3A"/>
          </a:solidFill>
          <a:ln w="12700">
            <a:solidFill>
              <a:srgbClr val="202A52"/>
            </a:solidFill>
            <a:prstDash val="solid"/>
          </a:ln>
        </p:spPr>
        <p:txBody>
          <a:bodyPr/>
          <a:lstStyle/>
          <a:p>
            <a:endParaRPr lang="es-AR"/>
          </a:p>
        </p:txBody>
      </p:sp>
      <p:sp>
        <p:nvSpPr>
          <p:cNvPr id="24" name="Shape 22"/>
          <p:cNvSpPr/>
          <p:nvPr/>
        </p:nvSpPr>
        <p:spPr>
          <a:xfrm>
            <a:off x="594360" y="5248656"/>
            <a:ext cx="11109960" cy="82296"/>
          </a:xfrm>
          <a:prstGeom prst="rect">
            <a:avLst/>
          </a:prstGeom>
          <a:solidFill>
            <a:srgbClr val="6D6BE0"/>
          </a:solidFill>
          <a:ln/>
        </p:spPr>
        <p:txBody>
          <a:bodyPr/>
          <a:lstStyle/>
          <a:p>
            <a:endParaRPr lang="es-AR"/>
          </a:p>
        </p:txBody>
      </p:sp>
      <p:sp>
        <p:nvSpPr>
          <p:cNvPr id="25" name="Text 23"/>
          <p:cNvSpPr/>
          <p:nvPr/>
        </p:nvSpPr>
        <p:spPr>
          <a:xfrm>
            <a:off x="822960" y="5394960"/>
            <a:ext cx="10607040" cy="32004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FLEXIBILITY &amp; ADAPTABILITY</a:t>
            </a:r>
            <a:endParaRPr lang="en-US" sz="1500" dirty="0"/>
          </a:p>
        </p:txBody>
      </p:sp>
      <p:sp>
        <p:nvSpPr>
          <p:cNvPr id="26" name="Text 24"/>
          <p:cNvSpPr/>
          <p:nvPr/>
        </p:nvSpPr>
        <p:spPr>
          <a:xfrm>
            <a:off x="822960" y="5742432"/>
            <a:ext cx="10698480" cy="502920"/>
          </a:xfrm>
          <a:prstGeom prst="rect">
            <a:avLst/>
          </a:prstGeom>
          <a:noFill/>
          <a:ln/>
        </p:spPr>
        <p:txBody>
          <a:bodyPr wrap="square" rtlCol="0" anchor="t"/>
          <a:lstStyle/>
          <a:p>
            <a:pPr marL="0" indent="0">
              <a:lnSpc>
                <a:spcPts val="1500"/>
              </a:lnSpc>
              <a:buNone/>
            </a:pPr>
            <a:r>
              <a:rPr lang="en-US" sz="1200" dirty="0">
                <a:solidFill>
                  <a:srgbClr val="EEF1F6"/>
                </a:solidFill>
                <a:latin typeface="Barlow" pitchFamily="34" charset="0"/>
                <a:ea typeface="Barlow" pitchFamily="34" charset="-122"/>
                <a:cs typeface="Barlow" pitchFamily="34" charset="-120"/>
              </a:rPr>
              <a:t>Systems are dynamic tools: they shift by rotation, momentum, performance or serve type. We use whatever combination works best for the team at that moment.</a:t>
            </a:r>
            <a:endParaRPr lang="en-US" sz="1200" dirty="0"/>
          </a:p>
        </p:txBody>
      </p:sp>
      <p:sp>
        <p:nvSpPr>
          <p:cNvPr id="27" name="Shape 25"/>
          <p:cNvSpPr/>
          <p:nvPr/>
        </p:nvSpPr>
        <p:spPr>
          <a:xfrm>
            <a:off x="0" y="6620256"/>
            <a:ext cx="12161520" cy="54864"/>
          </a:xfrm>
          <a:prstGeom prst="rect">
            <a:avLst/>
          </a:prstGeom>
          <a:solidFill>
            <a:srgbClr val="161D3A"/>
          </a:solidFill>
          <a:ln/>
        </p:spPr>
        <p:txBody>
          <a:bodyPr/>
          <a:lstStyle/>
          <a:p>
            <a:endParaRPr lang="es-AR"/>
          </a:p>
        </p:txBody>
      </p:sp>
      <p:sp>
        <p:nvSpPr>
          <p:cNvPr id="28" name="Text 26"/>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9" name="Text 27"/>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08</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PLAY FREE</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Error Management</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777240" y="1828800"/>
            <a:ext cx="118872" cy="118872"/>
          </a:xfrm>
          <a:prstGeom prst="rect">
            <a:avLst/>
          </a:prstGeom>
          <a:solidFill>
            <a:srgbClr val="FB385B"/>
          </a:solidFill>
          <a:ln/>
        </p:spPr>
        <p:txBody>
          <a:bodyPr/>
          <a:lstStyle/>
          <a:p>
            <a:endParaRPr lang="es-AR"/>
          </a:p>
        </p:txBody>
      </p:sp>
      <p:sp>
        <p:nvSpPr>
          <p:cNvPr id="12" name="Text 10"/>
          <p:cNvSpPr/>
          <p:nvPr/>
        </p:nvSpPr>
        <p:spPr>
          <a:xfrm>
            <a:off x="1033272" y="1764792"/>
            <a:ext cx="10625328" cy="457200"/>
          </a:xfrm>
          <a:prstGeom prst="rect">
            <a:avLst/>
          </a:prstGeom>
          <a:noFill/>
          <a:ln/>
        </p:spPr>
        <p:txBody>
          <a:bodyPr wrap="square" rtlCol="0" anchor="t"/>
          <a:lstStyle/>
          <a:p>
            <a:pPr marL="0" indent="0">
              <a:lnSpc>
                <a:spcPts val="2048"/>
              </a:lnSpc>
              <a:buNone/>
            </a:pPr>
            <a:r>
              <a:rPr lang="en-US" sz="1600" b="1" dirty="0">
                <a:solidFill>
                  <a:srgbClr val="FFFFFF"/>
                </a:solidFill>
                <a:latin typeface="Barlow" pitchFamily="34" charset="0"/>
                <a:ea typeface="Barlow" pitchFamily="34" charset="-122"/>
                <a:cs typeface="Barlow" pitchFamily="34" charset="-120"/>
              </a:rPr>
              <a:t>The error is information.</a:t>
            </a:r>
            <a:r>
              <a:rPr lang="en-US" sz="1600" dirty="0">
                <a:solidFill>
                  <a:srgbClr val="EEF1F6"/>
                </a:solidFill>
                <a:latin typeface="Barlow" pitchFamily="34" charset="0"/>
                <a:ea typeface="Barlow" pitchFamily="34" charset="-122"/>
                <a:cs typeface="Barlow" pitchFamily="34" charset="-120"/>
              </a:rPr>
              <a:t> It never stops aggression. Always have a reason why.</a:t>
            </a:r>
            <a:endParaRPr lang="en-US" sz="1600" dirty="0"/>
          </a:p>
        </p:txBody>
      </p:sp>
      <p:sp>
        <p:nvSpPr>
          <p:cNvPr id="13" name="Shape 11"/>
          <p:cNvSpPr/>
          <p:nvPr/>
        </p:nvSpPr>
        <p:spPr>
          <a:xfrm>
            <a:off x="777240" y="2377440"/>
            <a:ext cx="5394960" cy="548640"/>
          </a:xfrm>
          <a:prstGeom prst="roundRect">
            <a:avLst>
              <a:gd name="adj" fmla="val 10000"/>
            </a:avLst>
          </a:prstGeom>
          <a:solidFill>
            <a:srgbClr val="161D3A"/>
          </a:solidFill>
          <a:ln w="12700">
            <a:solidFill>
              <a:srgbClr val="FCB758"/>
            </a:solidFill>
            <a:prstDash val="solid"/>
          </a:ln>
        </p:spPr>
        <p:txBody>
          <a:bodyPr/>
          <a:lstStyle/>
          <a:p>
            <a:endParaRPr lang="es-AR"/>
          </a:p>
        </p:txBody>
      </p:sp>
      <p:sp>
        <p:nvSpPr>
          <p:cNvPr id="14" name="Text 12"/>
          <p:cNvSpPr/>
          <p:nvPr/>
        </p:nvSpPr>
        <p:spPr>
          <a:xfrm>
            <a:off x="1005840" y="2377440"/>
            <a:ext cx="5029200" cy="548640"/>
          </a:xfrm>
          <a:prstGeom prst="rect">
            <a:avLst/>
          </a:prstGeom>
          <a:noFill/>
          <a:ln/>
        </p:spPr>
        <p:txBody>
          <a:bodyPr wrap="square" rtlCol="0" anchor="ctr"/>
          <a:lstStyle/>
          <a:p>
            <a:pPr marL="0" indent="0">
              <a:buNone/>
            </a:pPr>
            <a:r>
              <a:rPr lang="en-US" sz="1300" b="1" dirty="0">
                <a:solidFill>
                  <a:srgbClr val="FCB758"/>
                </a:solidFill>
                <a:latin typeface="Oswald" pitchFamily="34" charset="0"/>
                <a:ea typeface="Oswald" pitchFamily="34" charset="-122"/>
                <a:cs typeface="Oswald" pitchFamily="34" charset="-120"/>
              </a:rPr>
              <a:t>TECHNICAL ERROR  →  </a:t>
            </a:r>
            <a:r>
              <a:rPr lang="en-US" sz="1300" dirty="0">
                <a:solidFill>
                  <a:srgbClr val="EEF1F6"/>
                </a:solidFill>
                <a:latin typeface="Barlow" pitchFamily="34" charset="0"/>
                <a:ea typeface="Barlow" pitchFamily="34" charset="-122"/>
                <a:cs typeface="Barlow" pitchFamily="34" charset="-120"/>
              </a:rPr>
              <a:t>gesture execution</a:t>
            </a:r>
            <a:endParaRPr lang="en-US" sz="1300" dirty="0"/>
          </a:p>
        </p:txBody>
      </p:sp>
      <p:sp>
        <p:nvSpPr>
          <p:cNvPr id="15" name="Shape 13"/>
          <p:cNvSpPr/>
          <p:nvPr/>
        </p:nvSpPr>
        <p:spPr>
          <a:xfrm>
            <a:off x="6309360" y="2377440"/>
            <a:ext cx="5394960" cy="548640"/>
          </a:xfrm>
          <a:prstGeom prst="roundRect">
            <a:avLst>
              <a:gd name="adj" fmla="val 10000"/>
            </a:avLst>
          </a:prstGeom>
          <a:solidFill>
            <a:srgbClr val="161D3A"/>
          </a:solidFill>
          <a:ln w="12700">
            <a:solidFill>
              <a:srgbClr val="6D6BE0"/>
            </a:solidFill>
            <a:prstDash val="solid"/>
          </a:ln>
        </p:spPr>
        <p:txBody>
          <a:bodyPr/>
          <a:lstStyle/>
          <a:p>
            <a:endParaRPr lang="es-AR"/>
          </a:p>
        </p:txBody>
      </p:sp>
      <p:sp>
        <p:nvSpPr>
          <p:cNvPr id="16" name="Text 14"/>
          <p:cNvSpPr/>
          <p:nvPr/>
        </p:nvSpPr>
        <p:spPr>
          <a:xfrm>
            <a:off x="6537960" y="2377440"/>
            <a:ext cx="5029200" cy="548640"/>
          </a:xfrm>
          <a:prstGeom prst="rect">
            <a:avLst/>
          </a:prstGeom>
          <a:noFill/>
          <a:ln/>
        </p:spPr>
        <p:txBody>
          <a:bodyPr wrap="square" rtlCol="0" anchor="ctr"/>
          <a:lstStyle/>
          <a:p>
            <a:pPr marL="0" indent="0">
              <a:buNone/>
            </a:pPr>
            <a:r>
              <a:rPr lang="en-US" sz="1300" b="1" dirty="0">
                <a:solidFill>
                  <a:srgbClr val="6D6BE0"/>
                </a:solidFill>
                <a:latin typeface="Oswald" pitchFamily="34" charset="0"/>
                <a:ea typeface="Oswald" pitchFamily="34" charset="-122"/>
                <a:cs typeface="Oswald" pitchFamily="34" charset="-120"/>
              </a:rPr>
              <a:t>TACTICAL ERROR  →  </a:t>
            </a:r>
            <a:r>
              <a:rPr lang="en-US" sz="1300" dirty="0">
                <a:solidFill>
                  <a:srgbClr val="EEF1F6"/>
                </a:solidFill>
                <a:latin typeface="Barlow" pitchFamily="34" charset="0"/>
                <a:ea typeface="Barlow" pitchFamily="34" charset="-122"/>
                <a:cs typeface="Barlow" pitchFamily="34" charset="-120"/>
              </a:rPr>
              <a:t>decision in context</a:t>
            </a:r>
            <a:endParaRPr lang="en-US" sz="1300" dirty="0"/>
          </a:p>
        </p:txBody>
      </p:sp>
      <p:sp>
        <p:nvSpPr>
          <p:cNvPr id="17" name="Shape 15"/>
          <p:cNvSpPr/>
          <p:nvPr/>
        </p:nvSpPr>
        <p:spPr>
          <a:xfrm>
            <a:off x="777240" y="3200400"/>
            <a:ext cx="118872" cy="118872"/>
          </a:xfrm>
          <a:prstGeom prst="rect">
            <a:avLst/>
          </a:prstGeom>
          <a:solidFill>
            <a:srgbClr val="FB385B"/>
          </a:solidFill>
          <a:ln/>
        </p:spPr>
        <p:txBody>
          <a:bodyPr/>
          <a:lstStyle/>
          <a:p>
            <a:endParaRPr lang="es-AR"/>
          </a:p>
        </p:txBody>
      </p:sp>
      <p:sp>
        <p:nvSpPr>
          <p:cNvPr id="18" name="Text 16"/>
          <p:cNvSpPr/>
          <p:nvPr/>
        </p:nvSpPr>
        <p:spPr>
          <a:xfrm>
            <a:off x="1033272" y="3136392"/>
            <a:ext cx="10625328" cy="457200"/>
          </a:xfrm>
          <a:prstGeom prst="rect">
            <a:avLst/>
          </a:prstGeom>
          <a:noFill/>
          <a:ln/>
        </p:spPr>
        <p:txBody>
          <a:bodyPr wrap="square" rtlCol="0" anchor="t"/>
          <a:lstStyle/>
          <a:p>
            <a:pPr marL="0" indent="0">
              <a:lnSpc>
                <a:spcPts val="1700"/>
              </a:lnSpc>
              <a:buNone/>
            </a:pPr>
            <a:r>
              <a:rPr lang="en-US" sz="1350" dirty="0">
                <a:solidFill>
                  <a:srgbClr val="EEF1F6"/>
                </a:solidFill>
                <a:latin typeface="Barlow" pitchFamily="34" charset="0"/>
                <a:ea typeface="Barlow" pitchFamily="34" charset="-122"/>
                <a:cs typeface="Barlow" pitchFamily="34" charset="-120"/>
              </a:rPr>
              <a:t>A hard, deep hit is a good error; a block-out on a high ball from closing the swing is a bad one — technical and tactical.</a:t>
            </a:r>
            <a:endParaRPr lang="en-US" sz="1350" dirty="0"/>
          </a:p>
        </p:txBody>
      </p:sp>
      <p:sp>
        <p:nvSpPr>
          <p:cNvPr id="19" name="Shape 17"/>
          <p:cNvSpPr/>
          <p:nvPr/>
        </p:nvSpPr>
        <p:spPr>
          <a:xfrm>
            <a:off x="777240" y="3778284"/>
            <a:ext cx="10927080" cy="548640"/>
          </a:xfrm>
          <a:prstGeom prst="roundRect">
            <a:avLst>
              <a:gd name="adj" fmla="val 10000"/>
            </a:avLst>
          </a:prstGeom>
          <a:solidFill>
            <a:srgbClr val="202A52"/>
          </a:solidFill>
          <a:ln/>
        </p:spPr>
        <p:txBody>
          <a:bodyPr/>
          <a:lstStyle/>
          <a:p>
            <a:endParaRPr lang="es-AR"/>
          </a:p>
        </p:txBody>
      </p:sp>
      <p:sp>
        <p:nvSpPr>
          <p:cNvPr id="20" name="Text 18"/>
          <p:cNvSpPr/>
          <p:nvPr/>
        </p:nvSpPr>
        <p:spPr>
          <a:xfrm>
            <a:off x="1005840" y="3794760"/>
            <a:ext cx="10515600" cy="548640"/>
          </a:xfrm>
          <a:prstGeom prst="rect">
            <a:avLst/>
          </a:prstGeom>
          <a:noFill/>
          <a:ln/>
        </p:spPr>
        <p:txBody>
          <a:bodyPr wrap="square" rtlCol="0" anchor="ctr"/>
          <a:lstStyle/>
          <a:p>
            <a:pPr marL="0" indent="0">
              <a:buNone/>
            </a:pPr>
            <a:r>
              <a:rPr lang="en-US" sz="1400" b="1" dirty="0">
                <a:solidFill>
                  <a:srgbClr val="FFD24A"/>
                </a:solidFill>
                <a:latin typeface="Oswald" pitchFamily="34" charset="0"/>
                <a:ea typeface="Oswald" pitchFamily="34" charset="-122"/>
                <a:cs typeface="Oswald" pitchFamily="34" charset="-120"/>
              </a:rPr>
              <a:t>TEAM KEY   </a:t>
            </a:r>
            <a:r>
              <a:rPr lang="en-US" sz="1400" b="1" dirty="0">
                <a:solidFill>
                  <a:srgbClr val="FFFFFF"/>
                </a:solidFill>
                <a:latin typeface="Barlow" pitchFamily="34" charset="0"/>
                <a:ea typeface="Barlow" pitchFamily="34" charset="-122"/>
                <a:cs typeface="Barlow" pitchFamily="34" charset="-120"/>
              </a:rPr>
              <a:t>Play aggressive, with intent and no fear of failing.</a:t>
            </a:r>
            <a:endParaRPr lang="en-US" sz="1400" dirty="0"/>
          </a:p>
        </p:txBody>
      </p:sp>
      <p:sp>
        <p:nvSpPr>
          <p:cNvPr id="21" name="Text 19"/>
          <p:cNvSpPr/>
          <p:nvPr/>
        </p:nvSpPr>
        <p:spPr>
          <a:xfrm>
            <a:off x="777240" y="4526280"/>
            <a:ext cx="5486400" cy="320040"/>
          </a:xfrm>
          <a:prstGeom prst="rect">
            <a:avLst/>
          </a:prstGeom>
          <a:noFill/>
          <a:ln/>
        </p:spPr>
        <p:txBody>
          <a:bodyPr wrap="square" rtlCol="0" anchor="ctr"/>
          <a:lstStyle/>
          <a:p>
            <a:pPr marL="0" indent="0">
              <a:buNone/>
            </a:pPr>
            <a:r>
              <a:rPr lang="en-US" sz="1500" b="1" kern="0" spc="100" dirty="0">
                <a:solidFill>
                  <a:srgbClr val="FCB758"/>
                </a:solidFill>
                <a:latin typeface="Oswald" pitchFamily="34" charset="0"/>
                <a:ea typeface="Oswald" pitchFamily="34" charset="-122"/>
                <a:cs typeface="Oswald" pitchFamily="34" charset="-120"/>
              </a:rPr>
              <a:t>CRITICAL MOMENTS</a:t>
            </a:r>
            <a:endParaRPr lang="en-US" sz="1500" dirty="0"/>
          </a:p>
        </p:txBody>
      </p:sp>
      <p:sp>
        <p:nvSpPr>
          <p:cNvPr id="22" name="Shape 20"/>
          <p:cNvSpPr/>
          <p:nvPr/>
        </p:nvSpPr>
        <p:spPr>
          <a:xfrm>
            <a:off x="914400" y="4983480"/>
            <a:ext cx="118872" cy="118872"/>
          </a:xfrm>
          <a:prstGeom prst="rect">
            <a:avLst/>
          </a:prstGeom>
          <a:solidFill>
            <a:srgbClr val="4543CE"/>
          </a:solidFill>
          <a:ln/>
        </p:spPr>
        <p:txBody>
          <a:bodyPr/>
          <a:lstStyle/>
          <a:p>
            <a:endParaRPr lang="es-AR"/>
          </a:p>
        </p:txBody>
      </p:sp>
      <p:sp>
        <p:nvSpPr>
          <p:cNvPr id="23" name="Text 21"/>
          <p:cNvSpPr/>
          <p:nvPr/>
        </p:nvSpPr>
        <p:spPr>
          <a:xfrm>
            <a:off x="1170432" y="4919472"/>
            <a:ext cx="10442448" cy="457200"/>
          </a:xfrm>
          <a:prstGeom prst="rect">
            <a:avLst/>
          </a:prstGeom>
          <a:noFill/>
          <a:ln/>
        </p:spPr>
        <p:txBody>
          <a:bodyPr wrap="square" rtlCol="0" anchor="t"/>
          <a:lstStyle/>
          <a:p>
            <a:pPr marL="0" indent="0">
              <a:lnSpc>
                <a:spcPts val="1600"/>
              </a:lnSpc>
              <a:buNone/>
            </a:pPr>
            <a:r>
              <a:rPr lang="en-US" sz="1250" dirty="0">
                <a:solidFill>
                  <a:srgbClr val="EEF1F6"/>
                </a:solidFill>
                <a:latin typeface="Barlow" pitchFamily="34" charset="0"/>
                <a:ea typeface="Barlow" pitchFamily="34" charset="-122"/>
                <a:cs typeface="Barlow" pitchFamily="34" charset="-120"/>
              </a:rPr>
              <a:t>Under pressure, we simplify.</a:t>
            </a:r>
            <a:endParaRPr lang="en-US" sz="1250" dirty="0"/>
          </a:p>
        </p:txBody>
      </p:sp>
      <p:sp>
        <p:nvSpPr>
          <p:cNvPr id="24" name="Shape 22"/>
          <p:cNvSpPr/>
          <p:nvPr/>
        </p:nvSpPr>
        <p:spPr>
          <a:xfrm>
            <a:off x="914400" y="5330952"/>
            <a:ext cx="118872" cy="118872"/>
          </a:xfrm>
          <a:prstGeom prst="rect">
            <a:avLst/>
          </a:prstGeom>
          <a:solidFill>
            <a:srgbClr val="4543CE"/>
          </a:solidFill>
          <a:ln/>
        </p:spPr>
        <p:txBody>
          <a:bodyPr/>
          <a:lstStyle/>
          <a:p>
            <a:endParaRPr lang="es-AR"/>
          </a:p>
        </p:txBody>
      </p:sp>
      <p:sp>
        <p:nvSpPr>
          <p:cNvPr id="25" name="Text 23"/>
          <p:cNvSpPr/>
          <p:nvPr/>
        </p:nvSpPr>
        <p:spPr>
          <a:xfrm>
            <a:off x="1170432" y="5266944"/>
            <a:ext cx="10442448" cy="457200"/>
          </a:xfrm>
          <a:prstGeom prst="rect">
            <a:avLst/>
          </a:prstGeom>
          <a:noFill/>
          <a:ln/>
        </p:spPr>
        <p:txBody>
          <a:bodyPr wrap="square" rtlCol="0" anchor="t"/>
          <a:lstStyle/>
          <a:p>
            <a:pPr marL="0" indent="0">
              <a:lnSpc>
                <a:spcPts val="1600"/>
              </a:lnSpc>
              <a:buNone/>
            </a:pPr>
            <a:r>
              <a:rPr lang="en-US" sz="1250" dirty="0">
                <a:solidFill>
                  <a:srgbClr val="EEF1F6"/>
                </a:solidFill>
                <a:latin typeface="Barlow" pitchFamily="34" charset="0"/>
                <a:ea typeface="Barlow" pitchFamily="34" charset="-122"/>
                <a:cs typeface="Barlow" pitchFamily="34" charset="-120"/>
              </a:rPr>
              <a:t>Brief communication, no noise.</a:t>
            </a:r>
            <a:endParaRPr lang="en-US" sz="1250" dirty="0"/>
          </a:p>
        </p:txBody>
      </p:sp>
      <p:sp>
        <p:nvSpPr>
          <p:cNvPr id="26" name="Shape 24"/>
          <p:cNvSpPr/>
          <p:nvPr/>
        </p:nvSpPr>
        <p:spPr>
          <a:xfrm>
            <a:off x="914400" y="5678424"/>
            <a:ext cx="118872" cy="118872"/>
          </a:xfrm>
          <a:prstGeom prst="rect">
            <a:avLst/>
          </a:prstGeom>
          <a:solidFill>
            <a:srgbClr val="4543CE"/>
          </a:solidFill>
          <a:ln/>
        </p:spPr>
        <p:txBody>
          <a:bodyPr/>
          <a:lstStyle/>
          <a:p>
            <a:endParaRPr lang="es-AR"/>
          </a:p>
        </p:txBody>
      </p:sp>
      <p:sp>
        <p:nvSpPr>
          <p:cNvPr id="27" name="Text 25"/>
          <p:cNvSpPr/>
          <p:nvPr/>
        </p:nvSpPr>
        <p:spPr>
          <a:xfrm>
            <a:off x="1170432" y="5614416"/>
            <a:ext cx="10442448" cy="457200"/>
          </a:xfrm>
          <a:prstGeom prst="rect">
            <a:avLst/>
          </a:prstGeom>
          <a:noFill/>
          <a:ln/>
        </p:spPr>
        <p:txBody>
          <a:bodyPr wrap="square" rtlCol="0" anchor="t"/>
          <a:lstStyle/>
          <a:p>
            <a:pPr marL="0" indent="0">
              <a:lnSpc>
                <a:spcPts val="1600"/>
              </a:lnSpc>
              <a:buNone/>
            </a:pPr>
            <a:r>
              <a:rPr lang="en-US" sz="1250" dirty="0">
                <a:solidFill>
                  <a:srgbClr val="EEF1F6"/>
                </a:solidFill>
                <a:latin typeface="Barlow" pitchFamily="34" charset="0"/>
                <a:ea typeface="Barlow" pitchFamily="34" charset="-122"/>
                <a:cs typeface="Barlow" pitchFamily="34" charset="-120"/>
              </a:rPr>
              <a:t>Ball security — from the freeball, always through Zone 3, up to set quality.</a:t>
            </a:r>
            <a:endParaRPr lang="en-US" sz="1250" dirty="0"/>
          </a:p>
        </p:txBody>
      </p:sp>
      <p:sp>
        <p:nvSpPr>
          <p:cNvPr id="28" name="Shape 26"/>
          <p:cNvSpPr/>
          <p:nvPr/>
        </p:nvSpPr>
        <p:spPr>
          <a:xfrm>
            <a:off x="914400" y="6025896"/>
            <a:ext cx="118872" cy="118872"/>
          </a:xfrm>
          <a:prstGeom prst="rect">
            <a:avLst/>
          </a:prstGeom>
          <a:solidFill>
            <a:srgbClr val="4543CE"/>
          </a:solidFill>
          <a:ln/>
        </p:spPr>
        <p:txBody>
          <a:bodyPr/>
          <a:lstStyle/>
          <a:p>
            <a:endParaRPr lang="es-AR"/>
          </a:p>
        </p:txBody>
      </p:sp>
      <p:sp>
        <p:nvSpPr>
          <p:cNvPr id="29" name="Text 27"/>
          <p:cNvSpPr/>
          <p:nvPr/>
        </p:nvSpPr>
        <p:spPr>
          <a:xfrm>
            <a:off x="1170432" y="5961888"/>
            <a:ext cx="10442448" cy="457200"/>
          </a:xfrm>
          <a:prstGeom prst="rect">
            <a:avLst/>
          </a:prstGeom>
          <a:noFill/>
          <a:ln/>
        </p:spPr>
        <p:txBody>
          <a:bodyPr wrap="square" rtlCol="0" anchor="t"/>
          <a:lstStyle/>
          <a:p>
            <a:pPr marL="0" indent="0">
              <a:lnSpc>
                <a:spcPts val="1600"/>
              </a:lnSpc>
              <a:buNone/>
            </a:pPr>
            <a:r>
              <a:rPr lang="en-US" sz="1250" dirty="0">
                <a:solidFill>
                  <a:srgbClr val="EEF1F6"/>
                </a:solidFill>
                <a:latin typeface="Barlow" pitchFamily="34" charset="0"/>
                <a:ea typeface="Barlow" pitchFamily="34" charset="-122"/>
                <a:cs typeface="Barlow" pitchFamily="34" charset="-120"/>
              </a:rPr>
              <a:t>Highest-probability attack.</a:t>
            </a:r>
            <a:endParaRPr lang="en-US" sz="1250" dirty="0"/>
          </a:p>
        </p:txBody>
      </p:sp>
      <p:sp>
        <p:nvSpPr>
          <p:cNvPr id="30" name="Shape 28"/>
          <p:cNvSpPr/>
          <p:nvPr/>
        </p:nvSpPr>
        <p:spPr>
          <a:xfrm>
            <a:off x="914400" y="6373368"/>
            <a:ext cx="118872" cy="118872"/>
          </a:xfrm>
          <a:prstGeom prst="rect">
            <a:avLst/>
          </a:prstGeom>
          <a:solidFill>
            <a:srgbClr val="4543CE"/>
          </a:solidFill>
          <a:ln/>
        </p:spPr>
        <p:txBody>
          <a:bodyPr/>
          <a:lstStyle/>
          <a:p>
            <a:endParaRPr lang="es-AR"/>
          </a:p>
        </p:txBody>
      </p:sp>
      <p:sp>
        <p:nvSpPr>
          <p:cNvPr id="31" name="Text 29"/>
          <p:cNvSpPr/>
          <p:nvPr/>
        </p:nvSpPr>
        <p:spPr>
          <a:xfrm>
            <a:off x="1170432" y="6309360"/>
            <a:ext cx="10442448" cy="457200"/>
          </a:xfrm>
          <a:prstGeom prst="rect">
            <a:avLst/>
          </a:prstGeom>
          <a:noFill/>
          <a:ln/>
        </p:spPr>
        <p:txBody>
          <a:bodyPr wrap="square" rtlCol="0" anchor="t"/>
          <a:lstStyle/>
          <a:p>
            <a:pPr marL="0" indent="0">
              <a:lnSpc>
                <a:spcPts val="1600"/>
              </a:lnSpc>
              <a:buNone/>
            </a:pPr>
            <a:r>
              <a:rPr lang="en-US" sz="1250" dirty="0">
                <a:solidFill>
                  <a:srgbClr val="EEF1F6"/>
                </a:solidFill>
                <a:latin typeface="Barlow" pitchFamily="34" charset="0"/>
                <a:ea typeface="Barlow" pitchFamily="34" charset="-122"/>
                <a:cs typeface="Barlow" pitchFamily="34" charset="-120"/>
              </a:rPr>
              <a:t>Clear roles — we listen to the staff and execute.</a:t>
            </a:r>
            <a:endParaRPr lang="en-US" sz="1250" dirty="0"/>
          </a:p>
        </p:txBody>
      </p:sp>
      <p:sp>
        <p:nvSpPr>
          <p:cNvPr id="32" name="Shape 30"/>
          <p:cNvSpPr/>
          <p:nvPr/>
        </p:nvSpPr>
        <p:spPr>
          <a:xfrm>
            <a:off x="0" y="6620256"/>
            <a:ext cx="12161520" cy="54864"/>
          </a:xfrm>
          <a:prstGeom prst="rect">
            <a:avLst/>
          </a:prstGeom>
          <a:solidFill>
            <a:srgbClr val="161D3A"/>
          </a:solidFill>
          <a:ln/>
        </p:spPr>
        <p:txBody>
          <a:bodyPr/>
          <a:lstStyle/>
          <a:p>
            <a:endParaRPr lang="es-AR"/>
          </a:p>
        </p:txBody>
      </p:sp>
      <p:sp>
        <p:nvSpPr>
          <p:cNvPr id="33" name="Text 31"/>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34" name="Text 32"/>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09</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FROM STAFF TO COURT</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800" b="1" kern="0" spc="100" dirty="0">
                <a:solidFill>
                  <a:srgbClr val="FFFFFF"/>
                </a:solidFill>
                <a:latin typeface="Oswald" pitchFamily="34" charset="0"/>
                <a:ea typeface="Oswald" pitchFamily="34" charset="-122"/>
                <a:cs typeface="Oswald" pitchFamily="34" charset="-120"/>
              </a:rPr>
              <a:t>Game Plan</a:t>
            </a:r>
            <a:endParaRPr lang="en-US" sz="38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83080"/>
            <a:ext cx="3611880" cy="4297680"/>
          </a:xfrm>
          <a:prstGeom prst="roundRect">
            <a:avLst>
              <a:gd name="adj" fmla="val 1772"/>
            </a:avLst>
          </a:prstGeom>
          <a:solidFill>
            <a:srgbClr val="161D3A"/>
          </a:solidFill>
          <a:ln w="12700">
            <a:solidFill>
              <a:srgbClr val="202A52"/>
            </a:solidFill>
            <a:prstDash val="solid"/>
          </a:ln>
        </p:spPr>
        <p:txBody>
          <a:bodyPr/>
          <a:lstStyle/>
          <a:p>
            <a:endParaRPr lang="es-AR"/>
          </a:p>
        </p:txBody>
      </p:sp>
      <p:sp>
        <p:nvSpPr>
          <p:cNvPr id="12" name="Shape 10"/>
          <p:cNvSpPr/>
          <p:nvPr/>
        </p:nvSpPr>
        <p:spPr>
          <a:xfrm>
            <a:off x="594360" y="1783080"/>
            <a:ext cx="3611880" cy="82296"/>
          </a:xfrm>
          <a:prstGeom prst="rect">
            <a:avLst/>
          </a:prstGeom>
          <a:solidFill>
            <a:srgbClr val="FB385B"/>
          </a:solidFill>
          <a:ln/>
        </p:spPr>
        <p:txBody>
          <a:bodyPr/>
          <a:lstStyle/>
          <a:p>
            <a:endParaRPr lang="es-AR"/>
          </a:p>
        </p:txBody>
      </p:sp>
      <p:sp>
        <p:nvSpPr>
          <p:cNvPr id="13" name="Text 11"/>
          <p:cNvSpPr/>
          <p:nvPr/>
        </p:nvSpPr>
        <p:spPr>
          <a:xfrm>
            <a:off x="822960" y="1965960"/>
            <a:ext cx="3200400" cy="411480"/>
          </a:xfrm>
          <a:prstGeom prst="rect">
            <a:avLst/>
          </a:prstGeom>
          <a:noFill/>
          <a:ln/>
        </p:spPr>
        <p:txBody>
          <a:bodyPr wrap="square" rtlCol="0" anchor="ctr"/>
          <a:lstStyle/>
          <a:p>
            <a:pPr marL="0" indent="0">
              <a:buNone/>
            </a:pPr>
            <a:r>
              <a:rPr lang="en-US" sz="1800" b="1" kern="0" spc="100" dirty="0">
                <a:solidFill>
                  <a:srgbClr val="FFFFFF"/>
                </a:solidFill>
                <a:latin typeface="Oswald" pitchFamily="34" charset="0"/>
                <a:ea typeface="Oswald" pitchFamily="34" charset="-122"/>
                <a:cs typeface="Oswald" pitchFamily="34" charset="-120"/>
              </a:rPr>
              <a:t>PREPARATION</a:t>
            </a:r>
            <a:endParaRPr lang="en-US" sz="1800" dirty="0"/>
          </a:p>
        </p:txBody>
      </p:sp>
      <p:sp>
        <p:nvSpPr>
          <p:cNvPr id="14" name="Text 12"/>
          <p:cNvSpPr/>
          <p:nvPr/>
        </p:nvSpPr>
        <p:spPr>
          <a:xfrm>
            <a:off x="822960" y="2377440"/>
            <a:ext cx="3200400" cy="274320"/>
          </a:xfrm>
          <a:prstGeom prst="rect">
            <a:avLst/>
          </a:prstGeom>
          <a:noFill/>
          <a:ln/>
        </p:spPr>
        <p:txBody>
          <a:bodyPr wrap="square" rtlCol="0" anchor="ctr"/>
          <a:lstStyle/>
          <a:p>
            <a:pPr marL="0" indent="0">
              <a:buNone/>
            </a:pPr>
            <a:r>
              <a:rPr lang="en-US" sz="1200" kern="0" spc="300" dirty="0">
                <a:solidFill>
                  <a:srgbClr val="FCB758"/>
                </a:solidFill>
                <a:latin typeface="Barlow Condensed" pitchFamily="34" charset="0"/>
                <a:ea typeface="Barlow Condensed" pitchFamily="34" charset="-122"/>
                <a:cs typeface="Barlow Condensed" pitchFamily="34" charset="-120"/>
              </a:rPr>
              <a:t>STAFF</a:t>
            </a:r>
            <a:endParaRPr lang="en-US" sz="1200" dirty="0"/>
          </a:p>
        </p:txBody>
      </p:sp>
      <p:sp>
        <p:nvSpPr>
          <p:cNvPr id="15" name="Shape 13"/>
          <p:cNvSpPr/>
          <p:nvPr/>
        </p:nvSpPr>
        <p:spPr>
          <a:xfrm>
            <a:off x="822960" y="2880360"/>
            <a:ext cx="118872" cy="118872"/>
          </a:xfrm>
          <a:prstGeom prst="rect">
            <a:avLst/>
          </a:prstGeom>
          <a:solidFill>
            <a:srgbClr val="FB385B"/>
          </a:solidFill>
          <a:ln/>
        </p:spPr>
        <p:txBody>
          <a:bodyPr/>
          <a:lstStyle/>
          <a:p>
            <a:endParaRPr lang="es-AR"/>
          </a:p>
        </p:txBody>
      </p:sp>
      <p:sp>
        <p:nvSpPr>
          <p:cNvPr id="16" name="Text 14"/>
          <p:cNvSpPr/>
          <p:nvPr/>
        </p:nvSpPr>
        <p:spPr>
          <a:xfrm>
            <a:off x="1078992" y="2816352"/>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Rival analysis:</a:t>
            </a:r>
            <a:r>
              <a:rPr lang="en-US" sz="1150" dirty="0">
                <a:solidFill>
                  <a:srgbClr val="EEF1F6"/>
                </a:solidFill>
                <a:latin typeface="Barlow" pitchFamily="34" charset="0"/>
                <a:ea typeface="Barlow" pitchFamily="34" charset="-122"/>
                <a:cs typeface="Barlow" pitchFamily="34" charset="-120"/>
              </a:rPr>
              <a:t> tendencies, rotations, objectives, rival serve types.</a:t>
            </a:r>
            <a:endParaRPr lang="en-US" sz="1150" dirty="0"/>
          </a:p>
        </p:txBody>
      </p:sp>
      <p:sp>
        <p:nvSpPr>
          <p:cNvPr id="17" name="Shape 15"/>
          <p:cNvSpPr/>
          <p:nvPr/>
        </p:nvSpPr>
        <p:spPr>
          <a:xfrm>
            <a:off x="822960" y="3520440"/>
            <a:ext cx="118872" cy="118872"/>
          </a:xfrm>
          <a:prstGeom prst="rect">
            <a:avLst/>
          </a:prstGeom>
          <a:solidFill>
            <a:srgbClr val="FB385B"/>
          </a:solidFill>
          <a:ln/>
        </p:spPr>
        <p:txBody>
          <a:bodyPr/>
          <a:lstStyle/>
          <a:p>
            <a:endParaRPr lang="es-AR"/>
          </a:p>
        </p:txBody>
      </p:sp>
      <p:sp>
        <p:nvSpPr>
          <p:cNvPr id="18" name="Text 16"/>
          <p:cNvSpPr/>
          <p:nvPr/>
        </p:nvSpPr>
        <p:spPr>
          <a:xfrm>
            <a:off x="1078992" y="3456432"/>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Game-plan build:</a:t>
            </a:r>
            <a:r>
              <a:rPr lang="en-US" sz="1150" dirty="0">
                <a:solidFill>
                  <a:srgbClr val="EEF1F6"/>
                </a:solidFill>
                <a:latin typeface="Barlow" pitchFamily="34" charset="0"/>
                <a:ea typeface="Barlow" pitchFamily="34" charset="-122"/>
                <a:cs typeface="Barlow" pitchFamily="34" charset="-120"/>
              </a:rPr>
              <a:t> offensive and defensive priorities.</a:t>
            </a:r>
            <a:endParaRPr lang="en-US" sz="1150" dirty="0"/>
          </a:p>
        </p:txBody>
      </p:sp>
      <p:sp>
        <p:nvSpPr>
          <p:cNvPr id="19" name="Shape 17"/>
          <p:cNvSpPr/>
          <p:nvPr/>
        </p:nvSpPr>
        <p:spPr>
          <a:xfrm>
            <a:off x="822960" y="3995928"/>
            <a:ext cx="118872" cy="118872"/>
          </a:xfrm>
          <a:prstGeom prst="rect">
            <a:avLst/>
          </a:prstGeom>
          <a:solidFill>
            <a:srgbClr val="FB385B"/>
          </a:solidFill>
          <a:ln/>
        </p:spPr>
        <p:txBody>
          <a:bodyPr/>
          <a:lstStyle/>
          <a:p>
            <a:endParaRPr lang="es-AR"/>
          </a:p>
        </p:txBody>
      </p:sp>
      <p:sp>
        <p:nvSpPr>
          <p:cNvPr id="20" name="Text 18"/>
          <p:cNvSpPr/>
          <p:nvPr/>
        </p:nvSpPr>
        <p:spPr>
          <a:xfrm>
            <a:off x="1078992" y="3931920"/>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Team delivery:</a:t>
            </a:r>
            <a:r>
              <a:rPr lang="en-US" sz="1150" dirty="0">
                <a:solidFill>
                  <a:srgbClr val="EEF1F6"/>
                </a:solidFill>
                <a:latin typeface="Barlow" pitchFamily="34" charset="0"/>
                <a:ea typeface="Barlow" pitchFamily="34" charset="-122"/>
                <a:cs typeface="Barlow" pitchFamily="34" charset="-120"/>
              </a:rPr>
              <a:t> material for prior study.</a:t>
            </a:r>
            <a:endParaRPr lang="en-US" sz="1150" dirty="0"/>
          </a:p>
        </p:txBody>
      </p:sp>
      <p:sp>
        <p:nvSpPr>
          <p:cNvPr id="21" name="Shape 19"/>
          <p:cNvSpPr/>
          <p:nvPr/>
        </p:nvSpPr>
        <p:spPr>
          <a:xfrm>
            <a:off x="4343400" y="1783080"/>
            <a:ext cx="3611880" cy="4297680"/>
          </a:xfrm>
          <a:prstGeom prst="roundRect">
            <a:avLst>
              <a:gd name="adj" fmla="val 1772"/>
            </a:avLst>
          </a:prstGeom>
          <a:solidFill>
            <a:srgbClr val="161D3A"/>
          </a:solidFill>
          <a:ln w="12700">
            <a:solidFill>
              <a:srgbClr val="202A52"/>
            </a:solidFill>
            <a:prstDash val="solid"/>
          </a:ln>
        </p:spPr>
        <p:txBody>
          <a:bodyPr/>
          <a:lstStyle/>
          <a:p>
            <a:endParaRPr lang="es-AR"/>
          </a:p>
        </p:txBody>
      </p:sp>
      <p:sp>
        <p:nvSpPr>
          <p:cNvPr id="22" name="Shape 20"/>
          <p:cNvSpPr/>
          <p:nvPr/>
        </p:nvSpPr>
        <p:spPr>
          <a:xfrm>
            <a:off x="4343400" y="1783080"/>
            <a:ext cx="3611880" cy="82296"/>
          </a:xfrm>
          <a:prstGeom prst="rect">
            <a:avLst/>
          </a:prstGeom>
          <a:solidFill>
            <a:srgbClr val="4543CE"/>
          </a:solidFill>
          <a:ln/>
        </p:spPr>
        <p:txBody>
          <a:bodyPr/>
          <a:lstStyle/>
          <a:p>
            <a:endParaRPr lang="es-AR"/>
          </a:p>
        </p:txBody>
      </p:sp>
      <p:sp>
        <p:nvSpPr>
          <p:cNvPr id="23" name="Text 21"/>
          <p:cNvSpPr/>
          <p:nvPr/>
        </p:nvSpPr>
        <p:spPr>
          <a:xfrm>
            <a:off x="4572000" y="1965960"/>
            <a:ext cx="3200400" cy="411480"/>
          </a:xfrm>
          <a:prstGeom prst="rect">
            <a:avLst/>
          </a:prstGeom>
          <a:noFill/>
          <a:ln/>
        </p:spPr>
        <p:txBody>
          <a:bodyPr wrap="square" rtlCol="0" anchor="ctr"/>
          <a:lstStyle/>
          <a:p>
            <a:pPr marL="0" indent="0">
              <a:buNone/>
            </a:pPr>
            <a:r>
              <a:rPr lang="en-US" sz="1800" b="1" kern="0" spc="100" dirty="0">
                <a:solidFill>
                  <a:srgbClr val="FFFFFF"/>
                </a:solidFill>
                <a:latin typeface="Oswald" pitchFamily="34" charset="0"/>
                <a:ea typeface="Oswald" pitchFamily="34" charset="-122"/>
                <a:cs typeface="Oswald" pitchFamily="34" charset="-120"/>
              </a:rPr>
              <a:t>EXECUTION</a:t>
            </a:r>
            <a:endParaRPr lang="en-US" sz="1800" dirty="0"/>
          </a:p>
        </p:txBody>
      </p:sp>
      <p:sp>
        <p:nvSpPr>
          <p:cNvPr id="24" name="Text 22"/>
          <p:cNvSpPr/>
          <p:nvPr/>
        </p:nvSpPr>
        <p:spPr>
          <a:xfrm>
            <a:off x="4572000" y="2377440"/>
            <a:ext cx="3200400" cy="274320"/>
          </a:xfrm>
          <a:prstGeom prst="rect">
            <a:avLst/>
          </a:prstGeom>
          <a:noFill/>
          <a:ln/>
        </p:spPr>
        <p:txBody>
          <a:bodyPr wrap="square" rtlCol="0" anchor="ctr"/>
          <a:lstStyle/>
          <a:p>
            <a:pPr marL="0" indent="0">
              <a:buNone/>
            </a:pPr>
            <a:r>
              <a:rPr lang="en-US" sz="1200" kern="0" spc="300" dirty="0">
                <a:solidFill>
                  <a:srgbClr val="7FD0DD"/>
                </a:solidFill>
                <a:latin typeface="Barlow Condensed" pitchFamily="34" charset="0"/>
                <a:ea typeface="Barlow Condensed" pitchFamily="34" charset="-122"/>
                <a:cs typeface="Barlow Condensed" pitchFamily="34" charset="-120"/>
              </a:rPr>
              <a:t>THE WEEK</a:t>
            </a:r>
            <a:endParaRPr lang="en-US" sz="1200" dirty="0"/>
          </a:p>
        </p:txBody>
      </p:sp>
      <p:sp>
        <p:nvSpPr>
          <p:cNvPr id="25" name="Shape 23"/>
          <p:cNvSpPr/>
          <p:nvPr/>
        </p:nvSpPr>
        <p:spPr>
          <a:xfrm>
            <a:off x="4572000" y="2880360"/>
            <a:ext cx="118872" cy="118872"/>
          </a:xfrm>
          <a:prstGeom prst="rect">
            <a:avLst/>
          </a:prstGeom>
          <a:solidFill>
            <a:srgbClr val="4543CE"/>
          </a:solidFill>
          <a:ln/>
        </p:spPr>
        <p:txBody>
          <a:bodyPr/>
          <a:lstStyle/>
          <a:p>
            <a:endParaRPr lang="es-AR"/>
          </a:p>
        </p:txBody>
      </p:sp>
      <p:sp>
        <p:nvSpPr>
          <p:cNvPr id="26" name="Text 24"/>
          <p:cNvSpPr/>
          <p:nvPr/>
        </p:nvSpPr>
        <p:spPr>
          <a:xfrm>
            <a:off x="4828032" y="2816352"/>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Video — Tuesday:</a:t>
            </a:r>
            <a:r>
              <a:rPr lang="en-US" sz="1150" dirty="0">
                <a:solidFill>
                  <a:srgbClr val="EEF1F6"/>
                </a:solidFill>
                <a:latin typeface="Barlow" pitchFamily="34" charset="0"/>
                <a:ea typeface="Barlow" pitchFamily="34" charset="-122"/>
                <a:cs typeface="Barlow" pitchFamily="34" charset="-120"/>
              </a:rPr>
              <a:t> confirm patterns, clear doubts.</a:t>
            </a:r>
            <a:endParaRPr lang="en-US" sz="1150" dirty="0"/>
          </a:p>
        </p:txBody>
      </p:sp>
      <p:sp>
        <p:nvSpPr>
          <p:cNvPr id="27" name="Shape 25"/>
          <p:cNvSpPr/>
          <p:nvPr/>
        </p:nvSpPr>
        <p:spPr>
          <a:xfrm>
            <a:off x="4572000" y="3355848"/>
            <a:ext cx="118872" cy="118872"/>
          </a:xfrm>
          <a:prstGeom prst="rect">
            <a:avLst/>
          </a:prstGeom>
          <a:solidFill>
            <a:srgbClr val="4543CE"/>
          </a:solidFill>
          <a:ln/>
        </p:spPr>
        <p:txBody>
          <a:bodyPr/>
          <a:lstStyle/>
          <a:p>
            <a:endParaRPr lang="es-AR"/>
          </a:p>
        </p:txBody>
      </p:sp>
      <p:sp>
        <p:nvSpPr>
          <p:cNvPr id="28" name="Text 26"/>
          <p:cNvSpPr/>
          <p:nvPr/>
        </p:nvSpPr>
        <p:spPr>
          <a:xfrm>
            <a:off x="4828032" y="3291840"/>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Training:</a:t>
            </a:r>
            <a:r>
              <a:rPr lang="en-US" sz="1150" dirty="0">
                <a:solidFill>
                  <a:srgbClr val="EEF1F6"/>
                </a:solidFill>
                <a:latin typeface="Barlow" pitchFamily="34" charset="0"/>
                <a:ea typeface="Barlow" pitchFamily="34" charset="-122"/>
                <a:cs typeface="Barlow" pitchFamily="34" charset="-120"/>
              </a:rPr>
              <a:t> apply situations, decisions and adjustments.</a:t>
            </a:r>
            <a:endParaRPr lang="en-US" sz="1150" dirty="0"/>
          </a:p>
        </p:txBody>
      </p:sp>
      <p:sp>
        <p:nvSpPr>
          <p:cNvPr id="29" name="Shape 27"/>
          <p:cNvSpPr/>
          <p:nvPr/>
        </p:nvSpPr>
        <p:spPr>
          <a:xfrm>
            <a:off x="4572000" y="3831336"/>
            <a:ext cx="118872" cy="118872"/>
          </a:xfrm>
          <a:prstGeom prst="rect">
            <a:avLst/>
          </a:prstGeom>
          <a:solidFill>
            <a:srgbClr val="4543CE"/>
          </a:solidFill>
          <a:ln/>
        </p:spPr>
        <p:txBody>
          <a:bodyPr/>
          <a:lstStyle/>
          <a:p>
            <a:endParaRPr lang="es-AR"/>
          </a:p>
        </p:txBody>
      </p:sp>
      <p:sp>
        <p:nvSpPr>
          <p:cNvPr id="30" name="Text 28"/>
          <p:cNvSpPr/>
          <p:nvPr/>
        </p:nvSpPr>
        <p:spPr>
          <a:xfrm>
            <a:off x="4828032" y="3767328"/>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Match-day review:</a:t>
            </a:r>
            <a:r>
              <a:rPr lang="en-US" sz="1150" dirty="0">
                <a:solidFill>
                  <a:srgbClr val="EEF1F6"/>
                </a:solidFill>
                <a:latin typeface="Barlow" pitchFamily="34" charset="0"/>
                <a:ea typeface="Barlow" pitchFamily="34" charset="-122"/>
                <a:cs typeface="Barlow" pitchFamily="34" charset="-120"/>
              </a:rPr>
              <a:t> roles, tactical focus, priorities.</a:t>
            </a:r>
            <a:endParaRPr lang="en-US" sz="1150" dirty="0"/>
          </a:p>
        </p:txBody>
      </p:sp>
      <p:sp>
        <p:nvSpPr>
          <p:cNvPr id="31" name="Shape 29"/>
          <p:cNvSpPr/>
          <p:nvPr/>
        </p:nvSpPr>
        <p:spPr>
          <a:xfrm>
            <a:off x="8092440" y="1783080"/>
            <a:ext cx="3611880" cy="4297680"/>
          </a:xfrm>
          <a:prstGeom prst="roundRect">
            <a:avLst>
              <a:gd name="adj" fmla="val 1772"/>
            </a:avLst>
          </a:prstGeom>
          <a:solidFill>
            <a:srgbClr val="161D3A"/>
          </a:solidFill>
          <a:ln w="12700">
            <a:solidFill>
              <a:srgbClr val="202A52"/>
            </a:solidFill>
            <a:prstDash val="solid"/>
          </a:ln>
        </p:spPr>
        <p:txBody>
          <a:bodyPr/>
          <a:lstStyle/>
          <a:p>
            <a:endParaRPr lang="es-AR"/>
          </a:p>
        </p:txBody>
      </p:sp>
      <p:sp>
        <p:nvSpPr>
          <p:cNvPr id="32" name="Shape 30"/>
          <p:cNvSpPr/>
          <p:nvPr/>
        </p:nvSpPr>
        <p:spPr>
          <a:xfrm>
            <a:off x="8092440" y="1783080"/>
            <a:ext cx="3611880" cy="82296"/>
          </a:xfrm>
          <a:prstGeom prst="rect">
            <a:avLst/>
          </a:prstGeom>
          <a:solidFill>
            <a:srgbClr val="6D6BE0"/>
          </a:solidFill>
          <a:ln/>
        </p:spPr>
        <p:txBody>
          <a:bodyPr/>
          <a:lstStyle/>
          <a:p>
            <a:endParaRPr lang="es-AR"/>
          </a:p>
        </p:txBody>
      </p:sp>
      <p:sp>
        <p:nvSpPr>
          <p:cNvPr id="33" name="Text 31"/>
          <p:cNvSpPr/>
          <p:nvPr/>
        </p:nvSpPr>
        <p:spPr>
          <a:xfrm>
            <a:off x="8321040" y="1965960"/>
            <a:ext cx="3200400" cy="411480"/>
          </a:xfrm>
          <a:prstGeom prst="rect">
            <a:avLst/>
          </a:prstGeom>
          <a:noFill/>
          <a:ln/>
        </p:spPr>
        <p:txBody>
          <a:bodyPr wrap="square" rtlCol="0" anchor="ctr"/>
          <a:lstStyle/>
          <a:p>
            <a:pPr marL="0" indent="0">
              <a:buNone/>
            </a:pPr>
            <a:r>
              <a:rPr lang="en-US" sz="1800" b="1" kern="0" spc="100" dirty="0">
                <a:solidFill>
                  <a:srgbClr val="FFFFFF"/>
                </a:solidFill>
                <a:latin typeface="Oswald" pitchFamily="34" charset="0"/>
                <a:ea typeface="Oswald" pitchFamily="34" charset="-122"/>
                <a:cs typeface="Oswald" pitchFamily="34" charset="-120"/>
              </a:rPr>
              <a:t>RESPONSIBILITY</a:t>
            </a:r>
            <a:endParaRPr lang="en-US" sz="1800" dirty="0"/>
          </a:p>
        </p:txBody>
      </p:sp>
      <p:sp>
        <p:nvSpPr>
          <p:cNvPr id="34" name="Text 32"/>
          <p:cNvSpPr/>
          <p:nvPr/>
        </p:nvSpPr>
        <p:spPr>
          <a:xfrm>
            <a:off x="8321040" y="2377440"/>
            <a:ext cx="3200400" cy="274320"/>
          </a:xfrm>
          <a:prstGeom prst="rect">
            <a:avLst/>
          </a:prstGeom>
          <a:noFill/>
          <a:ln/>
        </p:spPr>
        <p:txBody>
          <a:bodyPr wrap="square" rtlCol="0" anchor="ctr"/>
          <a:lstStyle/>
          <a:p>
            <a:pPr marL="0" indent="0">
              <a:buNone/>
            </a:pPr>
            <a:r>
              <a:rPr lang="en-US" sz="1200" kern="0" spc="300" dirty="0">
                <a:solidFill>
                  <a:srgbClr val="C3B3EE"/>
                </a:solidFill>
                <a:latin typeface="Barlow Condensed" pitchFamily="34" charset="0"/>
                <a:ea typeface="Barlow Condensed" pitchFamily="34" charset="-122"/>
                <a:cs typeface="Barlow Condensed" pitchFamily="34" charset="-120"/>
              </a:rPr>
              <a:t>PLAYERS</a:t>
            </a:r>
            <a:endParaRPr lang="en-US" sz="1200" dirty="0"/>
          </a:p>
        </p:txBody>
      </p:sp>
      <p:sp>
        <p:nvSpPr>
          <p:cNvPr id="35" name="Shape 33"/>
          <p:cNvSpPr/>
          <p:nvPr/>
        </p:nvSpPr>
        <p:spPr>
          <a:xfrm>
            <a:off x="8321040" y="2880360"/>
            <a:ext cx="118872" cy="118872"/>
          </a:xfrm>
          <a:prstGeom prst="rect">
            <a:avLst/>
          </a:prstGeom>
          <a:solidFill>
            <a:srgbClr val="6D6BE0"/>
          </a:solidFill>
          <a:ln/>
        </p:spPr>
        <p:txBody>
          <a:bodyPr/>
          <a:lstStyle/>
          <a:p>
            <a:endParaRPr lang="es-AR"/>
          </a:p>
        </p:txBody>
      </p:sp>
      <p:sp>
        <p:nvSpPr>
          <p:cNvPr id="36" name="Text 34"/>
          <p:cNvSpPr/>
          <p:nvPr/>
        </p:nvSpPr>
        <p:spPr>
          <a:xfrm>
            <a:off x="8577072" y="2816352"/>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Know the plan and your role.</a:t>
            </a:r>
            <a:endParaRPr lang="en-US" sz="1150" dirty="0"/>
          </a:p>
        </p:txBody>
      </p:sp>
      <p:sp>
        <p:nvSpPr>
          <p:cNvPr id="37" name="Shape 35"/>
          <p:cNvSpPr/>
          <p:nvPr/>
        </p:nvSpPr>
        <p:spPr>
          <a:xfrm>
            <a:off x="8321040" y="3355848"/>
            <a:ext cx="118872" cy="118872"/>
          </a:xfrm>
          <a:prstGeom prst="rect">
            <a:avLst/>
          </a:prstGeom>
          <a:solidFill>
            <a:srgbClr val="6D6BE0"/>
          </a:solidFill>
          <a:ln/>
        </p:spPr>
        <p:txBody>
          <a:bodyPr/>
          <a:lstStyle/>
          <a:p>
            <a:endParaRPr lang="es-AR"/>
          </a:p>
        </p:txBody>
      </p:sp>
      <p:sp>
        <p:nvSpPr>
          <p:cNvPr id="38" name="Text 36"/>
          <p:cNvSpPr/>
          <p:nvPr/>
        </p:nvSpPr>
        <p:spPr>
          <a:xfrm>
            <a:off x="8577072" y="3291840"/>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Trust the staff's analysis.</a:t>
            </a:r>
            <a:endParaRPr lang="en-US" sz="1150" dirty="0"/>
          </a:p>
        </p:txBody>
      </p:sp>
      <p:sp>
        <p:nvSpPr>
          <p:cNvPr id="39" name="Shape 37"/>
          <p:cNvSpPr/>
          <p:nvPr/>
        </p:nvSpPr>
        <p:spPr>
          <a:xfrm>
            <a:off x="8321040" y="3831336"/>
            <a:ext cx="118872" cy="118872"/>
          </a:xfrm>
          <a:prstGeom prst="rect">
            <a:avLst/>
          </a:prstGeom>
          <a:solidFill>
            <a:srgbClr val="6D6BE0"/>
          </a:solidFill>
          <a:ln/>
        </p:spPr>
        <p:txBody>
          <a:bodyPr/>
          <a:lstStyle/>
          <a:p>
            <a:endParaRPr lang="es-AR"/>
          </a:p>
        </p:txBody>
      </p:sp>
      <p:sp>
        <p:nvSpPr>
          <p:cNvPr id="40" name="Text 38"/>
          <p:cNvSpPr/>
          <p:nvPr/>
        </p:nvSpPr>
        <p:spPr>
          <a:xfrm>
            <a:off x="8577072" y="3767328"/>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Adapt fast to in-match tweaks.</a:t>
            </a:r>
            <a:endParaRPr lang="en-US" sz="1150" dirty="0"/>
          </a:p>
        </p:txBody>
      </p:sp>
      <p:sp>
        <p:nvSpPr>
          <p:cNvPr id="41" name="Shape 39"/>
          <p:cNvSpPr/>
          <p:nvPr/>
        </p:nvSpPr>
        <p:spPr>
          <a:xfrm>
            <a:off x="8321040" y="4306824"/>
            <a:ext cx="118872" cy="118872"/>
          </a:xfrm>
          <a:prstGeom prst="rect">
            <a:avLst/>
          </a:prstGeom>
          <a:solidFill>
            <a:srgbClr val="6D6BE0"/>
          </a:solidFill>
          <a:ln/>
        </p:spPr>
        <p:txBody>
          <a:bodyPr/>
          <a:lstStyle/>
          <a:p>
            <a:endParaRPr lang="es-AR"/>
          </a:p>
        </p:txBody>
      </p:sp>
      <p:sp>
        <p:nvSpPr>
          <p:cNvPr id="42" name="Text 40"/>
          <p:cNvSpPr/>
          <p:nvPr/>
        </p:nvSpPr>
        <p:spPr>
          <a:xfrm>
            <a:off x="8577072" y="4242816"/>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Hold tactical coherence under pressure.</a:t>
            </a:r>
            <a:endParaRPr lang="en-US" sz="1150" dirty="0"/>
          </a:p>
        </p:txBody>
      </p:sp>
      <p:sp>
        <p:nvSpPr>
          <p:cNvPr id="43" name="Shape 41"/>
          <p:cNvSpPr/>
          <p:nvPr/>
        </p:nvSpPr>
        <p:spPr>
          <a:xfrm>
            <a:off x="8321040" y="4782312"/>
            <a:ext cx="118872" cy="118872"/>
          </a:xfrm>
          <a:prstGeom prst="rect">
            <a:avLst/>
          </a:prstGeom>
          <a:solidFill>
            <a:srgbClr val="6D6BE0"/>
          </a:solidFill>
          <a:ln/>
        </p:spPr>
        <p:txBody>
          <a:bodyPr/>
          <a:lstStyle/>
          <a:p>
            <a:endParaRPr lang="es-AR"/>
          </a:p>
        </p:txBody>
      </p:sp>
      <p:sp>
        <p:nvSpPr>
          <p:cNvPr id="44" name="Text 42"/>
          <p:cNvSpPr/>
          <p:nvPr/>
        </p:nvSpPr>
        <p:spPr>
          <a:xfrm>
            <a:off x="8577072" y="4718304"/>
            <a:ext cx="2990088" cy="457200"/>
          </a:xfrm>
          <a:prstGeom prst="rect">
            <a:avLst/>
          </a:prstGeom>
          <a:noFill/>
          <a:ln/>
        </p:spPr>
        <p:txBody>
          <a:bodyPr wrap="square" rtlCol="0" anchor="t"/>
          <a:lstStyle/>
          <a:p>
            <a:pPr marL="0" indent="0">
              <a:lnSpc>
                <a:spcPts val="1400"/>
              </a:lnSpc>
              <a:buNone/>
            </a:pPr>
            <a:r>
              <a:rPr lang="en-US" sz="1150" b="1" dirty="0">
                <a:solidFill>
                  <a:srgbClr val="FFFFFF"/>
                </a:solidFill>
                <a:latin typeface="Barlow" pitchFamily="34" charset="0"/>
                <a:ea typeface="Barlow" pitchFamily="34" charset="-122"/>
                <a:cs typeface="Barlow" pitchFamily="34" charset="-120"/>
              </a:rPr>
              <a:t>Exploit rival weaknesses — leverage our strengths, don't adapt to theirs.</a:t>
            </a:r>
            <a:endParaRPr lang="en-US" sz="1150" dirty="0"/>
          </a:p>
        </p:txBody>
      </p:sp>
      <p:sp>
        <p:nvSpPr>
          <p:cNvPr id="45" name="Text 43"/>
          <p:cNvSpPr/>
          <p:nvPr/>
        </p:nvSpPr>
        <p:spPr>
          <a:xfrm>
            <a:off x="594360" y="6172200"/>
            <a:ext cx="10972800" cy="320040"/>
          </a:xfrm>
          <a:prstGeom prst="rect">
            <a:avLst/>
          </a:prstGeom>
          <a:noFill/>
          <a:ln/>
        </p:spPr>
        <p:txBody>
          <a:bodyPr wrap="square" rtlCol="0" anchor="ctr"/>
          <a:lstStyle/>
          <a:p>
            <a:pPr marL="0" indent="0" algn="ctr">
              <a:buNone/>
            </a:pPr>
            <a:r>
              <a:rPr lang="en-US" sz="1300" b="1" kern="0" spc="200" dirty="0">
                <a:solidFill>
                  <a:srgbClr val="FB385B"/>
                </a:solidFill>
                <a:latin typeface="Barlow Condensed" pitchFamily="34" charset="0"/>
                <a:ea typeface="Barlow Condensed" pitchFamily="34" charset="-122"/>
                <a:cs typeface="Barlow Condensed" pitchFamily="34" charset="-120"/>
              </a:rPr>
              <a:t>◦ VIDEO EXAMPLE</a:t>
            </a:r>
            <a:endParaRPr lang="en-US" sz="1300" dirty="0"/>
          </a:p>
        </p:txBody>
      </p:sp>
      <p:sp>
        <p:nvSpPr>
          <p:cNvPr id="46" name="Shape 44"/>
          <p:cNvSpPr/>
          <p:nvPr/>
        </p:nvSpPr>
        <p:spPr>
          <a:xfrm>
            <a:off x="0" y="6620256"/>
            <a:ext cx="12161520" cy="54864"/>
          </a:xfrm>
          <a:prstGeom prst="rect">
            <a:avLst/>
          </a:prstGeom>
          <a:solidFill>
            <a:srgbClr val="161D3A"/>
          </a:solidFill>
          <a:ln/>
        </p:spPr>
        <p:txBody>
          <a:bodyPr/>
          <a:lstStyle/>
          <a:p>
            <a:endParaRPr lang="es-AR"/>
          </a:p>
        </p:txBody>
      </p:sp>
      <p:sp>
        <p:nvSpPr>
          <p:cNvPr id="47" name="Text 45"/>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48" name="Text 46"/>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17</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10</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MEASURE TO IMPROVE</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600" b="1" kern="0" spc="100" dirty="0">
                <a:solidFill>
                  <a:srgbClr val="FFFFFF"/>
                </a:solidFill>
                <a:latin typeface="Oswald" pitchFamily="34" charset="0"/>
                <a:ea typeface="Oswald" pitchFamily="34" charset="-122"/>
                <a:cs typeface="Oswald" pitchFamily="34" charset="-120"/>
              </a:rPr>
              <a:t>KPIs &amp; Metrics</a:t>
            </a:r>
            <a:endParaRPr lang="en-US" sz="36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600200"/>
            <a:ext cx="11109960" cy="457200"/>
          </a:xfrm>
          <a:prstGeom prst="roundRect">
            <a:avLst>
              <a:gd name="adj" fmla="val 10000"/>
            </a:avLst>
          </a:prstGeom>
          <a:solidFill>
            <a:srgbClr val="202A52"/>
          </a:solidFill>
          <a:ln/>
        </p:spPr>
        <p:txBody>
          <a:bodyPr/>
          <a:lstStyle/>
          <a:p>
            <a:endParaRPr lang="es-AR"/>
          </a:p>
        </p:txBody>
      </p:sp>
      <p:sp>
        <p:nvSpPr>
          <p:cNvPr id="12" name="Text 10"/>
          <p:cNvSpPr/>
          <p:nvPr/>
        </p:nvSpPr>
        <p:spPr>
          <a:xfrm>
            <a:off x="594360" y="1600200"/>
            <a:ext cx="11109960" cy="457200"/>
          </a:xfrm>
          <a:prstGeom prst="rect">
            <a:avLst/>
          </a:prstGeom>
          <a:noFill/>
          <a:ln/>
        </p:spPr>
        <p:txBody>
          <a:bodyPr wrap="square" rtlCol="0" anchor="ctr"/>
          <a:lstStyle/>
          <a:p>
            <a:pPr marL="0" indent="0" algn="ctr">
              <a:buNone/>
            </a:pPr>
            <a:r>
              <a:rPr lang="en-US" sz="1400" b="1" kern="0" spc="200" dirty="0">
                <a:solidFill>
                  <a:srgbClr val="FFD24A"/>
                </a:solidFill>
                <a:latin typeface="Oswald" pitchFamily="34" charset="0"/>
                <a:ea typeface="Oswald" pitchFamily="34" charset="-122"/>
                <a:cs typeface="Oswald" pitchFamily="34" charset="-120"/>
              </a:rPr>
              <a:t>DAILY MOTIVATION · PROFESSIONALISM · CONTINUOUS IMPROVEMENT</a:t>
            </a:r>
            <a:endParaRPr lang="en-US" sz="1400" dirty="0"/>
          </a:p>
        </p:txBody>
      </p:sp>
      <p:sp>
        <p:nvSpPr>
          <p:cNvPr id="13" name="Shape 11"/>
          <p:cNvSpPr/>
          <p:nvPr/>
        </p:nvSpPr>
        <p:spPr>
          <a:xfrm>
            <a:off x="594360" y="2194560"/>
            <a:ext cx="3611880" cy="4160520"/>
          </a:xfrm>
          <a:prstGeom prst="roundRect">
            <a:avLst>
              <a:gd name="adj" fmla="val 1772"/>
            </a:avLst>
          </a:prstGeom>
          <a:solidFill>
            <a:srgbClr val="161D3A"/>
          </a:solidFill>
          <a:ln w="12700">
            <a:solidFill>
              <a:srgbClr val="202A52"/>
            </a:solidFill>
            <a:prstDash val="solid"/>
          </a:ln>
        </p:spPr>
        <p:txBody>
          <a:bodyPr/>
          <a:lstStyle/>
          <a:p>
            <a:endParaRPr lang="es-AR"/>
          </a:p>
        </p:txBody>
      </p:sp>
      <p:sp>
        <p:nvSpPr>
          <p:cNvPr id="14" name="Shape 12"/>
          <p:cNvSpPr/>
          <p:nvPr/>
        </p:nvSpPr>
        <p:spPr>
          <a:xfrm>
            <a:off x="594360" y="2194560"/>
            <a:ext cx="3611880" cy="82296"/>
          </a:xfrm>
          <a:prstGeom prst="rect">
            <a:avLst/>
          </a:prstGeom>
          <a:solidFill>
            <a:srgbClr val="FB385B"/>
          </a:solidFill>
          <a:ln/>
        </p:spPr>
        <p:txBody>
          <a:bodyPr/>
          <a:lstStyle/>
          <a:p>
            <a:endParaRPr lang="es-AR"/>
          </a:p>
        </p:txBody>
      </p:sp>
      <p:sp>
        <p:nvSpPr>
          <p:cNvPr id="15" name="Text 13"/>
          <p:cNvSpPr/>
          <p:nvPr/>
        </p:nvSpPr>
        <p:spPr>
          <a:xfrm>
            <a:off x="822960" y="2331720"/>
            <a:ext cx="3200400" cy="36576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TEAM KPIs</a:t>
            </a:r>
            <a:endParaRPr lang="en-US" sz="1500" dirty="0"/>
          </a:p>
        </p:txBody>
      </p:sp>
      <p:sp>
        <p:nvSpPr>
          <p:cNvPr id="16" name="Shape 14"/>
          <p:cNvSpPr/>
          <p:nvPr/>
        </p:nvSpPr>
        <p:spPr>
          <a:xfrm>
            <a:off x="868680" y="2788920"/>
            <a:ext cx="91440" cy="91440"/>
          </a:xfrm>
          <a:prstGeom prst="rect">
            <a:avLst/>
          </a:prstGeom>
          <a:solidFill>
            <a:srgbClr val="FCB758"/>
          </a:solidFill>
          <a:ln/>
        </p:spPr>
        <p:txBody>
          <a:bodyPr/>
          <a:lstStyle/>
          <a:p>
            <a:endParaRPr lang="es-AR"/>
          </a:p>
        </p:txBody>
      </p:sp>
      <p:sp>
        <p:nvSpPr>
          <p:cNvPr id="17" name="Text 15"/>
          <p:cNvSpPr/>
          <p:nvPr/>
        </p:nvSpPr>
        <p:spPr>
          <a:xfrm>
            <a:off x="1051560" y="2715768"/>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 Serve</a:t>
            </a:r>
            <a:endParaRPr lang="en-US" sz="1150" dirty="0"/>
          </a:p>
        </p:txBody>
      </p:sp>
      <p:sp>
        <p:nvSpPr>
          <p:cNvPr id="18" name="Shape 16"/>
          <p:cNvSpPr/>
          <p:nvPr/>
        </p:nvSpPr>
        <p:spPr>
          <a:xfrm>
            <a:off x="868680" y="3072384"/>
            <a:ext cx="91440" cy="91440"/>
          </a:xfrm>
          <a:prstGeom prst="rect">
            <a:avLst/>
          </a:prstGeom>
          <a:solidFill>
            <a:srgbClr val="FCB758"/>
          </a:solidFill>
          <a:ln/>
        </p:spPr>
        <p:txBody>
          <a:bodyPr/>
          <a:lstStyle/>
          <a:p>
            <a:endParaRPr lang="es-AR"/>
          </a:p>
        </p:txBody>
      </p:sp>
      <p:sp>
        <p:nvSpPr>
          <p:cNvPr id="19" name="Text 17"/>
          <p:cNvSpPr/>
          <p:nvPr/>
        </p:nvSpPr>
        <p:spPr>
          <a:xfrm>
            <a:off x="1051560" y="2999232"/>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 Reception</a:t>
            </a:r>
            <a:endParaRPr lang="en-US" sz="1150" dirty="0"/>
          </a:p>
        </p:txBody>
      </p:sp>
      <p:sp>
        <p:nvSpPr>
          <p:cNvPr id="20" name="Shape 18"/>
          <p:cNvSpPr/>
          <p:nvPr/>
        </p:nvSpPr>
        <p:spPr>
          <a:xfrm>
            <a:off x="868680" y="3355848"/>
            <a:ext cx="91440" cy="91440"/>
          </a:xfrm>
          <a:prstGeom prst="rect">
            <a:avLst/>
          </a:prstGeom>
          <a:solidFill>
            <a:srgbClr val="FCB758"/>
          </a:solidFill>
          <a:ln/>
        </p:spPr>
        <p:txBody>
          <a:bodyPr/>
          <a:lstStyle/>
          <a:p>
            <a:endParaRPr lang="es-AR"/>
          </a:p>
        </p:txBody>
      </p:sp>
      <p:sp>
        <p:nvSpPr>
          <p:cNvPr id="21" name="Text 19"/>
          <p:cNvSpPr/>
          <p:nvPr/>
        </p:nvSpPr>
        <p:spPr>
          <a:xfrm>
            <a:off x="1051560" y="3282696"/>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 Block (# and +)</a:t>
            </a:r>
            <a:endParaRPr lang="en-US" sz="1150" dirty="0"/>
          </a:p>
        </p:txBody>
      </p:sp>
      <p:sp>
        <p:nvSpPr>
          <p:cNvPr id="22" name="Shape 20"/>
          <p:cNvSpPr/>
          <p:nvPr/>
        </p:nvSpPr>
        <p:spPr>
          <a:xfrm>
            <a:off x="868680" y="3639312"/>
            <a:ext cx="91440" cy="91440"/>
          </a:xfrm>
          <a:prstGeom prst="rect">
            <a:avLst/>
          </a:prstGeom>
          <a:solidFill>
            <a:srgbClr val="FCB758"/>
          </a:solidFill>
          <a:ln/>
        </p:spPr>
        <p:txBody>
          <a:bodyPr/>
          <a:lstStyle/>
          <a:p>
            <a:endParaRPr lang="es-AR"/>
          </a:p>
        </p:txBody>
      </p:sp>
      <p:sp>
        <p:nvSpPr>
          <p:cNvPr id="23" name="Text 21"/>
          <p:cNvSpPr/>
          <p:nvPr/>
        </p:nvSpPr>
        <p:spPr>
          <a:xfrm>
            <a:off x="1051560" y="3566160"/>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 Block (#)</a:t>
            </a:r>
            <a:endParaRPr lang="en-US" sz="1150" dirty="0"/>
          </a:p>
        </p:txBody>
      </p:sp>
      <p:sp>
        <p:nvSpPr>
          <p:cNvPr id="24" name="Shape 22"/>
          <p:cNvSpPr/>
          <p:nvPr/>
        </p:nvSpPr>
        <p:spPr>
          <a:xfrm>
            <a:off x="868680" y="3922776"/>
            <a:ext cx="91440" cy="91440"/>
          </a:xfrm>
          <a:prstGeom prst="rect">
            <a:avLst/>
          </a:prstGeom>
          <a:solidFill>
            <a:srgbClr val="FCB758"/>
          </a:solidFill>
          <a:ln/>
        </p:spPr>
        <p:txBody>
          <a:bodyPr/>
          <a:lstStyle/>
          <a:p>
            <a:endParaRPr lang="es-AR"/>
          </a:p>
        </p:txBody>
      </p:sp>
      <p:sp>
        <p:nvSpPr>
          <p:cNvPr id="25" name="Text 23"/>
          <p:cNvSpPr/>
          <p:nvPr/>
        </p:nvSpPr>
        <p:spPr>
          <a:xfrm>
            <a:off x="1051560" y="3849624"/>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Middle attack</a:t>
            </a:r>
            <a:endParaRPr lang="en-US" sz="1150" dirty="0"/>
          </a:p>
        </p:txBody>
      </p:sp>
      <p:sp>
        <p:nvSpPr>
          <p:cNvPr id="26" name="Shape 24"/>
          <p:cNvSpPr/>
          <p:nvPr/>
        </p:nvSpPr>
        <p:spPr>
          <a:xfrm>
            <a:off x="868680" y="4206240"/>
            <a:ext cx="91440" cy="91440"/>
          </a:xfrm>
          <a:prstGeom prst="rect">
            <a:avLst/>
          </a:prstGeom>
          <a:solidFill>
            <a:srgbClr val="FCB758"/>
          </a:solidFill>
          <a:ln/>
        </p:spPr>
        <p:txBody>
          <a:bodyPr/>
          <a:lstStyle/>
          <a:p>
            <a:endParaRPr lang="es-AR"/>
          </a:p>
        </p:txBody>
      </p:sp>
      <p:sp>
        <p:nvSpPr>
          <p:cNvPr id="27" name="Text 25"/>
          <p:cNvSpPr/>
          <p:nvPr/>
        </p:nvSpPr>
        <p:spPr>
          <a:xfrm>
            <a:off x="1051560" y="4133088"/>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High-ball attack</a:t>
            </a:r>
            <a:endParaRPr lang="en-US" sz="1150" dirty="0"/>
          </a:p>
        </p:txBody>
      </p:sp>
      <p:sp>
        <p:nvSpPr>
          <p:cNvPr id="28" name="Shape 26"/>
          <p:cNvSpPr/>
          <p:nvPr/>
        </p:nvSpPr>
        <p:spPr>
          <a:xfrm>
            <a:off x="868680" y="4489704"/>
            <a:ext cx="91440" cy="91440"/>
          </a:xfrm>
          <a:prstGeom prst="rect">
            <a:avLst/>
          </a:prstGeom>
          <a:solidFill>
            <a:srgbClr val="FCB758"/>
          </a:solidFill>
          <a:ln/>
        </p:spPr>
        <p:txBody>
          <a:bodyPr/>
          <a:lstStyle/>
          <a:p>
            <a:endParaRPr lang="es-AR"/>
          </a:p>
        </p:txBody>
      </p:sp>
      <p:sp>
        <p:nvSpPr>
          <p:cNvPr id="29" name="Text 27"/>
          <p:cNvSpPr/>
          <p:nvPr/>
        </p:nvSpPr>
        <p:spPr>
          <a:xfrm>
            <a:off x="1051560" y="4416552"/>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Quick-ball attack</a:t>
            </a:r>
            <a:endParaRPr lang="en-US" sz="1150" dirty="0"/>
          </a:p>
        </p:txBody>
      </p:sp>
      <p:sp>
        <p:nvSpPr>
          <p:cNvPr id="30" name="Shape 28"/>
          <p:cNvSpPr/>
          <p:nvPr/>
        </p:nvSpPr>
        <p:spPr>
          <a:xfrm>
            <a:off x="868680" y="4773168"/>
            <a:ext cx="91440" cy="91440"/>
          </a:xfrm>
          <a:prstGeom prst="rect">
            <a:avLst/>
          </a:prstGeom>
          <a:solidFill>
            <a:srgbClr val="FCB758"/>
          </a:solidFill>
          <a:ln/>
        </p:spPr>
        <p:txBody>
          <a:bodyPr/>
          <a:lstStyle/>
          <a:p>
            <a:endParaRPr lang="es-AR"/>
          </a:p>
        </p:txBody>
      </p:sp>
      <p:sp>
        <p:nvSpPr>
          <p:cNvPr id="31" name="Text 29"/>
          <p:cNvSpPr/>
          <p:nvPr/>
        </p:nvSpPr>
        <p:spPr>
          <a:xfrm>
            <a:off x="1051560" y="4700016"/>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Attack off pass # / +</a:t>
            </a:r>
            <a:endParaRPr lang="en-US" sz="1150" dirty="0"/>
          </a:p>
        </p:txBody>
      </p:sp>
      <p:sp>
        <p:nvSpPr>
          <p:cNvPr id="32" name="Shape 30"/>
          <p:cNvSpPr/>
          <p:nvPr/>
        </p:nvSpPr>
        <p:spPr>
          <a:xfrm>
            <a:off x="868680" y="5056632"/>
            <a:ext cx="91440" cy="91440"/>
          </a:xfrm>
          <a:prstGeom prst="rect">
            <a:avLst/>
          </a:prstGeom>
          <a:solidFill>
            <a:srgbClr val="FCB758"/>
          </a:solidFill>
          <a:ln/>
        </p:spPr>
        <p:txBody>
          <a:bodyPr/>
          <a:lstStyle/>
          <a:p>
            <a:endParaRPr lang="es-AR"/>
          </a:p>
        </p:txBody>
      </p:sp>
      <p:sp>
        <p:nvSpPr>
          <p:cNvPr id="33" name="Text 31"/>
          <p:cNvSpPr/>
          <p:nvPr/>
        </p:nvSpPr>
        <p:spPr>
          <a:xfrm>
            <a:off x="1051560" y="4983480"/>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Attack off pass !</a:t>
            </a:r>
            <a:endParaRPr lang="en-US" sz="1150" dirty="0"/>
          </a:p>
        </p:txBody>
      </p:sp>
      <p:sp>
        <p:nvSpPr>
          <p:cNvPr id="34" name="Shape 32"/>
          <p:cNvSpPr/>
          <p:nvPr/>
        </p:nvSpPr>
        <p:spPr>
          <a:xfrm>
            <a:off x="868680" y="5340096"/>
            <a:ext cx="91440" cy="91440"/>
          </a:xfrm>
          <a:prstGeom prst="rect">
            <a:avLst/>
          </a:prstGeom>
          <a:solidFill>
            <a:srgbClr val="FCB758"/>
          </a:solidFill>
          <a:ln/>
        </p:spPr>
        <p:txBody>
          <a:bodyPr/>
          <a:lstStyle/>
          <a:p>
            <a:endParaRPr lang="es-AR"/>
          </a:p>
        </p:txBody>
      </p:sp>
      <p:sp>
        <p:nvSpPr>
          <p:cNvPr id="35" name="Text 33"/>
          <p:cNvSpPr/>
          <p:nvPr/>
        </p:nvSpPr>
        <p:spPr>
          <a:xfrm>
            <a:off x="1051560" y="5266944"/>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Attack off pass –</a:t>
            </a:r>
            <a:endParaRPr lang="en-US" sz="1150" dirty="0"/>
          </a:p>
        </p:txBody>
      </p:sp>
      <p:sp>
        <p:nvSpPr>
          <p:cNvPr id="36" name="Shape 34"/>
          <p:cNvSpPr/>
          <p:nvPr/>
        </p:nvSpPr>
        <p:spPr>
          <a:xfrm>
            <a:off x="868680" y="5623560"/>
            <a:ext cx="91440" cy="91440"/>
          </a:xfrm>
          <a:prstGeom prst="rect">
            <a:avLst/>
          </a:prstGeom>
          <a:solidFill>
            <a:srgbClr val="FCB758"/>
          </a:solidFill>
          <a:ln/>
        </p:spPr>
        <p:txBody>
          <a:bodyPr/>
          <a:lstStyle/>
          <a:p>
            <a:endParaRPr lang="es-AR"/>
          </a:p>
        </p:txBody>
      </p:sp>
      <p:sp>
        <p:nvSpPr>
          <p:cNvPr id="37" name="Text 35"/>
          <p:cNvSpPr/>
          <p:nvPr/>
        </p:nvSpPr>
        <p:spPr>
          <a:xfrm>
            <a:off x="1051560" y="5550408"/>
            <a:ext cx="3017520" cy="274320"/>
          </a:xfrm>
          <a:prstGeom prst="rect">
            <a:avLst/>
          </a:prstGeom>
          <a:noFill/>
          <a:ln/>
        </p:spPr>
        <p:txBody>
          <a:bodyPr wrap="square" rtlCol="0" anchor="t"/>
          <a:lstStyle/>
          <a:p>
            <a:pPr marL="0" indent="0">
              <a:buNone/>
            </a:pPr>
            <a:r>
              <a:rPr lang="en-US" sz="1150" dirty="0">
                <a:solidFill>
                  <a:srgbClr val="EEF1F6"/>
                </a:solidFill>
                <a:latin typeface="Barlow" pitchFamily="34" charset="0"/>
                <a:ea typeface="Barlow" pitchFamily="34" charset="-122"/>
                <a:cs typeface="Barlow" pitchFamily="34" charset="-120"/>
              </a:rPr>
              <a:t>Transition attack</a:t>
            </a:r>
            <a:endParaRPr lang="en-US" sz="1150" dirty="0"/>
          </a:p>
        </p:txBody>
      </p:sp>
      <p:sp>
        <p:nvSpPr>
          <p:cNvPr id="38" name="Text 36"/>
          <p:cNvSpPr/>
          <p:nvPr/>
        </p:nvSpPr>
        <p:spPr>
          <a:xfrm>
            <a:off x="822960" y="5897880"/>
            <a:ext cx="3200400" cy="411480"/>
          </a:xfrm>
          <a:prstGeom prst="rect">
            <a:avLst/>
          </a:prstGeom>
          <a:noFill/>
          <a:ln/>
        </p:spPr>
        <p:txBody>
          <a:bodyPr wrap="square" rtlCol="0" anchor="t"/>
          <a:lstStyle/>
          <a:p>
            <a:pPr marL="0" indent="0">
              <a:buNone/>
            </a:pPr>
            <a:r>
              <a:rPr lang="en-US" sz="1050" i="1" dirty="0">
                <a:solidFill>
                  <a:srgbClr val="FFD24A"/>
                </a:solidFill>
                <a:latin typeface="Barlow" pitchFamily="34" charset="0"/>
                <a:ea typeface="Barlow" pitchFamily="34" charset="-122"/>
                <a:cs typeface="Barlow" pitchFamily="34" charset="-120"/>
              </a:rPr>
              <a:t>Reference: last tournament data → the baseline to beat every day.</a:t>
            </a:r>
            <a:endParaRPr lang="en-US" sz="1050" dirty="0"/>
          </a:p>
        </p:txBody>
      </p:sp>
      <p:sp>
        <p:nvSpPr>
          <p:cNvPr id="39" name="Shape 37"/>
          <p:cNvSpPr/>
          <p:nvPr/>
        </p:nvSpPr>
        <p:spPr>
          <a:xfrm>
            <a:off x="4343400" y="2194560"/>
            <a:ext cx="3611880" cy="4160520"/>
          </a:xfrm>
          <a:prstGeom prst="roundRect">
            <a:avLst>
              <a:gd name="adj" fmla="val 1772"/>
            </a:avLst>
          </a:prstGeom>
          <a:solidFill>
            <a:srgbClr val="161D3A"/>
          </a:solidFill>
          <a:ln w="12700">
            <a:solidFill>
              <a:srgbClr val="202A52"/>
            </a:solidFill>
            <a:prstDash val="solid"/>
          </a:ln>
        </p:spPr>
        <p:txBody>
          <a:bodyPr/>
          <a:lstStyle/>
          <a:p>
            <a:endParaRPr lang="es-AR"/>
          </a:p>
        </p:txBody>
      </p:sp>
      <p:sp>
        <p:nvSpPr>
          <p:cNvPr id="40" name="Shape 38"/>
          <p:cNvSpPr/>
          <p:nvPr/>
        </p:nvSpPr>
        <p:spPr>
          <a:xfrm>
            <a:off x="4343400" y="2194560"/>
            <a:ext cx="3611880" cy="82296"/>
          </a:xfrm>
          <a:prstGeom prst="rect">
            <a:avLst/>
          </a:prstGeom>
          <a:solidFill>
            <a:srgbClr val="4543CE"/>
          </a:solidFill>
          <a:ln/>
        </p:spPr>
        <p:txBody>
          <a:bodyPr/>
          <a:lstStyle/>
          <a:p>
            <a:endParaRPr lang="es-AR"/>
          </a:p>
        </p:txBody>
      </p:sp>
      <p:sp>
        <p:nvSpPr>
          <p:cNvPr id="41" name="Text 39"/>
          <p:cNvSpPr/>
          <p:nvPr/>
        </p:nvSpPr>
        <p:spPr>
          <a:xfrm>
            <a:off x="4572000" y="2331720"/>
            <a:ext cx="3200400" cy="36576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HOW IT WORKS</a:t>
            </a:r>
            <a:endParaRPr lang="en-US" sz="1500" dirty="0"/>
          </a:p>
        </p:txBody>
      </p:sp>
      <p:sp>
        <p:nvSpPr>
          <p:cNvPr id="42" name="Shape 40"/>
          <p:cNvSpPr/>
          <p:nvPr/>
        </p:nvSpPr>
        <p:spPr>
          <a:xfrm>
            <a:off x="4572000" y="2779776"/>
            <a:ext cx="82296" cy="82296"/>
          </a:xfrm>
          <a:prstGeom prst="rect">
            <a:avLst/>
          </a:prstGeom>
          <a:solidFill>
            <a:srgbClr val="7FD0DD"/>
          </a:solidFill>
          <a:ln/>
        </p:spPr>
        <p:txBody>
          <a:bodyPr/>
          <a:lstStyle/>
          <a:p>
            <a:endParaRPr lang="es-AR"/>
          </a:p>
        </p:txBody>
      </p:sp>
      <p:sp>
        <p:nvSpPr>
          <p:cNvPr id="43" name="Text 41"/>
          <p:cNvSpPr/>
          <p:nvPr/>
        </p:nvSpPr>
        <p:spPr>
          <a:xfrm>
            <a:off x="4754880" y="2715768"/>
            <a:ext cx="3017520" cy="91440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Daily team targets (e.g. 28% pass A, 15% high ball, 10% block #). Miss 2–3 → day not met; hit most → day won.</a:t>
            </a:r>
            <a:endParaRPr lang="en-US" sz="1050" dirty="0"/>
          </a:p>
        </p:txBody>
      </p:sp>
      <p:sp>
        <p:nvSpPr>
          <p:cNvPr id="44" name="Shape 42"/>
          <p:cNvSpPr/>
          <p:nvPr/>
        </p:nvSpPr>
        <p:spPr>
          <a:xfrm>
            <a:off x="4572000" y="3493008"/>
            <a:ext cx="82296" cy="82296"/>
          </a:xfrm>
          <a:prstGeom prst="rect">
            <a:avLst/>
          </a:prstGeom>
          <a:solidFill>
            <a:srgbClr val="7FD0DD"/>
          </a:solidFill>
          <a:ln/>
        </p:spPr>
        <p:txBody>
          <a:bodyPr/>
          <a:lstStyle/>
          <a:p>
            <a:endParaRPr lang="es-AR"/>
          </a:p>
        </p:txBody>
      </p:sp>
      <p:sp>
        <p:nvSpPr>
          <p:cNvPr id="45" name="Text 43"/>
          <p:cNvSpPr/>
          <p:nvPr/>
        </p:nvSpPr>
        <p:spPr>
          <a:xfrm>
            <a:off x="4754880" y="3429000"/>
            <a:ext cx="3017520" cy="91440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Live feedback: an assistant scouts the session; values updated on the board at every pause.</a:t>
            </a:r>
            <a:endParaRPr lang="en-US" sz="1050" dirty="0"/>
          </a:p>
        </p:txBody>
      </p:sp>
      <p:sp>
        <p:nvSpPr>
          <p:cNvPr id="46" name="Shape 44"/>
          <p:cNvSpPr/>
          <p:nvPr/>
        </p:nvSpPr>
        <p:spPr>
          <a:xfrm>
            <a:off x="4572000" y="4206240"/>
            <a:ext cx="82296" cy="82296"/>
          </a:xfrm>
          <a:prstGeom prst="rect">
            <a:avLst/>
          </a:prstGeom>
          <a:solidFill>
            <a:srgbClr val="7FD0DD"/>
          </a:solidFill>
          <a:ln/>
        </p:spPr>
        <p:txBody>
          <a:bodyPr/>
          <a:lstStyle/>
          <a:p>
            <a:endParaRPr lang="es-AR"/>
          </a:p>
        </p:txBody>
      </p:sp>
      <p:sp>
        <p:nvSpPr>
          <p:cNvPr id="47" name="Text 45"/>
          <p:cNvSpPr/>
          <p:nvPr/>
        </p:nvSpPr>
        <p:spPr>
          <a:xfrm>
            <a:off x="4754880" y="4142232"/>
            <a:ext cx="3017520" cy="91440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Individual reports: each player has their sheet in Drive with daily stats.</a:t>
            </a:r>
            <a:endParaRPr lang="en-US" sz="1050" dirty="0"/>
          </a:p>
        </p:txBody>
      </p:sp>
      <p:sp>
        <p:nvSpPr>
          <p:cNvPr id="48" name="Shape 46"/>
          <p:cNvSpPr/>
          <p:nvPr/>
        </p:nvSpPr>
        <p:spPr>
          <a:xfrm>
            <a:off x="4572000" y="4736592"/>
            <a:ext cx="82296" cy="82296"/>
          </a:xfrm>
          <a:prstGeom prst="rect">
            <a:avLst/>
          </a:prstGeom>
          <a:solidFill>
            <a:srgbClr val="7FD0DD"/>
          </a:solidFill>
          <a:ln/>
        </p:spPr>
        <p:txBody>
          <a:bodyPr/>
          <a:lstStyle/>
          <a:p>
            <a:endParaRPr lang="es-AR"/>
          </a:p>
        </p:txBody>
      </p:sp>
      <p:sp>
        <p:nvSpPr>
          <p:cNvPr id="49" name="Text 47"/>
          <p:cNvSpPr/>
          <p:nvPr/>
        </p:nvSpPr>
        <p:spPr>
          <a:xfrm>
            <a:off x="4754880" y="4672584"/>
            <a:ext cx="3017520" cy="91440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Monthly report: individual &amp; team KPIs, direction charts, comparisons and evolution.</a:t>
            </a:r>
            <a:endParaRPr lang="en-US" sz="1050" dirty="0"/>
          </a:p>
        </p:txBody>
      </p:sp>
      <p:sp>
        <p:nvSpPr>
          <p:cNvPr id="50" name="Shape 48"/>
          <p:cNvSpPr/>
          <p:nvPr/>
        </p:nvSpPr>
        <p:spPr>
          <a:xfrm>
            <a:off x="8092440" y="2194560"/>
            <a:ext cx="3611880" cy="4160520"/>
          </a:xfrm>
          <a:prstGeom prst="roundRect">
            <a:avLst>
              <a:gd name="adj" fmla="val 1772"/>
            </a:avLst>
          </a:prstGeom>
          <a:solidFill>
            <a:srgbClr val="161D3A"/>
          </a:solidFill>
          <a:ln w="12700">
            <a:solidFill>
              <a:srgbClr val="202A52"/>
            </a:solidFill>
            <a:prstDash val="solid"/>
          </a:ln>
        </p:spPr>
        <p:txBody>
          <a:bodyPr/>
          <a:lstStyle/>
          <a:p>
            <a:endParaRPr lang="es-AR"/>
          </a:p>
        </p:txBody>
      </p:sp>
      <p:sp>
        <p:nvSpPr>
          <p:cNvPr id="51" name="Shape 49"/>
          <p:cNvSpPr/>
          <p:nvPr/>
        </p:nvSpPr>
        <p:spPr>
          <a:xfrm>
            <a:off x="8092440" y="2194560"/>
            <a:ext cx="3611880" cy="82296"/>
          </a:xfrm>
          <a:prstGeom prst="rect">
            <a:avLst/>
          </a:prstGeom>
          <a:solidFill>
            <a:srgbClr val="6D6BE0"/>
          </a:solidFill>
          <a:ln/>
        </p:spPr>
        <p:txBody>
          <a:bodyPr/>
          <a:lstStyle/>
          <a:p>
            <a:endParaRPr lang="es-AR"/>
          </a:p>
        </p:txBody>
      </p:sp>
      <p:sp>
        <p:nvSpPr>
          <p:cNvPr id="52" name="Text 50"/>
          <p:cNvSpPr/>
          <p:nvPr/>
        </p:nvSpPr>
        <p:spPr>
          <a:xfrm>
            <a:off x="8321040" y="2331720"/>
            <a:ext cx="3200400" cy="365760"/>
          </a:xfrm>
          <a:prstGeom prst="rect">
            <a:avLst/>
          </a:prstGeom>
          <a:noFill/>
          <a:ln/>
        </p:spPr>
        <p:txBody>
          <a:bodyPr wrap="square" rtlCol="0" anchor="ctr"/>
          <a:lstStyle/>
          <a:p>
            <a:pPr marL="0" indent="0">
              <a:buNone/>
            </a:pPr>
            <a:r>
              <a:rPr lang="en-US" sz="1500" b="1" kern="0" spc="100" dirty="0">
                <a:solidFill>
                  <a:srgbClr val="FFFFFF"/>
                </a:solidFill>
                <a:latin typeface="Oswald" pitchFamily="34" charset="0"/>
                <a:ea typeface="Oswald" pitchFamily="34" charset="-122"/>
                <a:cs typeface="Oswald" pitchFamily="34" charset="-120"/>
              </a:rPr>
              <a:t>CULTURE</a:t>
            </a:r>
            <a:endParaRPr lang="en-US" sz="1500" dirty="0"/>
          </a:p>
        </p:txBody>
      </p:sp>
      <p:sp>
        <p:nvSpPr>
          <p:cNvPr id="53" name="Shape 51"/>
          <p:cNvSpPr/>
          <p:nvPr/>
        </p:nvSpPr>
        <p:spPr>
          <a:xfrm>
            <a:off x="8321040" y="2779776"/>
            <a:ext cx="82296" cy="82296"/>
          </a:xfrm>
          <a:prstGeom prst="rect">
            <a:avLst/>
          </a:prstGeom>
          <a:solidFill>
            <a:srgbClr val="C3B3EE"/>
          </a:solidFill>
          <a:ln/>
        </p:spPr>
        <p:txBody>
          <a:bodyPr/>
          <a:lstStyle/>
          <a:p>
            <a:endParaRPr lang="es-AR"/>
          </a:p>
        </p:txBody>
      </p:sp>
      <p:sp>
        <p:nvSpPr>
          <p:cNvPr id="54" name="Text 52"/>
          <p:cNvSpPr/>
          <p:nvPr/>
        </p:nvSpPr>
        <p:spPr>
          <a:xfrm>
            <a:off x="8503920" y="2715768"/>
            <a:ext cx="3017520" cy="109728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Reward: targets met → a mini-set as a treat. Internal competition with a running table.</a:t>
            </a:r>
            <a:endParaRPr lang="en-US" sz="1050" dirty="0"/>
          </a:p>
        </p:txBody>
      </p:sp>
      <p:sp>
        <p:nvSpPr>
          <p:cNvPr id="55" name="Shape 53"/>
          <p:cNvSpPr/>
          <p:nvPr/>
        </p:nvSpPr>
        <p:spPr>
          <a:xfrm>
            <a:off x="8321040" y="3511296"/>
            <a:ext cx="82296" cy="82296"/>
          </a:xfrm>
          <a:prstGeom prst="rect">
            <a:avLst/>
          </a:prstGeom>
          <a:solidFill>
            <a:srgbClr val="C3B3EE"/>
          </a:solidFill>
          <a:ln/>
        </p:spPr>
        <p:txBody>
          <a:bodyPr/>
          <a:lstStyle/>
          <a:p>
            <a:endParaRPr lang="es-AR"/>
          </a:p>
        </p:txBody>
      </p:sp>
      <p:sp>
        <p:nvSpPr>
          <p:cNvPr id="56" name="Text 54"/>
          <p:cNvSpPr/>
          <p:nvPr/>
        </p:nvSpPr>
        <p:spPr>
          <a:xfrm>
            <a:off x="8503920" y="3447288"/>
            <a:ext cx="3017520" cy="109728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Consequence: not met → set forfeits. A clear mark that today wasn't at the expected level.</a:t>
            </a:r>
            <a:endParaRPr lang="en-US" sz="1050" dirty="0"/>
          </a:p>
        </p:txBody>
      </p:sp>
      <p:sp>
        <p:nvSpPr>
          <p:cNvPr id="57" name="Shape 55"/>
          <p:cNvSpPr/>
          <p:nvPr/>
        </p:nvSpPr>
        <p:spPr>
          <a:xfrm>
            <a:off x="8321040" y="4242816"/>
            <a:ext cx="82296" cy="82296"/>
          </a:xfrm>
          <a:prstGeom prst="rect">
            <a:avLst/>
          </a:prstGeom>
          <a:solidFill>
            <a:srgbClr val="C3B3EE"/>
          </a:solidFill>
          <a:ln/>
        </p:spPr>
        <p:txBody>
          <a:bodyPr/>
          <a:lstStyle/>
          <a:p>
            <a:endParaRPr lang="es-AR"/>
          </a:p>
        </p:txBody>
      </p:sp>
      <p:sp>
        <p:nvSpPr>
          <p:cNvPr id="58" name="Text 56"/>
          <p:cNvSpPr/>
          <p:nvPr/>
        </p:nvSpPr>
        <p:spPr>
          <a:xfrm>
            <a:off x="8503920" y="4178808"/>
            <a:ext cx="3017520" cy="1097280"/>
          </a:xfrm>
          <a:prstGeom prst="rect">
            <a:avLst/>
          </a:prstGeom>
          <a:noFill/>
          <a:ln/>
        </p:spPr>
        <p:txBody>
          <a:bodyPr wrap="square" rtlCol="0" anchor="t"/>
          <a:lstStyle/>
          <a:p>
            <a:pPr marL="0" indent="0">
              <a:lnSpc>
                <a:spcPts val="1300"/>
              </a:lnSpc>
              <a:buNone/>
            </a:pPr>
            <a:r>
              <a:rPr lang="en-US" sz="1050" dirty="0">
                <a:solidFill>
                  <a:srgbClr val="EEF1F6"/>
                </a:solidFill>
                <a:latin typeface="Barlow" pitchFamily="34" charset="0"/>
                <a:ea typeface="Barlow" pitchFamily="34" charset="-122"/>
                <a:cs typeface="Barlow" pitchFamily="34" charset="-120"/>
              </a:rPr>
              <a:t>Purpose: train at 100% like we play, a clear daily goal, professionalism, healthy competition, instant feedback, continuous improvement.</a:t>
            </a:r>
            <a:endParaRPr lang="en-US" sz="1050" dirty="0"/>
          </a:p>
        </p:txBody>
      </p:sp>
      <p:sp>
        <p:nvSpPr>
          <p:cNvPr id="59" name="Shape 57"/>
          <p:cNvSpPr/>
          <p:nvPr/>
        </p:nvSpPr>
        <p:spPr>
          <a:xfrm>
            <a:off x="0" y="6620256"/>
            <a:ext cx="12161520" cy="54864"/>
          </a:xfrm>
          <a:prstGeom prst="rect">
            <a:avLst/>
          </a:prstGeom>
          <a:solidFill>
            <a:srgbClr val="161D3A"/>
          </a:solidFill>
          <a:ln/>
        </p:spPr>
        <p:txBody>
          <a:bodyPr/>
          <a:lstStyle/>
          <a:p>
            <a:endParaRPr lang="es-AR"/>
          </a:p>
        </p:txBody>
      </p:sp>
      <p:sp>
        <p:nvSpPr>
          <p:cNvPr id="60" name="Text 58"/>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61" name="Text 59"/>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18</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10</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WHY WE WORK WITH DATA</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600" b="1" kern="0" spc="100" dirty="0">
                <a:solidFill>
                  <a:srgbClr val="FFFFFF"/>
                </a:solidFill>
                <a:latin typeface="Oswald" pitchFamily="34" charset="0"/>
                <a:ea typeface="Oswald" pitchFamily="34" charset="-122"/>
                <a:cs typeface="Oswald" pitchFamily="34" charset="-120"/>
              </a:rPr>
              <a:t>KPIs &amp; Metrics</a:t>
            </a:r>
            <a:endParaRPr lang="en-US" sz="36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83080"/>
            <a:ext cx="5532120" cy="4572000"/>
          </a:xfrm>
          <a:prstGeom prst="roundRect">
            <a:avLst>
              <a:gd name="adj" fmla="val 1400"/>
            </a:avLst>
          </a:prstGeom>
          <a:solidFill>
            <a:srgbClr val="161D3A"/>
          </a:solidFill>
          <a:ln w="12700">
            <a:solidFill>
              <a:srgbClr val="202A52"/>
            </a:solidFill>
            <a:prstDash val="solid"/>
          </a:ln>
        </p:spPr>
        <p:txBody>
          <a:bodyPr/>
          <a:lstStyle/>
          <a:p>
            <a:endParaRPr lang="es-AR"/>
          </a:p>
        </p:txBody>
      </p:sp>
      <p:sp>
        <p:nvSpPr>
          <p:cNvPr id="12" name="Shape 10"/>
          <p:cNvSpPr/>
          <p:nvPr/>
        </p:nvSpPr>
        <p:spPr>
          <a:xfrm>
            <a:off x="594360" y="1783080"/>
            <a:ext cx="5532120" cy="82296"/>
          </a:xfrm>
          <a:prstGeom prst="rect">
            <a:avLst/>
          </a:prstGeom>
          <a:solidFill>
            <a:srgbClr val="FB385B"/>
          </a:solidFill>
          <a:ln/>
        </p:spPr>
        <p:txBody>
          <a:bodyPr/>
          <a:lstStyle/>
          <a:p>
            <a:endParaRPr lang="es-AR"/>
          </a:p>
        </p:txBody>
      </p:sp>
      <p:sp>
        <p:nvSpPr>
          <p:cNvPr id="13" name="Text 11"/>
          <p:cNvSpPr/>
          <p:nvPr/>
        </p:nvSpPr>
        <p:spPr>
          <a:xfrm>
            <a:off x="822960" y="1965960"/>
            <a:ext cx="5074920" cy="365760"/>
          </a:xfrm>
          <a:prstGeom prst="rect">
            <a:avLst/>
          </a:prstGeom>
          <a:noFill/>
          <a:ln/>
        </p:spPr>
        <p:txBody>
          <a:bodyPr wrap="square" rtlCol="0" anchor="ctr"/>
          <a:lstStyle/>
          <a:p>
            <a:pPr marL="0" indent="0">
              <a:buNone/>
            </a:pPr>
            <a:r>
              <a:rPr lang="en-US" sz="1350" b="1" kern="0" spc="100" dirty="0">
                <a:solidFill>
                  <a:srgbClr val="FFFFFF"/>
                </a:solidFill>
                <a:latin typeface="Oswald" pitchFamily="34" charset="0"/>
                <a:ea typeface="Oswald" pitchFamily="34" charset="-122"/>
                <a:cs typeface="Oswald" pitchFamily="34" charset="-120"/>
              </a:rPr>
              <a:t>WHY DATA?</a:t>
            </a:r>
            <a:endParaRPr lang="en-US" sz="1350" dirty="0"/>
          </a:p>
        </p:txBody>
      </p:sp>
      <p:sp>
        <p:nvSpPr>
          <p:cNvPr id="14" name="Text 12"/>
          <p:cNvSpPr/>
          <p:nvPr/>
        </p:nvSpPr>
        <p:spPr>
          <a:xfrm>
            <a:off x="822960" y="2350008"/>
            <a:ext cx="5074920" cy="1097280"/>
          </a:xfrm>
          <a:prstGeom prst="rect">
            <a:avLst/>
          </a:prstGeom>
          <a:noFill/>
          <a:ln/>
        </p:spPr>
        <p:txBody>
          <a:bodyPr wrap="square" rtlCol="0" anchor="t"/>
          <a:lstStyle/>
          <a:p>
            <a:pPr marL="0" indent="0">
              <a:lnSpc>
                <a:spcPts val="1500"/>
              </a:lnSpc>
              <a:buNone/>
            </a:pPr>
            <a:r>
              <a:rPr lang="en-US" sz="1150" i="1" dirty="0">
                <a:solidFill>
                  <a:srgbClr val="FFD24A"/>
                </a:solidFill>
                <a:latin typeface="Barlow" pitchFamily="34" charset="0"/>
                <a:ea typeface="Barlow" pitchFamily="34" charset="-122"/>
                <a:cs typeface="Barlow" pitchFamily="34" charset="-120"/>
              </a:rPr>
              <a:t>Professionalism · Clarity · Continuous improvement</a:t>
            </a:r>
            <a:endParaRPr lang="en-US" sz="1150" dirty="0"/>
          </a:p>
        </p:txBody>
      </p:sp>
      <p:sp>
        <p:nvSpPr>
          <p:cNvPr id="15" name="Text 13"/>
          <p:cNvSpPr/>
          <p:nvPr/>
        </p:nvSpPr>
        <p:spPr>
          <a:xfrm>
            <a:off x="822960" y="2807208"/>
            <a:ext cx="5074920" cy="365760"/>
          </a:xfrm>
          <a:prstGeom prst="rect">
            <a:avLst/>
          </a:prstGeom>
          <a:noFill/>
          <a:ln/>
        </p:spPr>
        <p:txBody>
          <a:bodyPr wrap="square" rtlCol="0" anchor="ctr"/>
          <a:lstStyle/>
          <a:p>
            <a:pPr marL="0" indent="0">
              <a:buNone/>
            </a:pPr>
            <a:r>
              <a:rPr lang="en-US" sz="1350" b="1" kern="0" spc="100" dirty="0">
                <a:solidFill>
                  <a:srgbClr val="FFFFFF"/>
                </a:solidFill>
                <a:latin typeface="Oswald" pitchFamily="34" charset="0"/>
                <a:ea typeface="Oswald" pitchFamily="34" charset="-122"/>
                <a:cs typeface="Oswald" pitchFamily="34" charset="-120"/>
              </a:rPr>
              <a:t>TRANSPARENCY &amp; PROFESSIONALISM</a:t>
            </a:r>
            <a:endParaRPr lang="en-US" sz="1350" dirty="0"/>
          </a:p>
        </p:txBody>
      </p:sp>
      <p:sp>
        <p:nvSpPr>
          <p:cNvPr id="16" name="Text 14"/>
          <p:cNvSpPr/>
          <p:nvPr/>
        </p:nvSpPr>
        <p:spPr>
          <a:xfrm>
            <a:off x="822960" y="3191256"/>
            <a:ext cx="5074920" cy="1097280"/>
          </a:xfrm>
          <a:prstGeom prst="rect">
            <a:avLst/>
          </a:prstGeom>
          <a:noFill/>
          <a:ln/>
        </p:spPr>
        <p:txBody>
          <a:bodyPr wrap="square" rtlCol="0" anchor="t"/>
          <a:lstStyle/>
          <a:p>
            <a:pPr marL="0" indent="0">
              <a:lnSpc>
                <a:spcPts val="1500"/>
              </a:lnSpc>
              <a:buNone/>
            </a:pPr>
            <a:r>
              <a:rPr lang="en-US" sz="1150" dirty="0">
                <a:solidFill>
                  <a:srgbClr val="EEF1F6"/>
                </a:solidFill>
                <a:latin typeface="Barlow" pitchFamily="34" charset="0"/>
                <a:ea typeface="Barlow" pitchFamily="34" charset="-122"/>
                <a:cs typeface="Barlow" pitchFamily="34" charset="-120"/>
              </a:rPr>
              <a:t>Data removes perception and bias. Everyone knows exactly what's expected and how it's measured. Performance stops being a 'feeling' and becomes real information. Training gets more serious, clearer and more competitive.</a:t>
            </a:r>
            <a:endParaRPr lang="en-US" sz="1150" dirty="0"/>
          </a:p>
        </p:txBody>
      </p:sp>
      <p:sp>
        <p:nvSpPr>
          <p:cNvPr id="17" name="Text 15"/>
          <p:cNvSpPr/>
          <p:nvPr/>
        </p:nvSpPr>
        <p:spPr>
          <a:xfrm>
            <a:off x="822960" y="4251960"/>
            <a:ext cx="5074920" cy="365760"/>
          </a:xfrm>
          <a:prstGeom prst="rect">
            <a:avLst/>
          </a:prstGeom>
          <a:noFill/>
          <a:ln/>
        </p:spPr>
        <p:txBody>
          <a:bodyPr wrap="square" rtlCol="0" anchor="ctr"/>
          <a:lstStyle/>
          <a:p>
            <a:pPr marL="0" indent="0">
              <a:buNone/>
            </a:pPr>
            <a:r>
              <a:rPr lang="en-US" sz="1350" b="1" kern="0" spc="100" dirty="0">
                <a:solidFill>
                  <a:srgbClr val="FFFFFF"/>
                </a:solidFill>
                <a:latin typeface="Oswald" pitchFamily="34" charset="0"/>
                <a:ea typeface="Oswald" pitchFamily="34" charset="-122"/>
                <a:cs typeface="Oswald" pitchFamily="34" charset="-120"/>
              </a:rPr>
              <a:t>MOTIVATION &amp; DAILY OBJECTIVES</a:t>
            </a:r>
            <a:endParaRPr lang="en-US" sz="1350" dirty="0"/>
          </a:p>
        </p:txBody>
      </p:sp>
      <p:sp>
        <p:nvSpPr>
          <p:cNvPr id="18" name="Text 16"/>
          <p:cNvSpPr/>
          <p:nvPr/>
        </p:nvSpPr>
        <p:spPr>
          <a:xfrm>
            <a:off x="822960" y="4636008"/>
            <a:ext cx="5074920" cy="1097280"/>
          </a:xfrm>
          <a:prstGeom prst="rect">
            <a:avLst/>
          </a:prstGeom>
          <a:noFill/>
          <a:ln/>
        </p:spPr>
        <p:txBody>
          <a:bodyPr wrap="square" rtlCol="0" anchor="t"/>
          <a:lstStyle/>
          <a:p>
            <a:pPr marL="0" indent="0">
              <a:lnSpc>
                <a:spcPts val="1500"/>
              </a:lnSpc>
              <a:buNone/>
            </a:pPr>
            <a:r>
              <a:rPr lang="en-US" sz="1150" dirty="0">
                <a:solidFill>
                  <a:srgbClr val="EEF1F6"/>
                </a:solidFill>
                <a:latin typeface="Barlow" pitchFamily="34" charset="0"/>
                <a:ea typeface="Barlow" pitchFamily="34" charset="-122"/>
                <a:cs typeface="Barlow" pitchFamily="34" charset="-120"/>
              </a:rPr>
              <a:t>We train with a concrete purpose. Each day has clear goals → we know if we trained well. Feedback is immediate: pause → numbers → correction. We train with the same intensity we want to play.</a:t>
            </a:r>
            <a:endParaRPr lang="en-US" sz="1150" dirty="0"/>
          </a:p>
        </p:txBody>
      </p:sp>
      <p:sp>
        <p:nvSpPr>
          <p:cNvPr id="19" name="Shape 17"/>
          <p:cNvSpPr/>
          <p:nvPr/>
        </p:nvSpPr>
        <p:spPr>
          <a:xfrm>
            <a:off x="6172200" y="1783080"/>
            <a:ext cx="5532120" cy="4572000"/>
          </a:xfrm>
          <a:prstGeom prst="roundRect">
            <a:avLst>
              <a:gd name="adj" fmla="val 1400"/>
            </a:avLst>
          </a:prstGeom>
          <a:solidFill>
            <a:srgbClr val="161D3A"/>
          </a:solidFill>
          <a:ln w="12700">
            <a:solidFill>
              <a:srgbClr val="202A52"/>
            </a:solidFill>
            <a:prstDash val="solid"/>
          </a:ln>
        </p:spPr>
        <p:txBody>
          <a:bodyPr/>
          <a:lstStyle/>
          <a:p>
            <a:endParaRPr lang="es-AR"/>
          </a:p>
        </p:txBody>
      </p:sp>
      <p:sp>
        <p:nvSpPr>
          <p:cNvPr id="20" name="Shape 18"/>
          <p:cNvSpPr/>
          <p:nvPr/>
        </p:nvSpPr>
        <p:spPr>
          <a:xfrm>
            <a:off x="6172200" y="1783080"/>
            <a:ext cx="5532120" cy="82296"/>
          </a:xfrm>
          <a:prstGeom prst="rect">
            <a:avLst/>
          </a:prstGeom>
          <a:solidFill>
            <a:srgbClr val="4543CE"/>
          </a:solidFill>
          <a:ln/>
        </p:spPr>
        <p:txBody>
          <a:bodyPr/>
          <a:lstStyle/>
          <a:p>
            <a:endParaRPr lang="es-AR"/>
          </a:p>
        </p:txBody>
      </p:sp>
      <p:sp>
        <p:nvSpPr>
          <p:cNvPr id="21" name="Text 19"/>
          <p:cNvSpPr/>
          <p:nvPr/>
        </p:nvSpPr>
        <p:spPr>
          <a:xfrm>
            <a:off x="6400800" y="1965960"/>
            <a:ext cx="5074920" cy="365760"/>
          </a:xfrm>
          <a:prstGeom prst="rect">
            <a:avLst/>
          </a:prstGeom>
          <a:noFill/>
          <a:ln/>
        </p:spPr>
        <p:txBody>
          <a:bodyPr wrap="square" rtlCol="0" anchor="ctr"/>
          <a:lstStyle/>
          <a:p>
            <a:pPr marL="0" indent="0">
              <a:buNone/>
            </a:pPr>
            <a:r>
              <a:rPr lang="en-US" sz="1350" b="1" kern="0" spc="100" dirty="0">
                <a:solidFill>
                  <a:srgbClr val="FFFFFF"/>
                </a:solidFill>
                <a:latin typeface="Oswald" pitchFamily="34" charset="0"/>
                <a:ea typeface="Oswald" pitchFamily="34" charset="-122"/>
                <a:cs typeface="Oswald" pitchFamily="34" charset="-120"/>
              </a:rPr>
              <a:t>CONTINUOUS IMPROVEMENT &amp; ACCOUNTABILITY</a:t>
            </a:r>
            <a:endParaRPr lang="en-US" sz="1350" dirty="0"/>
          </a:p>
        </p:txBody>
      </p:sp>
      <p:sp>
        <p:nvSpPr>
          <p:cNvPr id="22" name="Text 20"/>
          <p:cNvSpPr/>
          <p:nvPr/>
        </p:nvSpPr>
        <p:spPr>
          <a:xfrm>
            <a:off x="6400800" y="2350008"/>
            <a:ext cx="5074920" cy="1097280"/>
          </a:xfrm>
          <a:prstGeom prst="rect">
            <a:avLst/>
          </a:prstGeom>
          <a:noFill/>
          <a:ln/>
        </p:spPr>
        <p:txBody>
          <a:bodyPr wrap="square" rtlCol="0" anchor="t"/>
          <a:lstStyle/>
          <a:p>
            <a:pPr marL="0" indent="0">
              <a:lnSpc>
                <a:spcPts val="1500"/>
              </a:lnSpc>
              <a:buNone/>
            </a:pPr>
            <a:r>
              <a:rPr lang="en-US" sz="1150" dirty="0">
                <a:solidFill>
                  <a:srgbClr val="EEF1F6"/>
                </a:solidFill>
                <a:latin typeface="Barlow" pitchFamily="34" charset="0"/>
                <a:ea typeface="Barlow" pitchFamily="34" charset="-122"/>
                <a:cs typeface="Barlow" pitchFamily="34" charset="-120"/>
              </a:rPr>
              <a:t>Each player has individual tracking and a monthly evolution report. Data justifies decisions: playing time, roles, adjustments. It fuels healthy internal competition. The team grows because everyone knows what to improve and how.</a:t>
            </a:r>
            <a:endParaRPr lang="en-US" sz="1150" dirty="0"/>
          </a:p>
        </p:txBody>
      </p:sp>
      <p:sp>
        <p:nvSpPr>
          <p:cNvPr id="23" name="Text 21"/>
          <p:cNvSpPr/>
          <p:nvPr/>
        </p:nvSpPr>
        <p:spPr>
          <a:xfrm>
            <a:off x="6400800" y="3611880"/>
            <a:ext cx="5074920" cy="365760"/>
          </a:xfrm>
          <a:prstGeom prst="rect">
            <a:avLst/>
          </a:prstGeom>
          <a:noFill/>
          <a:ln/>
        </p:spPr>
        <p:txBody>
          <a:bodyPr wrap="square" rtlCol="0" anchor="ctr"/>
          <a:lstStyle/>
          <a:p>
            <a:pPr marL="0" indent="0">
              <a:buNone/>
            </a:pPr>
            <a:r>
              <a:rPr lang="en-US" sz="1350" b="1" kern="0" spc="100" dirty="0">
                <a:solidFill>
                  <a:srgbClr val="FFFFFF"/>
                </a:solidFill>
                <a:latin typeface="Oswald" pitchFamily="34" charset="0"/>
                <a:ea typeface="Oswald" pitchFamily="34" charset="-122"/>
                <a:cs typeface="Oswald" pitchFamily="34" charset="-120"/>
              </a:rPr>
              <a:t>HIGH-PERFORMANCE CULTURE</a:t>
            </a:r>
            <a:endParaRPr lang="en-US" sz="1350" dirty="0"/>
          </a:p>
        </p:txBody>
      </p:sp>
      <p:sp>
        <p:nvSpPr>
          <p:cNvPr id="24" name="Text 22"/>
          <p:cNvSpPr/>
          <p:nvPr/>
        </p:nvSpPr>
        <p:spPr>
          <a:xfrm>
            <a:off x="6400800" y="3995928"/>
            <a:ext cx="5074920" cy="1097280"/>
          </a:xfrm>
          <a:prstGeom prst="rect">
            <a:avLst/>
          </a:prstGeom>
          <a:noFill/>
          <a:ln/>
        </p:spPr>
        <p:txBody>
          <a:bodyPr wrap="square" rtlCol="0" anchor="t"/>
          <a:lstStyle/>
          <a:p>
            <a:pPr marL="0" indent="0">
              <a:lnSpc>
                <a:spcPts val="1500"/>
              </a:lnSpc>
              <a:buNone/>
            </a:pPr>
            <a:r>
              <a:rPr lang="en-US" sz="1150" dirty="0">
                <a:solidFill>
                  <a:srgbClr val="EEF1F6"/>
                </a:solidFill>
                <a:latin typeface="Barlow" pitchFamily="34" charset="0"/>
                <a:ea typeface="Barlow" pitchFamily="34" charset="-122"/>
                <a:cs typeface="Barlow" pitchFamily="34" charset="-120"/>
              </a:rPr>
              <a:t>Data isn't control — it's a tool to grow. It orders us. It motivates us. It makes us accountable. It makes us professionals. It lets us compete at the highest level.</a:t>
            </a:r>
            <a:endParaRPr lang="en-US" sz="1150" dirty="0"/>
          </a:p>
        </p:txBody>
      </p:sp>
      <p:sp>
        <p:nvSpPr>
          <p:cNvPr id="25" name="Shape 23"/>
          <p:cNvSpPr/>
          <p:nvPr/>
        </p:nvSpPr>
        <p:spPr>
          <a:xfrm>
            <a:off x="0" y="6620256"/>
            <a:ext cx="12161520" cy="54864"/>
          </a:xfrm>
          <a:prstGeom prst="rect">
            <a:avLst/>
          </a:prstGeom>
          <a:solidFill>
            <a:srgbClr val="161D3A"/>
          </a:solidFill>
          <a:ln/>
        </p:spPr>
        <p:txBody>
          <a:bodyPr/>
          <a:lstStyle/>
          <a:p>
            <a:endParaRPr lang="es-AR"/>
          </a:p>
        </p:txBody>
      </p:sp>
      <p:sp>
        <p:nvSpPr>
          <p:cNvPr id="26" name="Text 24"/>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27" name="Text 25"/>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226"/>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roundRect">
            <a:avLst>
              <a:gd name="adj" fmla="val 9677"/>
            </a:avLst>
          </a:prstGeom>
          <a:solidFill>
            <a:srgbClr val="161D3A"/>
          </a:solidFill>
          <a:ln w="12700">
            <a:solidFill>
              <a:srgbClr val="FCB758"/>
            </a:solidFill>
            <a:prstDash val="dash"/>
          </a:ln>
        </p:spPr>
        <p:txBody>
          <a:bodyPr/>
          <a:lstStyle/>
          <a:p>
            <a:endParaRPr lang="es-AR"/>
          </a:p>
        </p:txBody>
      </p:sp>
      <p:sp>
        <p:nvSpPr>
          <p:cNvPr id="3" name="Text 1"/>
          <p:cNvSpPr/>
          <p:nvPr/>
        </p:nvSpPr>
        <p:spPr>
          <a:xfrm>
            <a:off x="457200" y="658368"/>
            <a:ext cx="658368" cy="182880"/>
          </a:xfrm>
          <a:prstGeom prst="rect">
            <a:avLst/>
          </a:prstGeom>
          <a:noFill/>
          <a:ln/>
        </p:spPr>
        <p:txBody>
          <a:bodyPr wrap="square" rtlCol="0" anchor="ctr"/>
          <a:lstStyle/>
          <a:p>
            <a:pPr marL="0" indent="0" algn="ctr">
              <a:buNone/>
            </a:pPr>
            <a:r>
              <a:rPr lang="en-US" sz="700" dirty="0">
                <a:solidFill>
                  <a:srgbClr val="8B97AD"/>
                </a:solidFill>
                <a:latin typeface="Barlow Condensed" pitchFamily="34" charset="0"/>
                <a:ea typeface="Barlow Condensed" pitchFamily="34" charset="-122"/>
                <a:cs typeface="Barlow Condensed" pitchFamily="34" charset="-120"/>
              </a:rPr>
              <a:t>CREST</a:t>
            </a:r>
            <a:endParaRPr lang="en-US" sz="700" dirty="0"/>
          </a:p>
        </p:txBody>
      </p:sp>
      <p:sp>
        <p:nvSpPr>
          <p:cNvPr id="4" name="Text 2"/>
          <p:cNvSpPr/>
          <p:nvPr/>
        </p:nvSpPr>
        <p:spPr>
          <a:xfrm>
            <a:off x="10241280" y="-137160"/>
            <a:ext cx="1920240" cy="2011680"/>
          </a:xfrm>
          <a:prstGeom prst="rect">
            <a:avLst/>
          </a:prstGeom>
          <a:noFill/>
          <a:ln/>
        </p:spPr>
        <p:txBody>
          <a:bodyPr wrap="square" rtlCol="0" anchor="ctr"/>
          <a:lstStyle/>
          <a:p>
            <a:pPr marL="0" indent="0" algn="r">
              <a:buNone/>
            </a:pPr>
            <a:r>
              <a:rPr lang="en-US" sz="12000" b="1" dirty="0">
                <a:solidFill>
                  <a:srgbClr val="202A52"/>
                </a:solidFill>
                <a:latin typeface="Oswald Bold" pitchFamily="34" charset="0"/>
                <a:ea typeface="Oswald Bold" pitchFamily="34" charset="-122"/>
                <a:cs typeface="Oswald Bold" pitchFamily="34" charset="-120"/>
              </a:rPr>
              <a:t>11</a:t>
            </a:r>
            <a:endParaRPr lang="en-US" sz="12000" dirty="0"/>
          </a:p>
        </p:txBody>
      </p:sp>
      <p:sp>
        <p:nvSpPr>
          <p:cNvPr id="5" name="Shape 3"/>
          <p:cNvSpPr/>
          <p:nvPr/>
        </p:nvSpPr>
        <p:spPr>
          <a:xfrm>
            <a:off x="548640" y="502920"/>
            <a:ext cx="82296" cy="868680"/>
          </a:xfrm>
          <a:prstGeom prst="rect">
            <a:avLst/>
          </a:prstGeom>
          <a:solidFill>
            <a:srgbClr val="FB385B"/>
          </a:solidFill>
          <a:ln/>
        </p:spPr>
        <p:txBody>
          <a:bodyPr/>
          <a:lstStyle/>
          <a:p>
            <a:endParaRPr lang="es-AR"/>
          </a:p>
        </p:txBody>
      </p:sp>
      <p:sp>
        <p:nvSpPr>
          <p:cNvPr id="6" name="Text 4"/>
          <p:cNvSpPr/>
          <p:nvPr/>
        </p:nvSpPr>
        <p:spPr>
          <a:xfrm>
            <a:off x="777240" y="457200"/>
            <a:ext cx="8229600" cy="320040"/>
          </a:xfrm>
          <a:prstGeom prst="rect">
            <a:avLst/>
          </a:prstGeom>
          <a:noFill/>
          <a:ln/>
        </p:spPr>
        <p:txBody>
          <a:bodyPr wrap="square" rtlCol="0" anchor="ctr"/>
          <a:lstStyle/>
          <a:p>
            <a:pPr marL="0" indent="0">
              <a:buNone/>
            </a:pPr>
            <a:r>
              <a:rPr lang="en-US" sz="1400" b="1" kern="0" spc="400" dirty="0">
                <a:solidFill>
                  <a:srgbClr val="FCB758"/>
                </a:solidFill>
                <a:latin typeface="Barlow Condensed" pitchFamily="34" charset="0"/>
                <a:ea typeface="Barlow Condensed" pitchFamily="34" charset="-122"/>
                <a:cs typeface="Barlow Condensed" pitchFamily="34" charset="-120"/>
              </a:rPr>
              <a:t>SHARED VOCABULARY</a:t>
            </a:r>
            <a:endParaRPr lang="en-US" sz="1400" dirty="0"/>
          </a:p>
        </p:txBody>
      </p:sp>
      <p:sp>
        <p:nvSpPr>
          <p:cNvPr id="7" name="Text 5"/>
          <p:cNvSpPr/>
          <p:nvPr/>
        </p:nvSpPr>
        <p:spPr>
          <a:xfrm>
            <a:off x="749808" y="731520"/>
            <a:ext cx="10058400" cy="822960"/>
          </a:xfrm>
          <a:prstGeom prst="rect">
            <a:avLst/>
          </a:prstGeom>
          <a:noFill/>
          <a:ln/>
        </p:spPr>
        <p:txBody>
          <a:bodyPr wrap="square" rtlCol="0" anchor="ctr"/>
          <a:lstStyle/>
          <a:p>
            <a:pPr marL="0" indent="0">
              <a:buNone/>
            </a:pPr>
            <a:r>
              <a:rPr lang="en-US" sz="3600" b="1" kern="0" spc="100" dirty="0">
                <a:solidFill>
                  <a:srgbClr val="FFFFFF"/>
                </a:solidFill>
                <a:latin typeface="Oswald" pitchFamily="34" charset="0"/>
                <a:ea typeface="Oswald" pitchFamily="34" charset="-122"/>
                <a:cs typeface="Oswald" pitchFamily="34" charset="-120"/>
              </a:rPr>
              <a:t>Common Language</a:t>
            </a:r>
            <a:endParaRPr lang="en-US" sz="3600" dirty="0"/>
          </a:p>
        </p:txBody>
      </p:sp>
      <p:sp>
        <p:nvSpPr>
          <p:cNvPr id="8" name="Shape 6"/>
          <p:cNvSpPr/>
          <p:nvPr/>
        </p:nvSpPr>
        <p:spPr>
          <a:xfrm>
            <a:off x="777240" y="1481328"/>
            <a:ext cx="2194560" cy="41148"/>
          </a:xfrm>
          <a:prstGeom prst="rect">
            <a:avLst/>
          </a:prstGeom>
          <a:solidFill>
            <a:srgbClr val="FB385B"/>
          </a:solidFill>
          <a:ln/>
        </p:spPr>
        <p:txBody>
          <a:bodyPr/>
          <a:lstStyle/>
          <a:p>
            <a:endParaRPr lang="es-AR"/>
          </a:p>
        </p:txBody>
      </p:sp>
      <p:sp>
        <p:nvSpPr>
          <p:cNvPr id="9" name="Shape 7"/>
          <p:cNvSpPr/>
          <p:nvPr/>
        </p:nvSpPr>
        <p:spPr>
          <a:xfrm>
            <a:off x="2971800" y="1481328"/>
            <a:ext cx="1097280" cy="41148"/>
          </a:xfrm>
          <a:prstGeom prst="rect">
            <a:avLst/>
          </a:prstGeom>
          <a:solidFill>
            <a:srgbClr val="FCB758"/>
          </a:solidFill>
          <a:ln/>
        </p:spPr>
        <p:txBody>
          <a:bodyPr/>
          <a:lstStyle/>
          <a:p>
            <a:endParaRPr lang="es-AR"/>
          </a:p>
        </p:txBody>
      </p:sp>
      <p:sp>
        <p:nvSpPr>
          <p:cNvPr id="10" name="Shape 8"/>
          <p:cNvSpPr/>
          <p:nvPr/>
        </p:nvSpPr>
        <p:spPr>
          <a:xfrm>
            <a:off x="4069080" y="1481328"/>
            <a:ext cx="457200" cy="41148"/>
          </a:xfrm>
          <a:prstGeom prst="rect">
            <a:avLst/>
          </a:prstGeom>
          <a:solidFill>
            <a:srgbClr val="FFD24A"/>
          </a:solidFill>
          <a:ln/>
        </p:spPr>
        <p:txBody>
          <a:bodyPr/>
          <a:lstStyle/>
          <a:p>
            <a:endParaRPr lang="es-AR"/>
          </a:p>
        </p:txBody>
      </p:sp>
      <p:sp>
        <p:nvSpPr>
          <p:cNvPr id="11" name="Shape 9"/>
          <p:cNvSpPr/>
          <p:nvPr/>
        </p:nvSpPr>
        <p:spPr>
          <a:xfrm>
            <a:off x="594360" y="1783080"/>
            <a:ext cx="4114800" cy="4297680"/>
          </a:xfrm>
          <a:prstGeom prst="roundRect">
            <a:avLst>
              <a:gd name="adj" fmla="val 1333"/>
            </a:avLst>
          </a:prstGeom>
          <a:solidFill>
            <a:srgbClr val="14213A"/>
          </a:solidFill>
          <a:ln w="19050">
            <a:solidFill>
              <a:srgbClr val="202A52"/>
            </a:solidFill>
            <a:prstDash val="solid"/>
          </a:ln>
        </p:spPr>
        <p:txBody>
          <a:bodyPr/>
          <a:lstStyle/>
          <a:p>
            <a:endParaRPr lang="es-AR"/>
          </a:p>
        </p:txBody>
      </p:sp>
      <p:sp>
        <p:nvSpPr>
          <p:cNvPr id="12" name="Shape 10"/>
          <p:cNvSpPr/>
          <p:nvPr/>
        </p:nvSpPr>
        <p:spPr>
          <a:xfrm>
            <a:off x="822960" y="1965960"/>
            <a:ext cx="3657600" cy="82296"/>
          </a:xfrm>
          <a:prstGeom prst="rect">
            <a:avLst/>
          </a:prstGeom>
          <a:solidFill>
            <a:srgbClr val="EEF1F6"/>
          </a:solidFill>
          <a:ln/>
        </p:spPr>
        <p:txBody>
          <a:bodyPr/>
          <a:lstStyle/>
          <a:p>
            <a:endParaRPr lang="es-AR"/>
          </a:p>
        </p:txBody>
      </p:sp>
      <p:sp>
        <p:nvSpPr>
          <p:cNvPr id="13" name="Shape 11"/>
          <p:cNvSpPr/>
          <p:nvPr/>
        </p:nvSpPr>
        <p:spPr>
          <a:xfrm>
            <a:off x="2011680" y="2194560"/>
            <a:ext cx="1280160" cy="548640"/>
          </a:xfrm>
          <a:prstGeom prst="roundRect">
            <a:avLst>
              <a:gd name="adj" fmla="val 6667"/>
            </a:avLst>
          </a:prstGeom>
          <a:solidFill>
            <a:srgbClr val="6D6BE0"/>
          </a:solidFill>
          <a:ln w="9525">
            <a:solidFill>
              <a:srgbClr val="FFFFFF"/>
            </a:solidFill>
            <a:prstDash val="solid"/>
          </a:ln>
        </p:spPr>
        <p:txBody>
          <a:bodyPr/>
          <a:lstStyle/>
          <a:p>
            <a:endParaRPr lang="es-AR"/>
          </a:p>
        </p:txBody>
      </p:sp>
      <p:sp>
        <p:nvSpPr>
          <p:cNvPr id="14" name="Text 12"/>
          <p:cNvSpPr/>
          <p:nvPr/>
        </p:nvSpPr>
        <p:spPr>
          <a:xfrm>
            <a:off x="2011680" y="2194560"/>
            <a:ext cx="1280160" cy="54864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a:t>
            </a:r>
            <a:endParaRPr lang="en-US" sz="1200" dirty="0"/>
          </a:p>
        </p:txBody>
      </p:sp>
      <p:sp>
        <p:nvSpPr>
          <p:cNvPr id="15" name="Shape 13"/>
          <p:cNvSpPr/>
          <p:nvPr/>
        </p:nvSpPr>
        <p:spPr>
          <a:xfrm>
            <a:off x="1737360" y="2788920"/>
            <a:ext cx="1828800" cy="685800"/>
          </a:xfrm>
          <a:prstGeom prst="roundRect">
            <a:avLst>
              <a:gd name="adj" fmla="val 5333"/>
            </a:avLst>
          </a:prstGeom>
          <a:solidFill>
            <a:srgbClr val="FB385B"/>
          </a:solidFill>
          <a:ln w="9525">
            <a:solidFill>
              <a:srgbClr val="FFFFFF"/>
            </a:solidFill>
            <a:prstDash val="solid"/>
          </a:ln>
        </p:spPr>
        <p:txBody>
          <a:bodyPr/>
          <a:lstStyle/>
          <a:p>
            <a:endParaRPr lang="es-AR"/>
          </a:p>
        </p:txBody>
      </p:sp>
      <p:sp>
        <p:nvSpPr>
          <p:cNvPr id="16" name="Text 14"/>
          <p:cNvSpPr/>
          <p:nvPr/>
        </p:nvSpPr>
        <p:spPr>
          <a:xfrm>
            <a:off x="1737360" y="2788920"/>
            <a:ext cx="1828800" cy="68580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a:t>
            </a:r>
            <a:endParaRPr lang="en-US" sz="1200" dirty="0"/>
          </a:p>
        </p:txBody>
      </p:sp>
      <p:sp>
        <p:nvSpPr>
          <p:cNvPr id="17" name="Shape 15"/>
          <p:cNvSpPr/>
          <p:nvPr/>
        </p:nvSpPr>
        <p:spPr>
          <a:xfrm>
            <a:off x="850392" y="2286000"/>
            <a:ext cx="868680" cy="1188720"/>
          </a:xfrm>
          <a:prstGeom prst="roundRect">
            <a:avLst>
              <a:gd name="adj" fmla="val 4211"/>
            </a:avLst>
          </a:prstGeom>
          <a:solidFill>
            <a:srgbClr val="4543CE"/>
          </a:solidFill>
          <a:ln w="9525">
            <a:solidFill>
              <a:srgbClr val="FFFFFF"/>
            </a:solidFill>
            <a:prstDash val="solid"/>
          </a:ln>
        </p:spPr>
        <p:txBody>
          <a:bodyPr/>
          <a:lstStyle/>
          <a:p>
            <a:endParaRPr lang="es-AR"/>
          </a:p>
        </p:txBody>
      </p:sp>
      <p:sp>
        <p:nvSpPr>
          <p:cNvPr id="18" name="Text 16"/>
          <p:cNvSpPr/>
          <p:nvPr/>
        </p:nvSpPr>
        <p:spPr>
          <a:xfrm>
            <a:off x="850392" y="2286000"/>
            <a:ext cx="868680" cy="118872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+4</a:t>
            </a:r>
            <a:endParaRPr lang="en-US" sz="1200" dirty="0"/>
          </a:p>
        </p:txBody>
      </p:sp>
      <p:sp>
        <p:nvSpPr>
          <p:cNvPr id="19" name="Shape 17"/>
          <p:cNvSpPr/>
          <p:nvPr/>
        </p:nvSpPr>
        <p:spPr>
          <a:xfrm>
            <a:off x="3584448" y="2286000"/>
            <a:ext cx="868680" cy="1188720"/>
          </a:xfrm>
          <a:prstGeom prst="roundRect">
            <a:avLst>
              <a:gd name="adj" fmla="val 4211"/>
            </a:avLst>
          </a:prstGeom>
          <a:solidFill>
            <a:srgbClr val="4543CE"/>
          </a:solidFill>
          <a:ln w="9525">
            <a:solidFill>
              <a:srgbClr val="FFFFFF"/>
            </a:solidFill>
            <a:prstDash val="solid"/>
          </a:ln>
        </p:spPr>
        <p:txBody>
          <a:bodyPr/>
          <a:lstStyle/>
          <a:p>
            <a:endParaRPr lang="es-AR"/>
          </a:p>
        </p:txBody>
      </p:sp>
      <p:sp>
        <p:nvSpPr>
          <p:cNvPr id="20" name="Text 18"/>
          <p:cNvSpPr/>
          <p:nvPr/>
        </p:nvSpPr>
        <p:spPr>
          <a:xfrm>
            <a:off x="3584448" y="2286000"/>
            <a:ext cx="868680" cy="118872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+2</a:t>
            </a:r>
            <a:endParaRPr lang="en-US" sz="1200" dirty="0"/>
          </a:p>
        </p:txBody>
      </p:sp>
      <p:sp>
        <p:nvSpPr>
          <p:cNvPr id="21" name="Shape 19"/>
          <p:cNvSpPr/>
          <p:nvPr/>
        </p:nvSpPr>
        <p:spPr>
          <a:xfrm>
            <a:off x="1920240" y="3566160"/>
            <a:ext cx="1463040" cy="822960"/>
          </a:xfrm>
          <a:prstGeom prst="roundRect">
            <a:avLst>
              <a:gd name="adj" fmla="val 4444"/>
            </a:avLst>
          </a:prstGeom>
          <a:solidFill>
            <a:srgbClr val="FCB758"/>
          </a:solidFill>
          <a:ln w="9525">
            <a:solidFill>
              <a:srgbClr val="FFFFFF"/>
            </a:solidFill>
            <a:prstDash val="solid"/>
          </a:ln>
        </p:spPr>
        <p:txBody>
          <a:bodyPr/>
          <a:lstStyle/>
          <a:p>
            <a:endParaRPr lang="es-AR"/>
          </a:p>
        </p:txBody>
      </p:sp>
      <p:sp>
        <p:nvSpPr>
          <p:cNvPr id="22" name="Text 20"/>
          <p:cNvSpPr/>
          <p:nvPr/>
        </p:nvSpPr>
        <p:spPr>
          <a:xfrm>
            <a:off x="1920240" y="3566160"/>
            <a:ext cx="1463040" cy="82296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B</a:t>
            </a:r>
            <a:endParaRPr lang="en-US" sz="1200" dirty="0"/>
          </a:p>
        </p:txBody>
      </p:sp>
      <p:sp>
        <p:nvSpPr>
          <p:cNvPr id="23" name="Shape 21"/>
          <p:cNvSpPr/>
          <p:nvPr/>
        </p:nvSpPr>
        <p:spPr>
          <a:xfrm>
            <a:off x="850392" y="3703320"/>
            <a:ext cx="868680" cy="1188720"/>
          </a:xfrm>
          <a:prstGeom prst="roundRect">
            <a:avLst>
              <a:gd name="adj" fmla="val 4211"/>
            </a:avLst>
          </a:prstGeom>
          <a:solidFill>
            <a:srgbClr val="A44A9C"/>
          </a:solidFill>
          <a:ln w="9525">
            <a:solidFill>
              <a:srgbClr val="FFFFFF"/>
            </a:solidFill>
            <a:prstDash val="solid"/>
          </a:ln>
        </p:spPr>
        <p:txBody>
          <a:bodyPr/>
          <a:lstStyle/>
          <a:p>
            <a:endParaRPr lang="es-AR"/>
          </a:p>
        </p:txBody>
      </p:sp>
      <p:sp>
        <p:nvSpPr>
          <p:cNvPr id="24" name="Text 22"/>
          <p:cNvSpPr/>
          <p:nvPr/>
        </p:nvSpPr>
        <p:spPr>
          <a:xfrm>
            <a:off x="850392" y="3703320"/>
            <a:ext cx="868680" cy="118872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7</a:t>
            </a:r>
            <a:endParaRPr lang="en-US" sz="1200" dirty="0"/>
          </a:p>
        </p:txBody>
      </p:sp>
      <p:sp>
        <p:nvSpPr>
          <p:cNvPr id="25" name="Shape 23"/>
          <p:cNvSpPr/>
          <p:nvPr/>
        </p:nvSpPr>
        <p:spPr>
          <a:xfrm>
            <a:off x="3584448" y="3703320"/>
            <a:ext cx="868680" cy="1188720"/>
          </a:xfrm>
          <a:prstGeom prst="roundRect">
            <a:avLst>
              <a:gd name="adj" fmla="val 4211"/>
            </a:avLst>
          </a:prstGeom>
          <a:solidFill>
            <a:srgbClr val="A44A9C"/>
          </a:solidFill>
          <a:ln w="9525">
            <a:solidFill>
              <a:srgbClr val="FFFFFF"/>
            </a:solidFill>
            <a:prstDash val="solid"/>
          </a:ln>
        </p:spPr>
        <p:txBody>
          <a:bodyPr/>
          <a:lstStyle/>
          <a:p>
            <a:endParaRPr lang="es-AR"/>
          </a:p>
        </p:txBody>
      </p:sp>
      <p:sp>
        <p:nvSpPr>
          <p:cNvPr id="26" name="Text 24"/>
          <p:cNvSpPr/>
          <p:nvPr/>
        </p:nvSpPr>
        <p:spPr>
          <a:xfrm>
            <a:off x="3584448" y="3703320"/>
            <a:ext cx="868680" cy="1188720"/>
          </a:xfrm>
          <a:prstGeom prst="rect">
            <a:avLst/>
          </a:prstGeom>
          <a:noFill/>
          <a:ln/>
        </p:spPr>
        <p:txBody>
          <a:bodyPr wrap="square" rtlCol="0" anchor="ctr"/>
          <a:lstStyle/>
          <a:p>
            <a:pPr marL="0" indent="0" algn="ctr">
              <a:buNone/>
            </a:pPr>
            <a:r>
              <a:rPr lang="en-US" sz="1200" b="1" dirty="0">
                <a:solidFill>
                  <a:srgbClr val="FFFFFF"/>
                </a:solidFill>
                <a:latin typeface="Barlow Condensed" pitchFamily="34" charset="0"/>
                <a:ea typeface="Barlow Condensed" pitchFamily="34" charset="-122"/>
                <a:cs typeface="Barlow Condensed" pitchFamily="34" charset="-120"/>
              </a:rPr>
              <a:t>ZONE 9</a:t>
            </a:r>
            <a:endParaRPr lang="en-US" sz="1200" dirty="0"/>
          </a:p>
        </p:txBody>
      </p:sp>
      <p:sp>
        <p:nvSpPr>
          <p:cNvPr id="27" name="Text 25"/>
          <p:cNvSpPr/>
          <p:nvPr/>
        </p:nvSpPr>
        <p:spPr>
          <a:xfrm>
            <a:off x="960120" y="5074920"/>
            <a:ext cx="3383280" cy="548640"/>
          </a:xfrm>
          <a:prstGeom prst="rect">
            <a:avLst/>
          </a:prstGeom>
          <a:noFill/>
          <a:ln/>
        </p:spPr>
        <p:txBody>
          <a:bodyPr wrap="square" rtlCol="0" anchor="ctr"/>
          <a:lstStyle/>
          <a:p>
            <a:pPr marL="0" indent="0" algn="ctr">
              <a:buNone/>
            </a:pPr>
            <a:r>
              <a:rPr lang="en-US" sz="1600" b="1" dirty="0">
                <a:solidFill>
                  <a:srgbClr val="8B97AD"/>
                </a:solidFill>
                <a:latin typeface="Oswald" pitchFamily="34" charset="0"/>
                <a:ea typeface="Oswald" pitchFamily="34" charset="-122"/>
                <a:cs typeface="Oswald" pitchFamily="34" charset="-120"/>
              </a:rPr>
              <a:t>NEGATIVE ZONE</a:t>
            </a:r>
            <a:endParaRPr lang="en-US" sz="1600" dirty="0"/>
          </a:p>
        </p:txBody>
      </p:sp>
      <p:sp>
        <p:nvSpPr>
          <p:cNvPr id="28" name="Text 26"/>
          <p:cNvSpPr/>
          <p:nvPr/>
        </p:nvSpPr>
        <p:spPr>
          <a:xfrm>
            <a:off x="4937760" y="1783080"/>
            <a:ext cx="1051560" cy="365760"/>
          </a:xfrm>
          <a:prstGeom prst="rect">
            <a:avLst/>
          </a:prstGeom>
          <a:noFill/>
          <a:ln/>
        </p:spPr>
        <p:txBody>
          <a:bodyPr wrap="square" rtlCol="0" anchor="ctr"/>
          <a:lstStyle/>
          <a:p>
            <a:pPr marL="0" indent="0">
              <a:buNone/>
            </a:pPr>
            <a:r>
              <a:rPr lang="en-US" sz="1150" b="1" kern="0" spc="100" dirty="0">
                <a:solidFill>
                  <a:srgbClr val="FFFFFF"/>
                </a:solidFill>
                <a:latin typeface="Oswald" pitchFamily="34" charset="0"/>
                <a:ea typeface="Oswald" pitchFamily="34" charset="-122"/>
                <a:cs typeface="Oswald" pitchFamily="34" charset="-120"/>
              </a:rPr>
              <a:t>ZONE</a:t>
            </a:r>
            <a:endParaRPr lang="en-US" sz="1150" dirty="0"/>
          </a:p>
        </p:txBody>
      </p:sp>
      <p:sp>
        <p:nvSpPr>
          <p:cNvPr id="29" name="Text 27"/>
          <p:cNvSpPr/>
          <p:nvPr/>
        </p:nvSpPr>
        <p:spPr>
          <a:xfrm>
            <a:off x="5989320" y="1783080"/>
            <a:ext cx="2788920" cy="365760"/>
          </a:xfrm>
          <a:prstGeom prst="rect">
            <a:avLst/>
          </a:prstGeom>
          <a:noFill/>
          <a:ln/>
        </p:spPr>
        <p:txBody>
          <a:bodyPr wrap="square" rtlCol="0" anchor="ctr"/>
          <a:lstStyle/>
          <a:p>
            <a:pPr marL="0" indent="0">
              <a:buNone/>
            </a:pPr>
            <a:r>
              <a:rPr lang="en-US" sz="1150" b="1" kern="0" spc="100" dirty="0">
                <a:solidFill>
                  <a:srgbClr val="FFFFFF"/>
                </a:solidFill>
                <a:latin typeface="Oswald" pitchFamily="34" charset="0"/>
                <a:ea typeface="Oswald" pitchFamily="34" charset="-122"/>
                <a:cs typeface="Oswald" pitchFamily="34" charset="-120"/>
              </a:rPr>
              <a:t>ATTACK OPTIONS</a:t>
            </a:r>
            <a:endParaRPr lang="en-US" sz="1150" dirty="0"/>
          </a:p>
        </p:txBody>
      </p:sp>
      <p:sp>
        <p:nvSpPr>
          <p:cNvPr id="30" name="Text 28"/>
          <p:cNvSpPr/>
          <p:nvPr/>
        </p:nvSpPr>
        <p:spPr>
          <a:xfrm>
            <a:off x="8778240" y="1783080"/>
            <a:ext cx="960120" cy="365760"/>
          </a:xfrm>
          <a:prstGeom prst="rect">
            <a:avLst/>
          </a:prstGeom>
          <a:noFill/>
          <a:ln/>
        </p:spPr>
        <p:txBody>
          <a:bodyPr wrap="square" rtlCol="0" anchor="ctr"/>
          <a:lstStyle/>
          <a:p>
            <a:pPr marL="0" indent="0">
              <a:buNone/>
            </a:pPr>
            <a:r>
              <a:rPr lang="en-US" sz="1150" b="1" kern="0" spc="100" dirty="0">
                <a:solidFill>
                  <a:srgbClr val="FFFFFF"/>
                </a:solidFill>
                <a:latin typeface="Oswald" pitchFamily="34" charset="0"/>
                <a:ea typeface="Oswald" pitchFamily="34" charset="-122"/>
                <a:cs typeface="Oswald" pitchFamily="34" charset="-120"/>
              </a:rPr>
              <a:t>BLOCK</a:t>
            </a:r>
            <a:endParaRPr lang="en-US" sz="1150" dirty="0"/>
          </a:p>
        </p:txBody>
      </p:sp>
      <p:sp>
        <p:nvSpPr>
          <p:cNvPr id="31" name="Text 29"/>
          <p:cNvSpPr/>
          <p:nvPr/>
        </p:nvSpPr>
        <p:spPr>
          <a:xfrm>
            <a:off x="9738360" y="1783080"/>
            <a:ext cx="1965960" cy="365760"/>
          </a:xfrm>
          <a:prstGeom prst="rect">
            <a:avLst/>
          </a:prstGeom>
          <a:noFill/>
          <a:ln/>
        </p:spPr>
        <p:txBody>
          <a:bodyPr wrap="square" rtlCol="0" anchor="ctr"/>
          <a:lstStyle/>
          <a:p>
            <a:pPr marL="0" indent="0">
              <a:buNone/>
            </a:pPr>
            <a:r>
              <a:rPr lang="en-US" sz="1150" b="1" kern="0" spc="100" dirty="0">
                <a:solidFill>
                  <a:srgbClr val="FFFFFF"/>
                </a:solidFill>
                <a:latin typeface="Oswald" pitchFamily="34" charset="0"/>
                <a:ea typeface="Oswald" pitchFamily="34" charset="-122"/>
                <a:cs typeface="Oswald" pitchFamily="34" charset="-120"/>
              </a:rPr>
              <a:t>TACTICAL PRIORITIES</a:t>
            </a:r>
            <a:endParaRPr lang="en-US" sz="1150" dirty="0"/>
          </a:p>
        </p:txBody>
      </p:sp>
      <p:sp>
        <p:nvSpPr>
          <p:cNvPr id="32" name="Shape 30"/>
          <p:cNvSpPr/>
          <p:nvPr/>
        </p:nvSpPr>
        <p:spPr>
          <a:xfrm>
            <a:off x="4937760" y="2167128"/>
            <a:ext cx="6766560" cy="36576"/>
          </a:xfrm>
          <a:prstGeom prst="rect">
            <a:avLst/>
          </a:prstGeom>
          <a:solidFill>
            <a:srgbClr val="FB385B"/>
          </a:solidFill>
          <a:ln/>
        </p:spPr>
        <p:txBody>
          <a:bodyPr/>
          <a:lstStyle/>
          <a:p>
            <a:endParaRPr lang="es-AR"/>
          </a:p>
        </p:txBody>
      </p:sp>
      <p:sp>
        <p:nvSpPr>
          <p:cNvPr id="33" name="Shape 31"/>
          <p:cNvSpPr/>
          <p:nvPr/>
        </p:nvSpPr>
        <p:spPr>
          <a:xfrm>
            <a:off x="4882896" y="2295144"/>
            <a:ext cx="64008" cy="566928"/>
          </a:xfrm>
          <a:prstGeom prst="rect">
            <a:avLst/>
          </a:prstGeom>
          <a:solidFill>
            <a:srgbClr val="6D6BE0"/>
          </a:solidFill>
          <a:ln/>
        </p:spPr>
        <p:txBody>
          <a:bodyPr/>
          <a:lstStyle/>
          <a:p>
            <a:endParaRPr lang="es-AR"/>
          </a:p>
        </p:txBody>
      </p:sp>
      <p:sp>
        <p:nvSpPr>
          <p:cNvPr id="34" name="Text 32"/>
          <p:cNvSpPr/>
          <p:nvPr/>
        </p:nvSpPr>
        <p:spPr>
          <a:xfrm>
            <a:off x="4937760" y="2295144"/>
            <a:ext cx="1005840" cy="640080"/>
          </a:xfrm>
          <a:prstGeom prst="rect">
            <a:avLst/>
          </a:prstGeom>
          <a:noFill/>
          <a:ln/>
        </p:spPr>
        <p:txBody>
          <a:bodyPr wrap="square" rtlCol="0" anchor="t"/>
          <a:lstStyle/>
          <a:p>
            <a:pPr marL="0" indent="0">
              <a:lnSpc>
                <a:spcPts val="1150"/>
              </a:lnSpc>
              <a:buNone/>
            </a:pPr>
            <a:r>
              <a:rPr lang="en-US" sz="950" b="1" dirty="0">
                <a:solidFill>
                  <a:srgbClr val="FFFFFF"/>
                </a:solidFill>
                <a:latin typeface="Barlow" pitchFamily="34" charset="0"/>
                <a:ea typeface="Barlow" pitchFamily="34" charset="-122"/>
                <a:cs typeface="Barlow" pitchFamily="34" charset="-120"/>
              </a:rPr>
              <a:t>ZONE #</a:t>
            </a:r>
            <a:endParaRPr lang="en-US" sz="950" dirty="0"/>
          </a:p>
        </p:txBody>
      </p:sp>
      <p:sp>
        <p:nvSpPr>
          <p:cNvPr id="35" name="Text 33"/>
          <p:cNvSpPr/>
          <p:nvPr/>
        </p:nvSpPr>
        <p:spPr>
          <a:xfrm>
            <a:off x="5989320" y="2295144"/>
            <a:ext cx="27432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4 attack options</a:t>
            </a:r>
            <a:endParaRPr lang="en-US" sz="950" dirty="0"/>
          </a:p>
        </p:txBody>
      </p:sp>
      <p:sp>
        <p:nvSpPr>
          <p:cNvPr id="36" name="Text 34"/>
          <p:cNvSpPr/>
          <p:nvPr/>
        </p:nvSpPr>
        <p:spPr>
          <a:xfrm>
            <a:off x="8778240" y="2295144"/>
            <a:ext cx="9144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1 / 1½</a:t>
            </a:r>
            <a:endParaRPr lang="en-US" sz="950" dirty="0"/>
          </a:p>
        </p:txBody>
      </p:sp>
      <p:sp>
        <p:nvSpPr>
          <p:cNvPr id="37" name="Text 35"/>
          <p:cNvSpPr/>
          <p:nvPr/>
        </p:nvSpPr>
        <p:spPr>
          <a:xfrm>
            <a:off x="9738360" y="2295144"/>
            <a:ext cx="192024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Exploit speed &amp; fast reading</a:t>
            </a:r>
            <a:endParaRPr lang="en-US" sz="950" dirty="0"/>
          </a:p>
        </p:txBody>
      </p:sp>
      <p:sp>
        <p:nvSpPr>
          <p:cNvPr id="38" name="Shape 36"/>
          <p:cNvSpPr/>
          <p:nvPr/>
        </p:nvSpPr>
        <p:spPr>
          <a:xfrm>
            <a:off x="4937760" y="2898648"/>
            <a:ext cx="6766560" cy="0"/>
          </a:xfrm>
          <a:prstGeom prst="line">
            <a:avLst/>
          </a:prstGeom>
          <a:noFill/>
          <a:ln w="6350">
            <a:solidFill>
              <a:srgbClr val="202A52"/>
            </a:solidFill>
            <a:prstDash val="solid"/>
          </a:ln>
        </p:spPr>
        <p:txBody>
          <a:bodyPr/>
          <a:lstStyle/>
          <a:p>
            <a:endParaRPr lang="es-AR"/>
          </a:p>
        </p:txBody>
      </p:sp>
      <p:sp>
        <p:nvSpPr>
          <p:cNvPr id="39" name="Shape 37"/>
          <p:cNvSpPr/>
          <p:nvPr/>
        </p:nvSpPr>
        <p:spPr>
          <a:xfrm>
            <a:off x="4882896" y="2953512"/>
            <a:ext cx="64008" cy="566928"/>
          </a:xfrm>
          <a:prstGeom prst="rect">
            <a:avLst/>
          </a:prstGeom>
          <a:solidFill>
            <a:srgbClr val="FB385B"/>
          </a:solidFill>
          <a:ln/>
        </p:spPr>
        <p:txBody>
          <a:bodyPr/>
          <a:lstStyle/>
          <a:p>
            <a:endParaRPr lang="es-AR"/>
          </a:p>
        </p:txBody>
      </p:sp>
      <p:sp>
        <p:nvSpPr>
          <p:cNvPr id="40" name="Text 38"/>
          <p:cNvSpPr/>
          <p:nvPr/>
        </p:nvSpPr>
        <p:spPr>
          <a:xfrm>
            <a:off x="4937760" y="2953512"/>
            <a:ext cx="1005840" cy="640080"/>
          </a:xfrm>
          <a:prstGeom prst="rect">
            <a:avLst/>
          </a:prstGeom>
          <a:noFill/>
          <a:ln/>
        </p:spPr>
        <p:txBody>
          <a:bodyPr wrap="square" rtlCol="0" anchor="t"/>
          <a:lstStyle/>
          <a:p>
            <a:pPr marL="0" indent="0">
              <a:lnSpc>
                <a:spcPts val="1150"/>
              </a:lnSpc>
              <a:buNone/>
            </a:pPr>
            <a:r>
              <a:rPr lang="en-US" sz="950" b="1" dirty="0">
                <a:solidFill>
                  <a:srgbClr val="FFFFFF"/>
                </a:solidFill>
                <a:latin typeface="Barlow" pitchFamily="34" charset="0"/>
                <a:ea typeface="Barlow" pitchFamily="34" charset="-122"/>
                <a:cs typeface="Barlow" pitchFamily="34" charset="-120"/>
              </a:rPr>
              <a:t>ZONE +</a:t>
            </a:r>
            <a:endParaRPr lang="en-US" sz="950" dirty="0"/>
          </a:p>
        </p:txBody>
      </p:sp>
      <p:sp>
        <p:nvSpPr>
          <p:cNvPr id="41" name="Text 39"/>
          <p:cNvSpPr/>
          <p:nvPr/>
        </p:nvSpPr>
        <p:spPr>
          <a:xfrm>
            <a:off x="5989320" y="2953512"/>
            <a:ext cx="27432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4 attack options</a:t>
            </a:r>
            <a:endParaRPr lang="en-US" sz="950" dirty="0"/>
          </a:p>
        </p:txBody>
      </p:sp>
      <p:sp>
        <p:nvSpPr>
          <p:cNvPr id="42" name="Text 40"/>
          <p:cNvSpPr/>
          <p:nvPr/>
        </p:nvSpPr>
        <p:spPr>
          <a:xfrm>
            <a:off x="8778240" y="2953512"/>
            <a:ext cx="9144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Possible 2</a:t>
            </a:r>
            <a:endParaRPr lang="en-US" sz="950" dirty="0"/>
          </a:p>
        </p:txBody>
      </p:sp>
      <p:sp>
        <p:nvSpPr>
          <p:cNvPr id="43" name="Text 41"/>
          <p:cNvSpPr/>
          <p:nvPr/>
        </p:nvSpPr>
        <p:spPr>
          <a:xfrm>
            <a:off x="9738360" y="2953512"/>
            <a:ext cx="192024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Hold rhythm &amp; precision</a:t>
            </a:r>
            <a:endParaRPr lang="en-US" sz="950" dirty="0"/>
          </a:p>
        </p:txBody>
      </p:sp>
      <p:sp>
        <p:nvSpPr>
          <p:cNvPr id="44" name="Shape 42"/>
          <p:cNvSpPr/>
          <p:nvPr/>
        </p:nvSpPr>
        <p:spPr>
          <a:xfrm>
            <a:off x="4937760" y="3557016"/>
            <a:ext cx="6766560" cy="0"/>
          </a:xfrm>
          <a:prstGeom prst="line">
            <a:avLst/>
          </a:prstGeom>
          <a:noFill/>
          <a:ln w="6350">
            <a:solidFill>
              <a:srgbClr val="202A52"/>
            </a:solidFill>
            <a:prstDash val="solid"/>
          </a:ln>
        </p:spPr>
        <p:txBody>
          <a:bodyPr/>
          <a:lstStyle/>
          <a:p>
            <a:endParaRPr lang="es-AR"/>
          </a:p>
        </p:txBody>
      </p:sp>
      <p:sp>
        <p:nvSpPr>
          <p:cNvPr id="45" name="Shape 43"/>
          <p:cNvSpPr/>
          <p:nvPr/>
        </p:nvSpPr>
        <p:spPr>
          <a:xfrm>
            <a:off x="4882896" y="3611880"/>
            <a:ext cx="64008" cy="566928"/>
          </a:xfrm>
          <a:prstGeom prst="rect">
            <a:avLst/>
          </a:prstGeom>
          <a:solidFill>
            <a:srgbClr val="FCB758"/>
          </a:solidFill>
          <a:ln/>
        </p:spPr>
        <p:txBody>
          <a:bodyPr/>
          <a:lstStyle/>
          <a:p>
            <a:endParaRPr lang="es-AR"/>
          </a:p>
        </p:txBody>
      </p:sp>
      <p:sp>
        <p:nvSpPr>
          <p:cNvPr id="46" name="Text 44"/>
          <p:cNvSpPr/>
          <p:nvPr/>
        </p:nvSpPr>
        <p:spPr>
          <a:xfrm>
            <a:off x="4937760" y="3611880"/>
            <a:ext cx="1005840" cy="640080"/>
          </a:xfrm>
          <a:prstGeom prst="rect">
            <a:avLst/>
          </a:prstGeom>
          <a:noFill/>
          <a:ln/>
        </p:spPr>
        <p:txBody>
          <a:bodyPr wrap="square" rtlCol="0" anchor="t"/>
          <a:lstStyle/>
          <a:p>
            <a:pPr marL="0" indent="0">
              <a:lnSpc>
                <a:spcPts val="1150"/>
              </a:lnSpc>
              <a:buNone/>
            </a:pPr>
            <a:r>
              <a:rPr lang="en-US" sz="950" b="1" dirty="0">
                <a:solidFill>
                  <a:srgbClr val="FFFFFF"/>
                </a:solidFill>
                <a:latin typeface="Barlow" pitchFamily="34" charset="0"/>
                <a:ea typeface="Barlow" pitchFamily="34" charset="-122"/>
                <a:cs typeface="Barlow" pitchFamily="34" charset="-120"/>
              </a:rPr>
              <a:t>ZONE B</a:t>
            </a:r>
            <a:endParaRPr lang="en-US" sz="950" dirty="0"/>
          </a:p>
        </p:txBody>
      </p:sp>
      <p:sp>
        <p:nvSpPr>
          <p:cNvPr id="47" name="Text 45"/>
          <p:cNvSpPr/>
          <p:nvPr/>
        </p:nvSpPr>
        <p:spPr>
          <a:xfrm>
            <a:off x="5989320" y="3611880"/>
            <a:ext cx="27432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Middle B, pipe behind/close, pins quick/semi</a:t>
            </a:r>
            <a:endParaRPr lang="en-US" sz="950" dirty="0"/>
          </a:p>
        </p:txBody>
      </p:sp>
      <p:sp>
        <p:nvSpPr>
          <p:cNvPr id="48" name="Text 46"/>
          <p:cNvSpPr/>
          <p:nvPr/>
        </p:nvSpPr>
        <p:spPr>
          <a:xfrm>
            <a:off x="8778240" y="3611880"/>
            <a:ext cx="9144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2 blockers</a:t>
            </a:r>
            <a:endParaRPr lang="en-US" sz="950" dirty="0"/>
          </a:p>
        </p:txBody>
      </p:sp>
      <p:sp>
        <p:nvSpPr>
          <p:cNvPr id="49" name="Text 47"/>
          <p:cNvSpPr/>
          <p:nvPr/>
        </p:nvSpPr>
        <p:spPr>
          <a:xfrm>
            <a:off x="9738360" y="3611880"/>
            <a:ext cx="192024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Max setting precision</a:t>
            </a:r>
            <a:endParaRPr lang="en-US" sz="950" dirty="0"/>
          </a:p>
        </p:txBody>
      </p:sp>
      <p:sp>
        <p:nvSpPr>
          <p:cNvPr id="50" name="Shape 48"/>
          <p:cNvSpPr/>
          <p:nvPr/>
        </p:nvSpPr>
        <p:spPr>
          <a:xfrm>
            <a:off x="4937760" y="4215384"/>
            <a:ext cx="6766560" cy="0"/>
          </a:xfrm>
          <a:prstGeom prst="line">
            <a:avLst/>
          </a:prstGeom>
          <a:noFill/>
          <a:ln w="6350">
            <a:solidFill>
              <a:srgbClr val="202A52"/>
            </a:solidFill>
            <a:prstDash val="solid"/>
          </a:ln>
        </p:spPr>
        <p:txBody>
          <a:bodyPr/>
          <a:lstStyle/>
          <a:p>
            <a:endParaRPr lang="es-AR"/>
          </a:p>
        </p:txBody>
      </p:sp>
      <p:sp>
        <p:nvSpPr>
          <p:cNvPr id="51" name="Shape 49"/>
          <p:cNvSpPr/>
          <p:nvPr/>
        </p:nvSpPr>
        <p:spPr>
          <a:xfrm>
            <a:off x="4882896" y="4270248"/>
            <a:ext cx="64008" cy="566928"/>
          </a:xfrm>
          <a:prstGeom prst="rect">
            <a:avLst/>
          </a:prstGeom>
          <a:solidFill>
            <a:srgbClr val="4543CE"/>
          </a:solidFill>
          <a:ln/>
        </p:spPr>
        <p:txBody>
          <a:bodyPr/>
          <a:lstStyle/>
          <a:p>
            <a:endParaRPr lang="es-AR"/>
          </a:p>
        </p:txBody>
      </p:sp>
      <p:sp>
        <p:nvSpPr>
          <p:cNvPr id="52" name="Text 50"/>
          <p:cNvSpPr/>
          <p:nvPr/>
        </p:nvSpPr>
        <p:spPr>
          <a:xfrm>
            <a:off x="4937760" y="4270248"/>
            <a:ext cx="1005840" cy="640080"/>
          </a:xfrm>
          <a:prstGeom prst="rect">
            <a:avLst/>
          </a:prstGeom>
          <a:noFill/>
          <a:ln/>
        </p:spPr>
        <p:txBody>
          <a:bodyPr wrap="square" rtlCol="0" anchor="t"/>
          <a:lstStyle/>
          <a:p>
            <a:pPr marL="0" indent="0">
              <a:lnSpc>
                <a:spcPts val="1150"/>
              </a:lnSpc>
              <a:buNone/>
            </a:pPr>
            <a:r>
              <a:rPr lang="en-US" sz="950" b="1" dirty="0">
                <a:solidFill>
                  <a:srgbClr val="FFFFFF"/>
                </a:solidFill>
                <a:latin typeface="Barlow" pitchFamily="34" charset="0"/>
                <a:ea typeface="Barlow" pitchFamily="34" charset="-122"/>
                <a:cs typeface="Barlow" pitchFamily="34" charset="-120"/>
              </a:rPr>
              <a:t>ZONE +4</a:t>
            </a:r>
            <a:endParaRPr lang="en-US" sz="950" dirty="0"/>
          </a:p>
        </p:txBody>
      </p:sp>
      <p:sp>
        <p:nvSpPr>
          <p:cNvPr id="53" name="Text 51"/>
          <p:cNvSpPr/>
          <p:nvPr/>
        </p:nvSpPr>
        <p:spPr>
          <a:xfrm>
            <a:off x="5989320" y="4270248"/>
            <a:ext cx="27432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Middle behind, pipe behind, OH quick · OPP semi</a:t>
            </a:r>
            <a:endParaRPr lang="en-US" sz="950" dirty="0"/>
          </a:p>
        </p:txBody>
      </p:sp>
      <p:sp>
        <p:nvSpPr>
          <p:cNvPr id="54" name="Text 52"/>
          <p:cNvSpPr/>
          <p:nvPr/>
        </p:nvSpPr>
        <p:spPr>
          <a:xfrm>
            <a:off x="8778240" y="4270248"/>
            <a:ext cx="9144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2 blockers</a:t>
            </a:r>
            <a:endParaRPr lang="en-US" sz="950" dirty="0"/>
          </a:p>
        </p:txBody>
      </p:sp>
      <p:sp>
        <p:nvSpPr>
          <p:cNvPr id="55" name="Text 53"/>
          <p:cNvSpPr/>
          <p:nvPr/>
        </p:nvSpPr>
        <p:spPr>
          <a:xfrm>
            <a:off x="9738360" y="4270248"/>
            <a:ext cx="192024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Sync &amp; timing</a:t>
            </a:r>
            <a:endParaRPr lang="en-US" sz="950" dirty="0"/>
          </a:p>
        </p:txBody>
      </p:sp>
      <p:sp>
        <p:nvSpPr>
          <p:cNvPr id="56" name="Shape 54"/>
          <p:cNvSpPr/>
          <p:nvPr/>
        </p:nvSpPr>
        <p:spPr>
          <a:xfrm>
            <a:off x="4937760" y="4873752"/>
            <a:ext cx="6766560" cy="0"/>
          </a:xfrm>
          <a:prstGeom prst="line">
            <a:avLst/>
          </a:prstGeom>
          <a:noFill/>
          <a:ln w="6350">
            <a:solidFill>
              <a:srgbClr val="202A52"/>
            </a:solidFill>
            <a:prstDash val="solid"/>
          </a:ln>
        </p:spPr>
        <p:txBody>
          <a:bodyPr/>
          <a:lstStyle/>
          <a:p>
            <a:endParaRPr lang="es-AR"/>
          </a:p>
        </p:txBody>
      </p:sp>
      <p:sp>
        <p:nvSpPr>
          <p:cNvPr id="57" name="Shape 55"/>
          <p:cNvSpPr/>
          <p:nvPr/>
        </p:nvSpPr>
        <p:spPr>
          <a:xfrm>
            <a:off x="4882896" y="4928616"/>
            <a:ext cx="64008" cy="566928"/>
          </a:xfrm>
          <a:prstGeom prst="rect">
            <a:avLst/>
          </a:prstGeom>
          <a:solidFill>
            <a:srgbClr val="4543CE"/>
          </a:solidFill>
          <a:ln/>
        </p:spPr>
        <p:txBody>
          <a:bodyPr/>
          <a:lstStyle/>
          <a:p>
            <a:endParaRPr lang="es-AR"/>
          </a:p>
        </p:txBody>
      </p:sp>
      <p:sp>
        <p:nvSpPr>
          <p:cNvPr id="58" name="Text 56"/>
          <p:cNvSpPr/>
          <p:nvPr/>
        </p:nvSpPr>
        <p:spPr>
          <a:xfrm>
            <a:off x="4937760" y="4928616"/>
            <a:ext cx="1005840" cy="640080"/>
          </a:xfrm>
          <a:prstGeom prst="rect">
            <a:avLst/>
          </a:prstGeom>
          <a:noFill/>
          <a:ln/>
        </p:spPr>
        <p:txBody>
          <a:bodyPr wrap="square" rtlCol="0" anchor="t"/>
          <a:lstStyle/>
          <a:p>
            <a:pPr marL="0" indent="0">
              <a:lnSpc>
                <a:spcPts val="1150"/>
              </a:lnSpc>
              <a:buNone/>
            </a:pPr>
            <a:r>
              <a:rPr lang="en-US" sz="950" b="1" dirty="0">
                <a:solidFill>
                  <a:srgbClr val="FFFFFF"/>
                </a:solidFill>
                <a:latin typeface="Barlow" pitchFamily="34" charset="0"/>
                <a:ea typeface="Barlow" pitchFamily="34" charset="-122"/>
                <a:cs typeface="Barlow" pitchFamily="34" charset="-120"/>
              </a:rPr>
              <a:t>ZONE +2</a:t>
            </a:r>
            <a:endParaRPr lang="en-US" sz="950" dirty="0"/>
          </a:p>
        </p:txBody>
      </p:sp>
      <p:sp>
        <p:nvSpPr>
          <p:cNvPr id="59" name="Text 57"/>
          <p:cNvSpPr/>
          <p:nvPr/>
        </p:nvSpPr>
        <p:spPr>
          <a:xfrm>
            <a:off x="5989320" y="4928616"/>
            <a:ext cx="27432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Middle quick/B, pipe over, OH semi · OPP quick</a:t>
            </a:r>
            <a:endParaRPr lang="en-US" sz="950" dirty="0"/>
          </a:p>
        </p:txBody>
      </p:sp>
      <p:sp>
        <p:nvSpPr>
          <p:cNvPr id="60" name="Text 58"/>
          <p:cNvSpPr/>
          <p:nvPr/>
        </p:nvSpPr>
        <p:spPr>
          <a:xfrm>
            <a:off x="8778240" y="4928616"/>
            <a:ext cx="9144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2 blockers</a:t>
            </a:r>
            <a:endParaRPr lang="en-US" sz="950" dirty="0"/>
          </a:p>
        </p:txBody>
      </p:sp>
      <p:sp>
        <p:nvSpPr>
          <p:cNvPr id="61" name="Text 59"/>
          <p:cNvSpPr/>
          <p:nvPr/>
        </p:nvSpPr>
        <p:spPr>
          <a:xfrm>
            <a:off x="9738360" y="4928616"/>
            <a:ext cx="192024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Distance &amp; rhythm control</a:t>
            </a:r>
            <a:endParaRPr lang="en-US" sz="950" dirty="0"/>
          </a:p>
        </p:txBody>
      </p:sp>
      <p:sp>
        <p:nvSpPr>
          <p:cNvPr id="62" name="Shape 60"/>
          <p:cNvSpPr/>
          <p:nvPr/>
        </p:nvSpPr>
        <p:spPr>
          <a:xfrm>
            <a:off x="4937760" y="5532120"/>
            <a:ext cx="6766560" cy="0"/>
          </a:xfrm>
          <a:prstGeom prst="line">
            <a:avLst/>
          </a:prstGeom>
          <a:noFill/>
          <a:ln w="6350">
            <a:solidFill>
              <a:srgbClr val="202A52"/>
            </a:solidFill>
            <a:prstDash val="solid"/>
          </a:ln>
        </p:spPr>
        <p:txBody>
          <a:bodyPr/>
          <a:lstStyle/>
          <a:p>
            <a:endParaRPr lang="es-AR"/>
          </a:p>
        </p:txBody>
      </p:sp>
      <p:sp>
        <p:nvSpPr>
          <p:cNvPr id="63" name="Shape 61"/>
          <p:cNvSpPr/>
          <p:nvPr/>
        </p:nvSpPr>
        <p:spPr>
          <a:xfrm>
            <a:off x="4882896" y="5586984"/>
            <a:ext cx="64008" cy="566928"/>
          </a:xfrm>
          <a:prstGeom prst="rect">
            <a:avLst/>
          </a:prstGeom>
          <a:solidFill>
            <a:srgbClr val="A44A9C"/>
          </a:solidFill>
          <a:ln/>
        </p:spPr>
        <p:txBody>
          <a:bodyPr/>
          <a:lstStyle/>
          <a:p>
            <a:endParaRPr lang="es-AR"/>
          </a:p>
        </p:txBody>
      </p:sp>
      <p:sp>
        <p:nvSpPr>
          <p:cNvPr id="64" name="Text 62"/>
          <p:cNvSpPr/>
          <p:nvPr/>
        </p:nvSpPr>
        <p:spPr>
          <a:xfrm>
            <a:off x="4937760" y="5586984"/>
            <a:ext cx="1005840" cy="640080"/>
          </a:xfrm>
          <a:prstGeom prst="rect">
            <a:avLst/>
          </a:prstGeom>
          <a:noFill/>
          <a:ln/>
        </p:spPr>
        <p:txBody>
          <a:bodyPr wrap="square" rtlCol="0" anchor="t"/>
          <a:lstStyle/>
          <a:p>
            <a:pPr marL="0" indent="0">
              <a:lnSpc>
                <a:spcPts val="1150"/>
              </a:lnSpc>
              <a:buNone/>
            </a:pPr>
            <a:r>
              <a:rPr lang="en-US" sz="950" b="1" dirty="0">
                <a:solidFill>
                  <a:srgbClr val="FFFFFF"/>
                </a:solidFill>
                <a:latin typeface="Barlow" pitchFamily="34" charset="0"/>
                <a:ea typeface="Barlow" pitchFamily="34" charset="-122"/>
                <a:cs typeface="Barlow" pitchFamily="34" charset="-120"/>
              </a:rPr>
              <a:t>7 / 9 / NEG.</a:t>
            </a:r>
            <a:endParaRPr lang="en-US" sz="950" dirty="0"/>
          </a:p>
        </p:txBody>
      </p:sp>
      <p:sp>
        <p:nvSpPr>
          <p:cNvPr id="65" name="Text 63"/>
          <p:cNvSpPr/>
          <p:nvPr/>
        </p:nvSpPr>
        <p:spPr>
          <a:xfrm>
            <a:off x="5989320" y="5586984"/>
            <a:ext cx="27432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Limited — high ball</a:t>
            </a:r>
            <a:endParaRPr lang="en-US" sz="950" dirty="0"/>
          </a:p>
        </p:txBody>
      </p:sp>
      <p:sp>
        <p:nvSpPr>
          <p:cNvPr id="66" name="Text 64"/>
          <p:cNvSpPr/>
          <p:nvPr/>
        </p:nvSpPr>
        <p:spPr>
          <a:xfrm>
            <a:off x="8778240" y="5586984"/>
            <a:ext cx="91440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Possible 3</a:t>
            </a:r>
            <a:endParaRPr lang="en-US" sz="950" dirty="0"/>
          </a:p>
        </p:txBody>
      </p:sp>
      <p:sp>
        <p:nvSpPr>
          <p:cNvPr id="67" name="Text 65"/>
          <p:cNvSpPr/>
          <p:nvPr/>
        </p:nvSpPr>
        <p:spPr>
          <a:xfrm>
            <a:off x="9738360" y="5586984"/>
            <a:ext cx="1920240" cy="640080"/>
          </a:xfrm>
          <a:prstGeom prst="rect">
            <a:avLst/>
          </a:prstGeom>
          <a:noFill/>
          <a:ln/>
        </p:spPr>
        <p:txBody>
          <a:bodyPr wrap="square" rtlCol="0" anchor="t"/>
          <a:lstStyle/>
          <a:p>
            <a:pPr marL="0" indent="0">
              <a:lnSpc>
                <a:spcPts val="1150"/>
              </a:lnSpc>
              <a:buNone/>
            </a:pPr>
            <a:r>
              <a:rPr lang="en-US" sz="950" dirty="0">
                <a:solidFill>
                  <a:srgbClr val="EEF1F6"/>
                </a:solidFill>
                <a:latin typeface="Barlow" pitchFamily="34" charset="0"/>
                <a:ea typeface="Barlow" pitchFamily="34" charset="-122"/>
                <a:cs typeface="Barlow" pitchFamily="34" charset="-120"/>
              </a:rPr>
              <a:t>Set quality to open options</a:t>
            </a:r>
            <a:endParaRPr lang="en-US" sz="950" dirty="0"/>
          </a:p>
        </p:txBody>
      </p:sp>
      <p:sp>
        <p:nvSpPr>
          <p:cNvPr id="68" name="Shape 66"/>
          <p:cNvSpPr/>
          <p:nvPr/>
        </p:nvSpPr>
        <p:spPr>
          <a:xfrm>
            <a:off x="4937760" y="6190488"/>
            <a:ext cx="6766560" cy="0"/>
          </a:xfrm>
          <a:prstGeom prst="line">
            <a:avLst/>
          </a:prstGeom>
          <a:noFill/>
          <a:ln w="6350">
            <a:solidFill>
              <a:srgbClr val="202A52"/>
            </a:solidFill>
            <a:prstDash val="solid"/>
          </a:ln>
        </p:spPr>
        <p:txBody>
          <a:bodyPr/>
          <a:lstStyle/>
          <a:p>
            <a:endParaRPr lang="es-AR"/>
          </a:p>
        </p:txBody>
      </p:sp>
      <p:sp>
        <p:nvSpPr>
          <p:cNvPr id="69" name="Shape 67"/>
          <p:cNvSpPr/>
          <p:nvPr/>
        </p:nvSpPr>
        <p:spPr>
          <a:xfrm>
            <a:off x="4937760" y="5806440"/>
            <a:ext cx="6766560" cy="566928"/>
          </a:xfrm>
          <a:prstGeom prst="roundRect">
            <a:avLst>
              <a:gd name="adj" fmla="val 9677"/>
            </a:avLst>
          </a:prstGeom>
          <a:solidFill>
            <a:srgbClr val="161D3A"/>
          </a:solidFill>
          <a:ln w="12700">
            <a:solidFill>
              <a:srgbClr val="FCB758"/>
            </a:solidFill>
            <a:prstDash val="solid"/>
          </a:ln>
        </p:spPr>
        <p:txBody>
          <a:bodyPr/>
          <a:lstStyle/>
          <a:p>
            <a:endParaRPr lang="es-AR"/>
          </a:p>
        </p:txBody>
      </p:sp>
      <p:sp>
        <p:nvSpPr>
          <p:cNvPr id="70" name="Text 68"/>
          <p:cNvSpPr/>
          <p:nvPr/>
        </p:nvSpPr>
        <p:spPr>
          <a:xfrm>
            <a:off x="5120640" y="5806440"/>
            <a:ext cx="6400800" cy="566928"/>
          </a:xfrm>
          <a:prstGeom prst="rect">
            <a:avLst/>
          </a:prstGeom>
          <a:noFill/>
          <a:ln/>
        </p:spPr>
        <p:txBody>
          <a:bodyPr wrap="square" rtlCol="0" anchor="ctr"/>
          <a:lstStyle/>
          <a:p>
            <a:pPr marL="0" indent="0" algn="ctr">
              <a:buNone/>
            </a:pPr>
            <a:r>
              <a:rPr lang="en-US" sz="1100" i="1" dirty="0">
                <a:solidFill>
                  <a:srgbClr val="EEF1F6"/>
                </a:solidFill>
                <a:latin typeface="Barlow" pitchFamily="34" charset="0"/>
                <a:ea typeface="Barlow" pitchFamily="34" charset="-122"/>
                <a:cs typeface="Barlow" pitchFamily="34" charset="-120"/>
              </a:rPr>
              <a:t>Communication and collective reading are key to adjust the rotation &amp; transition system and raise our scoring chances.</a:t>
            </a:r>
            <a:endParaRPr lang="en-US" sz="1100" dirty="0"/>
          </a:p>
        </p:txBody>
      </p:sp>
      <p:sp>
        <p:nvSpPr>
          <p:cNvPr id="71" name="Shape 69"/>
          <p:cNvSpPr/>
          <p:nvPr/>
        </p:nvSpPr>
        <p:spPr>
          <a:xfrm>
            <a:off x="0" y="6620256"/>
            <a:ext cx="12161520" cy="54864"/>
          </a:xfrm>
          <a:prstGeom prst="rect">
            <a:avLst/>
          </a:prstGeom>
          <a:solidFill>
            <a:srgbClr val="161D3A"/>
          </a:solidFill>
          <a:ln/>
        </p:spPr>
        <p:txBody>
          <a:bodyPr/>
          <a:lstStyle/>
          <a:p>
            <a:endParaRPr lang="es-AR"/>
          </a:p>
        </p:txBody>
      </p:sp>
      <p:sp>
        <p:nvSpPr>
          <p:cNvPr id="72" name="Text 70"/>
          <p:cNvSpPr/>
          <p:nvPr/>
        </p:nvSpPr>
        <p:spPr>
          <a:xfrm>
            <a:off x="548640" y="6446520"/>
            <a:ext cx="7315200" cy="228600"/>
          </a:xfrm>
          <a:prstGeom prst="rect">
            <a:avLst/>
          </a:prstGeom>
          <a:noFill/>
          <a:ln/>
        </p:spPr>
        <p:txBody>
          <a:bodyPr wrap="square" rtlCol="0" anchor="ctr"/>
          <a:lstStyle/>
          <a:p>
            <a:pPr marL="0" indent="0">
              <a:buNone/>
            </a:pPr>
            <a:r>
              <a:rPr lang="en-US" sz="900" kern="0" spc="200" dirty="0">
                <a:solidFill>
                  <a:srgbClr val="8B97AD"/>
                </a:solidFill>
                <a:latin typeface="Barlow Condensed" pitchFamily="34" charset="0"/>
                <a:ea typeface="Barlow Condensed" pitchFamily="34" charset="-122"/>
                <a:cs typeface="Barlow Condensed" pitchFamily="34" charset="-120"/>
              </a:rPr>
              <a:t>AXPO VOLLEY NÄFELS · TEAM PLAYBOOK 2025-26</a:t>
            </a:r>
            <a:endParaRPr lang="en-US" sz="900" dirty="0"/>
          </a:p>
        </p:txBody>
      </p:sp>
      <p:sp>
        <p:nvSpPr>
          <p:cNvPr id="73" name="Text 71"/>
          <p:cNvSpPr/>
          <p:nvPr/>
        </p:nvSpPr>
        <p:spPr>
          <a:xfrm>
            <a:off x="11338560" y="6400800"/>
            <a:ext cx="365760" cy="274320"/>
          </a:xfrm>
          <a:prstGeom prst="rect">
            <a:avLst/>
          </a:prstGeom>
          <a:noFill/>
          <a:ln/>
        </p:spPr>
        <p:txBody>
          <a:bodyPr wrap="square" rtlCol="0" anchor="ctr"/>
          <a:lstStyle/>
          <a:p>
            <a:pPr marL="0" indent="0" algn="r">
              <a:buNone/>
            </a:pPr>
            <a:r>
              <a:rPr lang="en-US" sz="1300" b="1" dirty="0">
                <a:solidFill>
                  <a:srgbClr val="FCB758"/>
                </a:solidFill>
                <a:latin typeface="Oswald" pitchFamily="34" charset="0"/>
                <a:ea typeface="Oswald" pitchFamily="34" charset="-122"/>
                <a:cs typeface="Oswald" pitchFamily="34" charset="-120"/>
              </a:rPr>
              <a:t>20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963</TotalTime>
  <Words>2440</Words>
  <Application>Microsoft Office PowerPoint</Application>
  <PresentationFormat>Panorámica</PresentationFormat>
  <Paragraphs>409</Paragraphs>
  <Slides>20</Slides>
  <Notes>20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Barlow</vt:lpstr>
      <vt:lpstr>Barlow Condensed</vt:lpstr>
      <vt:lpstr>Oswald</vt:lpstr>
      <vt:lpstr>Oswald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Ignacio Damian Verdi</cp:lastModifiedBy>
  <cp:revision>3</cp:revision>
  <dcterms:created xsi:type="dcterms:W3CDTF">2026-07-13T21:45:37Z</dcterms:created>
  <dcterms:modified xsi:type="dcterms:W3CDTF">2026-07-14T14:04:28Z</dcterms:modified>
</cp:coreProperties>
</file>